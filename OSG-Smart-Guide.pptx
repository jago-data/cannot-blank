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126480" y="658368"/>
            <a:ext cx="5870448" cy="4681728"/>
          </a:xfrm>
          <a:prstGeom prst="roundRect">
            <a:avLst/>
          </a:prstGeom>
          <a:gradFill rotWithShape="1">
            <a:gsLst>
              <a:gs pos="0">
                <a:srgbClr val="FBDFE4"/>
              </a:gs>
              <a:gs pos="100000">
                <a:srgbClr val="DCF0E9"/>
              </a:gs>
            </a:gsLst>
            <a:lin scaled="0" ang="18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flipH="1" flipV="1">
            <a:off x="7178040" y="1234440"/>
            <a:ext cx="1737360" cy="7772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8275320" y="868680"/>
            <a:ext cx="640080" cy="11430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915400" y="1234440"/>
            <a:ext cx="1143000" cy="7772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8046720" y="2011680"/>
            <a:ext cx="868680" cy="9144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915400" y="2011680"/>
            <a:ext cx="777240" cy="6858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7726679" y="1965960"/>
            <a:ext cx="1188721" cy="4572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7360920" y="2011680"/>
            <a:ext cx="1554480" cy="19202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10058400" y="1234440"/>
            <a:ext cx="777240" cy="23774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0835640" y="2011680"/>
            <a:ext cx="704088" cy="16002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9692640" y="2697480"/>
            <a:ext cx="1143000" cy="9144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835640" y="3611880"/>
            <a:ext cx="548640" cy="10058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0195560" y="3611880"/>
            <a:ext cx="640080" cy="5486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0835640" y="3063240"/>
            <a:ext cx="1097280" cy="5486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784080" y="3611880"/>
            <a:ext cx="1051560" cy="118872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6812280" y="2468880"/>
            <a:ext cx="548640" cy="14630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6675120" y="3401568"/>
            <a:ext cx="685800" cy="530352"/>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360920" y="2926080"/>
            <a:ext cx="685800" cy="10058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60920" y="3931920"/>
            <a:ext cx="1097280" cy="6858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6903720" y="3931920"/>
            <a:ext cx="457200" cy="96012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0058400" y="1078992"/>
            <a:ext cx="1691640" cy="155448"/>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8046720" y="2697480"/>
            <a:ext cx="1645920" cy="2286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458200" y="4617720"/>
            <a:ext cx="1325880" cy="18288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539728" y="2011680"/>
            <a:ext cx="393192" cy="105156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7726679" y="1965960"/>
            <a:ext cx="320041" cy="96012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6812280" y="1234440"/>
            <a:ext cx="365760" cy="12344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9784080" y="4617720"/>
            <a:ext cx="1600200" cy="18288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059168" y="1115568"/>
            <a:ext cx="237744" cy="237744"/>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183880" y="777240"/>
            <a:ext cx="182880" cy="182880"/>
          </a:xfrm>
          <a:prstGeom prst="ellipse">
            <a:avLst/>
          </a:prstGeom>
          <a:solidFill>
            <a:srgbClr val="E4002B"/>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921240" y="1097280"/>
            <a:ext cx="274320" cy="274320"/>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1430000" y="1901952"/>
            <a:ext cx="219456" cy="219456"/>
          </a:xfrm>
          <a:prstGeom prst="ellipse">
            <a:avLst/>
          </a:prstGeom>
          <a:solidFill>
            <a:srgbClr val="1FA87E"/>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1667744" y="996695"/>
            <a:ext cx="164592" cy="164592"/>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702552" y="2359152"/>
            <a:ext cx="219456" cy="219456"/>
          </a:xfrm>
          <a:prstGeom prst="ellipse">
            <a:avLst/>
          </a:prstGeom>
          <a:solidFill>
            <a:srgbClr val="1FA87E"/>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583680" y="3310128"/>
            <a:ext cx="182880" cy="182880"/>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918704" y="2798064"/>
            <a:ext cx="256032" cy="256032"/>
          </a:xfrm>
          <a:prstGeom prst="ellipse">
            <a:avLst/>
          </a:prstGeom>
          <a:solidFill>
            <a:srgbClr val="E4002B"/>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592056" y="2596896"/>
            <a:ext cx="201168" cy="201168"/>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1274552" y="4507992"/>
            <a:ext cx="219456" cy="219456"/>
          </a:xfrm>
          <a:prstGeom prst="ellipse">
            <a:avLst/>
          </a:prstGeom>
          <a:solidFill>
            <a:srgbClr val="1FA87E"/>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683496" y="4700016"/>
            <a:ext cx="201168" cy="201168"/>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330183" y="4489704"/>
            <a:ext cx="256032" cy="256032"/>
          </a:xfrm>
          <a:prstGeom prst="ellipse">
            <a:avLst/>
          </a:prstGeom>
          <a:solidFill>
            <a:srgbClr val="E4002B"/>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812280" y="4800600"/>
            <a:ext cx="182880" cy="182880"/>
          </a:xfrm>
          <a:prstGeom prst="ellipse">
            <a:avLst/>
          </a:prstGeom>
          <a:solidFill>
            <a:srgbClr val="1FA87E"/>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113264" y="4078224"/>
            <a:ext cx="164592" cy="164592"/>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841480" y="2971800"/>
            <a:ext cx="182880" cy="182880"/>
          </a:xfrm>
          <a:prstGeom prst="ellipse">
            <a:avLst/>
          </a:prstGeom>
          <a:solidFill>
            <a:srgbClr val="E4002B"/>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644383" y="1883664"/>
            <a:ext cx="164592" cy="164592"/>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592824" y="3163824"/>
            <a:ext cx="1536192" cy="1536192"/>
          </a:xfrm>
          <a:prstGeom prst="ellipse">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823252" y="3394252"/>
            <a:ext cx="1075334" cy="1075334"/>
          </a:xfrm>
          <a:prstGeom prst="ellipse">
            <a:avLst/>
          </a:prstGeom>
          <a:solidFill>
            <a:srgbClr val="F3B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976872" y="3547872"/>
            <a:ext cx="768096" cy="768096"/>
          </a:xfrm>
          <a:prstGeom prst="ellipse">
            <a:avLst/>
          </a:prstGeom>
          <a:solidFill>
            <a:srgbClr val="EC74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104888" y="3675887"/>
            <a:ext cx="512064" cy="512064"/>
          </a:xfrm>
          <a:prstGeom prst="ellipse">
            <a:avLst/>
          </a:prstGeom>
          <a:solidFill>
            <a:srgbClr val="E4002B"/>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258507" y="3829507"/>
            <a:ext cx="204825" cy="204825"/>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930384" y="2706624"/>
            <a:ext cx="1810512" cy="1810512"/>
          </a:xfrm>
          <a:prstGeom prst="ellipse">
            <a:avLst/>
          </a:prstGeom>
          <a:solidFill>
            <a:srgbClr val="DD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201960" y="2978200"/>
            <a:ext cx="1267358" cy="1267358"/>
          </a:xfrm>
          <a:prstGeom prst="ellipse">
            <a:avLst/>
          </a:prstGeom>
          <a:solidFill>
            <a:srgbClr val="A6DC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383012" y="3159252"/>
            <a:ext cx="905256" cy="905256"/>
          </a:xfrm>
          <a:prstGeom prst="ellipse">
            <a:avLst/>
          </a:prstGeom>
          <a:solidFill>
            <a:srgbClr val="54C1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533888" y="3310128"/>
            <a:ext cx="603504" cy="603504"/>
          </a:xfrm>
          <a:prstGeom prst="ellipse">
            <a:avLst/>
          </a:prstGeom>
          <a:solidFill>
            <a:srgbClr val="1FA87E"/>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714939" y="3491179"/>
            <a:ext cx="241401" cy="241401"/>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818120" y="914400"/>
            <a:ext cx="2194560" cy="2194560"/>
          </a:xfrm>
          <a:prstGeom prst="ellipse">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8147304" y="1243584"/>
            <a:ext cx="1536192" cy="1536192"/>
          </a:xfrm>
          <a:prstGeom prst="ellipse">
            <a:avLst/>
          </a:prstGeom>
          <a:solidFill>
            <a:srgbClr val="F3B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1463040"/>
            <a:ext cx="1097280" cy="1097280"/>
          </a:xfrm>
          <a:prstGeom prst="ellipse">
            <a:avLst/>
          </a:prstGeom>
          <a:solidFill>
            <a:srgbClr val="EC74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549640" y="1645920"/>
            <a:ext cx="731520" cy="731520"/>
          </a:xfrm>
          <a:prstGeom prst="ellipse">
            <a:avLst/>
          </a:prstGeom>
          <a:solidFill>
            <a:srgbClr val="E4002B"/>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8769096" y="1865376"/>
            <a:ext cx="292608" cy="29260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41248" y="603504"/>
            <a:ext cx="5852160" cy="274320"/>
          </a:xfrm>
          <a:prstGeom prst="rect">
            <a:avLst/>
          </a:prstGeom>
          <a:noFill/>
        </p:spPr>
        <p:txBody>
          <a:bodyPr wrap="square" anchor="t" lIns="0" rIns="0" tIns="0" bIns="0">
            <a:spAutoFit/>
          </a:bodyPr>
          <a:lstStyle/>
          <a:p>
            <a:pPr algn="l">
              <a:lnSpc>
                <a:spcPct val="106000"/>
              </a:lnSpc>
              <a:spcBef>
                <a:spcPts val="0"/>
              </a:spcBef>
              <a:spcAft>
                <a:spcPts val="0"/>
              </a:spcAft>
            </a:pPr>
            <a:r>
              <a:rPr sz="1300" b="1" i="0">
                <a:solidFill>
                  <a:srgbClr val="E4002B"/>
                </a:solidFill>
                <a:latin typeface="Calibri"/>
              </a:rPr>
              <a:t>OSG</a:t>
            </a:r>
            <a:r>
              <a:rPr sz="1150" b="1" i="0">
                <a:solidFill>
                  <a:srgbClr val="9AA3AB"/>
                </a:solidFill>
                <a:latin typeface="Calibri"/>
              </a:rPr>
              <a:t>      EXECUTIVE  BRIEFING  ·  BANK  LEADERSHIP</a:t>
            </a:r>
          </a:p>
        </p:txBody>
      </p:sp>
      <p:sp>
        <p:nvSpPr>
          <p:cNvPr id="63" name="TextBox 62"/>
          <p:cNvSpPr txBox="1"/>
          <p:nvPr/>
        </p:nvSpPr>
        <p:spPr>
          <a:xfrm>
            <a:off x="822960" y="987552"/>
            <a:ext cx="5120640" cy="868680"/>
          </a:xfrm>
          <a:prstGeom prst="rect">
            <a:avLst/>
          </a:prstGeom>
          <a:noFill/>
        </p:spPr>
        <p:txBody>
          <a:bodyPr wrap="square" anchor="t" lIns="0" rIns="0" tIns="0" bIns="0">
            <a:spAutoFit/>
          </a:bodyPr>
          <a:lstStyle/>
          <a:p>
            <a:pPr algn="l">
              <a:lnSpc>
                <a:spcPct val="106000"/>
              </a:lnSpc>
              <a:spcBef>
                <a:spcPts val="0"/>
              </a:spcBef>
              <a:spcAft>
                <a:spcPts val="0"/>
              </a:spcAft>
            </a:pPr>
            <a:r>
              <a:rPr sz="4000" b="1" i="0">
                <a:solidFill>
                  <a:srgbClr val="1E2933"/>
                </a:solidFill>
                <a:latin typeface="Calibri"/>
              </a:rPr>
              <a:t>OSG Smart Guide</a:t>
            </a:r>
          </a:p>
        </p:txBody>
      </p:sp>
      <p:sp>
        <p:nvSpPr>
          <p:cNvPr id="64" name="Rounded Rectangle 63"/>
          <p:cNvSpPr/>
          <p:nvPr/>
        </p:nvSpPr>
        <p:spPr>
          <a:xfrm>
            <a:off x="841248" y="1938528"/>
            <a:ext cx="960120" cy="64008"/>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41248" y="2212848"/>
            <a:ext cx="4754880" cy="1051560"/>
          </a:xfrm>
          <a:prstGeom prst="rect">
            <a:avLst/>
          </a:prstGeom>
          <a:noFill/>
        </p:spPr>
        <p:txBody>
          <a:bodyPr wrap="square" anchor="t" lIns="0" rIns="0" tIns="0" bIns="0">
            <a:spAutoFit/>
          </a:bodyPr>
          <a:lstStyle/>
          <a:p>
            <a:pPr algn="l">
              <a:lnSpc>
                <a:spcPct val="122000"/>
              </a:lnSpc>
              <a:spcBef>
                <a:spcPts val="0"/>
              </a:spcBef>
              <a:spcAft>
                <a:spcPts val="0"/>
              </a:spcAft>
            </a:pPr>
            <a:r>
              <a:rPr sz="1450" b="0" i="0">
                <a:solidFill>
                  <a:srgbClr val="5B6670"/>
                </a:solidFill>
                <a:latin typeface="Calibri"/>
              </a:rPr>
              <a:t>A secure AI assistant that gives frontliners instant, source-cited answers on products, promotions and services, grounded only in the bank's own content.</a:t>
            </a:r>
          </a:p>
        </p:txBody>
      </p:sp>
      <p:sp>
        <p:nvSpPr>
          <p:cNvPr id="66" name="Rectangle 65"/>
          <p:cNvSpPr/>
          <p:nvPr/>
        </p:nvSpPr>
        <p:spPr>
          <a:xfrm>
            <a:off x="841248" y="5504688"/>
            <a:ext cx="10509199" cy="12700"/>
          </a:xfrm>
          <a:prstGeom prst="rect">
            <a:avLst/>
          </a:prstGeom>
          <a:solidFill>
            <a:srgbClr val="DDE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0" y="5614416"/>
            <a:ext cx="12191695" cy="256032"/>
          </a:xfrm>
          <a:prstGeom prst="rect">
            <a:avLst/>
          </a:prstGeom>
          <a:noFill/>
        </p:spPr>
        <p:txBody>
          <a:bodyPr wrap="square" anchor="t" lIns="0" rIns="0" tIns="0" bIns="0">
            <a:spAutoFit/>
          </a:bodyPr>
          <a:lstStyle/>
          <a:p>
            <a:pPr algn="ctr">
              <a:lnSpc>
                <a:spcPct val="106000"/>
              </a:lnSpc>
              <a:spcBef>
                <a:spcPts val="0"/>
              </a:spcBef>
              <a:spcAft>
                <a:spcPts val="0"/>
              </a:spcAft>
            </a:pPr>
            <a:r>
              <a:rPr sz="1100" b="1" i="0">
                <a:solidFill>
                  <a:srgbClr val="E4002B"/>
                </a:solidFill>
                <a:latin typeface="Calibri"/>
              </a:rPr>
              <a:t>PROJECT TEAM</a:t>
            </a:r>
          </a:p>
        </p:txBody>
      </p:sp>
      <p:sp>
        <p:nvSpPr>
          <p:cNvPr id="68" name="Oval 67"/>
          <p:cNvSpPr/>
          <p:nvPr/>
        </p:nvSpPr>
        <p:spPr>
          <a:xfrm>
            <a:off x="1938528" y="5843016"/>
            <a:ext cx="786384" cy="786384"/>
          </a:xfrm>
          <a:prstGeom prst="ellipse">
            <a:avLst/>
          </a:prstGeom>
          <a:solidFill>
            <a:srgbClr val="EDF0F2"/>
          </a:solidFill>
          <a:ln w="19050">
            <a:solidFill>
              <a:srgbClr val="C7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2213763" y="5968837"/>
            <a:ext cx="235915" cy="235915"/>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2095805" y="6267663"/>
            <a:ext cx="471830" cy="361736"/>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600200" y="6693408"/>
            <a:ext cx="1463040" cy="219456"/>
          </a:xfrm>
          <a:prstGeom prst="rect">
            <a:avLst/>
          </a:prstGeom>
          <a:noFill/>
        </p:spPr>
        <p:txBody>
          <a:bodyPr wrap="square" anchor="t" lIns="0" rIns="0" tIns="0" bIns="0">
            <a:spAutoFit/>
          </a:bodyPr>
          <a:lstStyle/>
          <a:p>
            <a:pPr algn="ctr">
              <a:lnSpc>
                <a:spcPct val="106000"/>
              </a:lnSpc>
              <a:spcBef>
                <a:spcPts val="0"/>
              </a:spcBef>
              <a:spcAft>
                <a:spcPts val="0"/>
              </a:spcAft>
            </a:pPr>
            <a:r>
              <a:rPr sz="1000" b="0" i="0">
                <a:solidFill>
                  <a:srgbClr val="5B6670"/>
                </a:solidFill>
                <a:latin typeface="Calibri"/>
              </a:rPr>
              <a:t>Name</a:t>
            </a:r>
          </a:p>
        </p:txBody>
      </p:sp>
      <p:sp>
        <p:nvSpPr>
          <p:cNvPr id="72" name="Oval 71"/>
          <p:cNvSpPr/>
          <p:nvPr/>
        </p:nvSpPr>
        <p:spPr>
          <a:xfrm>
            <a:off x="3950208" y="5843016"/>
            <a:ext cx="786384" cy="786384"/>
          </a:xfrm>
          <a:prstGeom prst="ellipse">
            <a:avLst/>
          </a:prstGeom>
          <a:solidFill>
            <a:srgbClr val="EDF0F2"/>
          </a:solidFill>
          <a:ln w="19050">
            <a:solidFill>
              <a:srgbClr val="C7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4225443" y="5968837"/>
            <a:ext cx="235915" cy="235915"/>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4107485" y="6267663"/>
            <a:ext cx="471830" cy="361736"/>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611880" y="6693408"/>
            <a:ext cx="1463040" cy="219456"/>
          </a:xfrm>
          <a:prstGeom prst="rect">
            <a:avLst/>
          </a:prstGeom>
          <a:noFill/>
        </p:spPr>
        <p:txBody>
          <a:bodyPr wrap="square" anchor="t" lIns="0" rIns="0" tIns="0" bIns="0">
            <a:spAutoFit/>
          </a:bodyPr>
          <a:lstStyle/>
          <a:p>
            <a:pPr algn="ctr">
              <a:lnSpc>
                <a:spcPct val="106000"/>
              </a:lnSpc>
              <a:spcBef>
                <a:spcPts val="0"/>
              </a:spcBef>
              <a:spcAft>
                <a:spcPts val="0"/>
              </a:spcAft>
            </a:pPr>
            <a:r>
              <a:rPr sz="1000" b="0" i="0">
                <a:solidFill>
                  <a:srgbClr val="5B6670"/>
                </a:solidFill>
                <a:latin typeface="Calibri"/>
              </a:rPr>
              <a:t>Name</a:t>
            </a:r>
          </a:p>
        </p:txBody>
      </p:sp>
      <p:sp>
        <p:nvSpPr>
          <p:cNvPr id="76" name="Oval 75"/>
          <p:cNvSpPr/>
          <p:nvPr/>
        </p:nvSpPr>
        <p:spPr>
          <a:xfrm>
            <a:off x="5961888" y="5843016"/>
            <a:ext cx="786384" cy="786384"/>
          </a:xfrm>
          <a:prstGeom prst="ellipse">
            <a:avLst/>
          </a:prstGeom>
          <a:solidFill>
            <a:srgbClr val="EDF0F2"/>
          </a:solidFill>
          <a:ln w="19050">
            <a:solidFill>
              <a:srgbClr val="C7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237123" y="5968837"/>
            <a:ext cx="235915" cy="235915"/>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119165" y="6267663"/>
            <a:ext cx="471830" cy="361736"/>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623560" y="6693408"/>
            <a:ext cx="1463040" cy="219456"/>
          </a:xfrm>
          <a:prstGeom prst="rect">
            <a:avLst/>
          </a:prstGeom>
          <a:noFill/>
        </p:spPr>
        <p:txBody>
          <a:bodyPr wrap="square" anchor="t" lIns="0" rIns="0" tIns="0" bIns="0">
            <a:spAutoFit/>
          </a:bodyPr>
          <a:lstStyle/>
          <a:p>
            <a:pPr algn="ctr">
              <a:lnSpc>
                <a:spcPct val="106000"/>
              </a:lnSpc>
              <a:spcBef>
                <a:spcPts val="0"/>
              </a:spcBef>
              <a:spcAft>
                <a:spcPts val="0"/>
              </a:spcAft>
            </a:pPr>
            <a:r>
              <a:rPr sz="1000" b="0" i="0">
                <a:solidFill>
                  <a:srgbClr val="5B6670"/>
                </a:solidFill>
                <a:latin typeface="Calibri"/>
              </a:rPr>
              <a:t>Name</a:t>
            </a:r>
          </a:p>
        </p:txBody>
      </p:sp>
      <p:sp>
        <p:nvSpPr>
          <p:cNvPr id="80" name="Oval 79"/>
          <p:cNvSpPr/>
          <p:nvPr/>
        </p:nvSpPr>
        <p:spPr>
          <a:xfrm>
            <a:off x="7973568" y="5843016"/>
            <a:ext cx="786384" cy="786384"/>
          </a:xfrm>
          <a:prstGeom prst="ellipse">
            <a:avLst/>
          </a:prstGeom>
          <a:solidFill>
            <a:srgbClr val="EDF0F2"/>
          </a:solidFill>
          <a:ln w="19050">
            <a:solidFill>
              <a:srgbClr val="C7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8248803" y="5968837"/>
            <a:ext cx="235915" cy="235915"/>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130845" y="6267663"/>
            <a:ext cx="471830" cy="361736"/>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635240" y="6693408"/>
            <a:ext cx="1463040" cy="219456"/>
          </a:xfrm>
          <a:prstGeom prst="rect">
            <a:avLst/>
          </a:prstGeom>
          <a:noFill/>
        </p:spPr>
        <p:txBody>
          <a:bodyPr wrap="square" anchor="t" lIns="0" rIns="0" tIns="0" bIns="0">
            <a:spAutoFit/>
          </a:bodyPr>
          <a:lstStyle/>
          <a:p>
            <a:pPr algn="ctr">
              <a:lnSpc>
                <a:spcPct val="106000"/>
              </a:lnSpc>
              <a:spcBef>
                <a:spcPts val="0"/>
              </a:spcBef>
              <a:spcAft>
                <a:spcPts val="0"/>
              </a:spcAft>
            </a:pPr>
            <a:r>
              <a:rPr sz="1000" b="0" i="0">
                <a:solidFill>
                  <a:srgbClr val="5B6670"/>
                </a:solidFill>
                <a:latin typeface="Calibri"/>
              </a:rPr>
              <a:t>Name</a:t>
            </a:r>
          </a:p>
        </p:txBody>
      </p:sp>
      <p:sp>
        <p:nvSpPr>
          <p:cNvPr id="84" name="Oval 83"/>
          <p:cNvSpPr/>
          <p:nvPr/>
        </p:nvSpPr>
        <p:spPr>
          <a:xfrm>
            <a:off x="9985248" y="5843016"/>
            <a:ext cx="786384" cy="786384"/>
          </a:xfrm>
          <a:prstGeom prst="ellipse">
            <a:avLst/>
          </a:prstGeom>
          <a:solidFill>
            <a:srgbClr val="EDF0F2"/>
          </a:solidFill>
          <a:ln w="19050">
            <a:solidFill>
              <a:srgbClr val="C7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0260483" y="5968837"/>
            <a:ext cx="235915" cy="235915"/>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142525" y="6267663"/>
            <a:ext cx="471830" cy="361736"/>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646920" y="6693408"/>
            <a:ext cx="1463040" cy="219456"/>
          </a:xfrm>
          <a:prstGeom prst="rect">
            <a:avLst/>
          </a:prstGeom>
          <a:noFill/>
        </p:spPr>
        <p:txBody>
          <a:bodyPr wrap="square" anchor="t" lIns="0" rIns="0" tIns="0" bIns="0">
            <a:spAutoFit/>
          </a:bodyPr>
          <a:lstStyle/>
          <a:p>
            <a:pPr algn="ctr">
              <a:lnSpc>
                <a:spcPct val="106000"/>
              </a:lnSpc>
              <a:spcBef>
                <a:spcPts val="0"/>
              </a:spcBef>
              <a:spcAft>
                <a:spcPts val="0"/>
              </a:spcAft>
            </a:pPr>
            <a:r>
              <a:rPr sz="1000" b="0" i="0">
                <a:solidFill>
                  <a:srgbClr val="5B6670"/>
                </a:solidFill>
                <a:latin typeface="Calibri"/>
              </a:rPr>
              <a:t>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CONTENTS</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From the problem to the solution to the business impact</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02</a:t>
            </a:r>
          </a:p>
        </p:txBody>
      </p:sp>
      <p:sp>
        <p:nvSpPr>
          <p:cNvPr id="10" name="TextBox 9"/>
          <p:cNvSpPr txBox="1"/>
          <p:nvPr/>
        </p:nvSpPr>
        <p:spPr>
          <a:xfrm>
            <a:off x="685800" y="1865376"/>
            <a:ext cx="960120" cy="841248"/>
          </a:xfrm>
          <a:prstGeom prst="rect">
            <a:avLst/>
          </a:prstGeom>
          <a:noFill/>
        </p:spPr>
        <p:txBody>
          <a:bodyPr wrap="square" anchor="ctr" lIns="0" rIns="0" tIns="0" bIns="0">
            <a:spAutoFit/>
          </a:bodyPr>
          <a:lstStyle/>
          <a:p>
            <a:pPr algn="l">
              <a:lnSpc>
                <a:spcPct val="106000"/>
              </a:lnSpc>
              <a:spcBef>
                <a:spcPts val="0"/>
              </a:spcBef>
              <a:spcAft>
                <a:spcPts val="0"/>
              </a:spcAft>
            </a:pPr>
            <a:r>
              <a:rPr sz="2600" b="1" i="0">
                <a:solidFill>
                  <a:srgbClr val="E4002B"/>
                </a:solidFill>
                <a:latin typeface="Calibri"/>
              </a:rPr>
              <a:t>01</a:t>
            </a:r>
          </a:p>
        </p:txBody>
      </p:sp>
      <p:sp>
        <p:nvSpPr>
          <p:cNvPr id="11" name="TextBox 10"/>
          <p:cNvSpPr txBox="1"/>
          <p:nvPr/>
        </p:nvSpPr>
        <p:spPr>
          <a:xfrm>
            <a:off x="1645920" y="1865376"/>
            <a:ext cx="9859975" cy="841248"/>
          </a:xfrm>
          <a:prstGeom prst="rect">
            <a:avLst/>
          </a:prstGeom>
          <a:noFill/>
        </p:spPr>
        <p:txBody>
          <a:bodyPr wrap="square" anchor="ctr" lIns="0" rIns="0" tIns="0" bIns="0">
            <a:spAutoFit/>
          </a:bodyPr>
          <a:lstStyle/>
          <a:p>
            <a:pPr algn="l">
              <a:lnSpc>
                <a:spcPct val="105000"/>
              </a:lnSpc>
              <a:spcBef>
                <a:spcPts val="0"/>
              </a:spcBef>
              <a:spcAft>
                <a:spcPts val="300"/>
              </a:spcAft>
            </a:pPr>
            <a:r>
              <a:rPr sz="1700" b="1" i="0">
                <a:solidFill>
                  <a:srgbClr val="24282C"/>
                </a:solidFill>
                <a:latin typeface="Calibri"/>
              </a:rPr>
              <a:t>Executive summary</a:t>
            </a:r>
          </a:p>
          <a:p>
            <a:pPr algn="l">
              <a:lnSpc>
                <a:spcPct val="105000"/>
              </a:lnSpc>
              <a:spcBef>
                <a:spcPts val="0"/>
              </a:spcBef>
              <a:spcAft>
                <a:spcPts val="300"/>
              </a:spcAft>
            </a:pPr>
            <a:r>
              <a:rPr sz="1250" b="0" i="0">
                <a:solidFill>
                  <a:srgbClr val="6A7177"/>
                </a:solidFill>
                <a:latin typeface="Calibri"/>
              </a:rPr>
              <a:t>The problem, the AI solution, and the projected impact at a glance</a:t>
            </a:r>
          </a:p>
        </p:txBody>
      </p:sp>
      <p:sp>
        <p:nvSpPr>
          <p:cNvPr id="12" name="Rectangle 11"/>
          <p:cNvSpPr/>
          <p:nvPr/>
        </p:nvSpPr>
        <p:spPr>
          <a:xfrm>
            <a:off x="685800" y="2706624"/>
            <a:ext cx="10820095"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761488"/>
            <a:ext cx="960120" cy="841248"/>
          </a:xfrm>
          <a:prstGeom prst="rect">
            <a:avLst/>
          </a:prstGeom>
          <a:noFill/>
        </p:spPr>
        <p:txBody>
          <a:bodyPr wrap="square" anchor="ctr" lIns="0" rIns="0" tIns="0" bIns="0">
            <a:spAutoFit/>
          </a:bodyPr>
          <a:lstStyle/>
          <a:p>
            <a:pPr algn="l">
              <a:lnSpc>
                <a:spcPct val="106000"/>
              </a:lnSpc>
              <a:spcBef>
                <a:spcPts val="0"/>
              </a:spcBef>
              <a:spcAft>
                <a:spcPts val="0"/>
              </a:spcAft>
            </a:pPr>
            <a:r>
              <a:rPr sz="2600" b="1" i="0">
                <a:solidFill>
                  <a:srgbClr val="E4002B"/>
                </a:solidFill>
                <a:latin typeface="Calibri"/>
              </a:rPr>
              <a:t>02</a:t>
            </a:r>
          </a:p>
        </p:txBody>
      </p:sp>
      <p:sp>
        <p:nvSpPr>
          <p:cNvPr id="14" name="TextBox 13"/>
          <p:cNvSpPr txBox="1"/>
          <p:nvPr/>
        </p:nvSpPr>
        <p:spPr>
          <a:xfrm>
            <a:off x="1645920" y="2761488"/>
            <a:ext cx="9859975" cy="841248"/>
          </a:xfrm>
          <a:prstGeom prst="rect">
            <a:avLst/>
          </a:prstGeom>
          <a:noFill/>
        </p:spPr>
        <p:txBody>
          <a:bodyPr wrap="square" anchor="ctr" lIns="0" rIns="0" tIns="0" bIns="0">
            <a:spAutoFit/>
          </a:bodyPr>
          <a:lstStyle/>
          <a:p>
            <a:pPr algn="l">
              <a:lnSpc>
                <a:spcPct val="105000"/>
              </a:lnSpc>
              <a:spcBef>
                <a:spcPts val="0"/>
              </a:spcBef>
              <a:spcAft>
                <a:spcPts val="300"/>
              </a:spcAft>
            </a:pPr>
            <a:r>
              <a:rPr sz="1700" b="1" i="0">
                <a:solidFill>
                  <a:srgbClr val="24282C"/>
                </a:solidFill>
                <a:latin typeface="Calibri"/>
              </a:rPr>
              <a:t>Project charter</a:t>
            </a:r>
          </a:p>
          <a:p>
            <a:pPr algn="l">
              <a:lnSpc>
                <a:spcPct val="105000"/>
              </a:lnSpc>
              <a:spcBef>
                <a:spcPts val="0"/>
              </a:spcBef>
              <a:spcAft>
                <a:spcPts val="300"/>
              </a:spcAft>
            </a:pPr>
            <a:r>
              <a:rPr sz="1250" b="0" i="0">
                <a:solidFill>
                  <a:srgbClr val="6A7177"/>
                </a:solidFill>
                <a:latin typeface="Calibri"/>
              </a:rPr>
              <a:t>Scope, strategic alignment, high-level timeline, and executive sponsorship</a:t>
            </a:r>
          </a:p>
        </p:txBody>
      </p:sp>
      <p:sp>
        <p:nvSpPr>
          <p:cNvPr id="15" name="Rectangle 14"/>
          <p:cNvSpPr/>
          <p:nvPr/>
        </p:nvSpPr>
        <p:spPr>
          <a:xfrm>
            <a:off x="685800" y="3602736"/>
            <a:ext cx="10820095"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657600"/>
            <a:ext cx="960120" cy="841248"/>
          </a:xfrm>
          <a:prstGeom prst="rect">
            <a:avLst/>
          </a:prstGeom>
          <a:noFill/>
        </p:spPr>
        <p:txBody>
          <a:bodyPr wrap="square" anchor="ctr" lIns="0" rIns="0" tIns="0" bIns="0">
            <a:spAutoFit/>
          </a:bodyPr>
          <a:lstStyle/>
          <a:p>
            <a:pPr algn="l">
              <a:lnSpc>
                <a:spcPct val="106000"/>
              </a:lnSpc>
              <a:spcBef>
                <a:spcPts val="0"/>
              </a:spcBef>
              <a:spcAft>
                <a:spcPts val="0"/>
              </a:spcAft>
            </a:pPr>
            <a:r>
              <a:rPr sz="2600" b="1" i="0">
                <a:solidFill>
                  <a:srgbClr val="E4002B"/>
                </a:solidFill>
                <a:latin typeface="Calibri"/>
              </a:rPr>
              <a:t>03</a:t>
            </a:r>
          </a:p>
        </p:txBody>
      </p:sp>
      <p:sp>
        <p:nvSpPr>
          <p:cNvPr id="17" name="TextBox 16"/>
          <p:cNvSpPr txBox="1"/>
          <p:nvPr/>
        </p:nvSpPr>
        <p:spPr>
          <a:xfrm>
            <a:off x="1645920" y="3657600"/>
            <a:ext cx="9859975" cy="841248"/>
          </a:xfrm>
          <a:prstGeom prst="rect">
            <a:avLst/>
          </a:prstGeom>
          <a:noFill/>
        </p:spPr>
        <p:txBody>
          <a:bodyPr wrap="square" anchor="ctr" lIns="0" rIns="0" tIns="0" bIns="0">
            <a:spAutoFit/>
          </a:bodyPr>
          <a:lstStyle/>
          <a:p>
            <a:pPr algn="l">
              <a:lnSpc>
                <a:spcPct val="105000"/>
              </a:lnSpc>
              <a:spcBef>
                <a:spcPts val="0"/>
              </a:spcBef>
              <a:spcAft>
                <a:spcPts val="300"/>
              </a:spcAft>
            </a:pPr>
            <a:r>
              <a:rPr sz="1700" b="1" i="0">
                <a:solidFill>
                  <a:srgbClr val="24282C"/>
                </a:solidFill>
                <a:latin typeface="Calibri"/>
              </a:rPr>
              <a:t>Background, problem &amp; proposed solution</a:t>
            </a:r>
          </a:p>
          <a:p>
            <a:pPr algn="l">
              <a:lnSpc>
                <a:spcPct val="105000"/>
              </a:lnSpc>
              <a:spcBef>
                <a:spcPts val="0"/>
              </a:spcBef>
              <a:spcAft>
                <a:spcPts val="300"/>
              </a:spcAft>
            </a:pPr>
            <a:r>
              <a:rPr sz="1250" b="0" i="0">
                <a:solidFill>
                  <a:srgbClr val="6A7177"/>
                </a:solidFill>
                <a:latin typeface="Calibri"/>
              </a:rPr>
              <a:t>The cost of inefficiency today, the AI-driven enabler, and the proof it is built</a:t>
            </a:r>
          </a:p>
        </p:txBody>
      </p:sp>
      <p:sp>
        <p:nvSpPr>
          <p:cNvPr id="18" name="Rectangle 17"/>
          <p:cNvSpPr/>
          <p:nvPr/>
        </p:nvSpPr>
        <p:spPr>
          <a:xfrm>
            <a:off x="685800" y="4498848"/>
            <a:ext cx="10820095"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553712"/>
            <a:ext cx="960120" cy="841248"/>
          </a:xfrm>
          <a:prstGeom prst="rect">
            <a:avLst/>
          </a:prstGeom>
          <a:noFill/>
        </p:spPr>
        <p:txBody>
          <a:bodyPr wrap="square" anchor="ctr" lIns="0" rIns="0" tIns="0" bIns="0">
            <a:spAutoFit/>
          </a:bodyPr>
          <a:lstStyle/>
          <a:p>
            <a:pPr algn="l">
              <a:lnSpc>
                <a:spcPct val="106000"/>
              </a:lnSpc>
              <a:spcBef>
                <a:spcPts val="0"/>
              </a:spcBef>
              <a:spcAft>
                <a:spcPts val="0"/>
              </a:spcAft>
            </a:pPr>
            <a:r>
              <a:rPr sz="2600" b="1" i="0">
                <a:solidFill>
                  <a:srgbClr val="E4002B"/>
                </a:solidFill>
                <a:latin typeface="Calibri"/>
              </a:rPr>
              <a:t>04</a:t>
            </a:r>
          </a:p>
        </p:txBody>
      </p:sp>
      <p:sp>
        <p:nvSpPr>
          <p:cNvPr id="20" name="TextBox 19"/>
          <p:cNvSpPr txBox="1"/>
          <p:nvPr/>
        </p:nvSpPr>
        <p:spPr>
          <a:xfrm>
            <a:off x="1645920" y="4553712"/>
            <a:ext cx="9859975" cy="841248"/>
          </a:xfrm>
          <a:prstGeom prst="rect">
            <a:avLst/>
          </a:prstGeom>
          <a:noFill/>
        </p:spPr>
        <p:txBody>
          <a:bodyPr wrap="square" anchor="ctr" lIns="0" rIns="0" tIns="0" bIns="0">
            <a:spAutoFit/>
          </a:bodyPr>
          <a:lstStyle/>
          <a:p>
            <a:pPr algn="l">
              <a:lnSpc>
                <a:spcPct val="105000"/>
              </a:lnSpc>
              <a:spcBef>
                <a:spcPts val="0"/>
              </a:spcBef>
              <a:spcAft>
                <a:spcPts val="300"/>
              </a:spcAft>
            </a:pPr>
            <a:r>
              <a:rPr sz="1700" b="1" i="0">
                <a:solidFill>
                  <a:srgbClr val="24282C"/>
                </a:solidFill>
                <a:latin typeface="Calibri"/>
              </a:rPr>
              <a:t>Cross-functional process map</a:t>
            </a:r>
          </a:p>
          <a:p>
            <a:pPr algn="l">
              <a:lnSpc>
                <a:spcPct val="105000"/>
              </a:lnSpc>
              <a:spcBef>
                <a:spcPts val="0"/>
              </a:spcBef>
              <a:spcAft>
                <a:spcPts val="300"/>
              </a:spcAft>
            </a:pPr>
            <a:r>
              <a:rPr sz="1250" b="0" i="0">
                <a:solidFill>
                  <a:srgbClr val="6A7177"/>
                </a:solidFill>
                <a:latin typeface="Calibri"/>
              </a:rPr>
              <a:t>As-Is vs To-Be workflow, time saved, and risk mitigated by design</a:t>
            </a:r>
          </a:p>
        </p:txBody>
      </p:sp>
      <p:sp>
        <p:nvSpPr>
          <p:cNvPr id="21" name="Rectangle 20"/>
          <p:cNvSpPr/>
          <p:nvPr/>
        </p:nvSpPr>
        <p:spPr>
          <a:xfrm>
            <a:off x="685800" y="5394960"/>
            <a:ext cx="10820095"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449824"/>
            <a:ext cx="960120" cy="841248"/>
          </a:xfrm>
          <a:prstGeom prst="rect">
            <a:avLst/>
          </a:prstGeom>
          <a:noFill/>
        </p:spPr>
        <p:txBody>
          <a:bodyPr wrap="square" anchor="ctr" lIns="0" rIns="0" tIns="0" bIns="0">
            <a:spAutoFit/>
          </a:bodyPr>
          <a:lstStyle/>
          <a:p>
            <a:pPr algn="l">
              <a:lnSpc>
                <a:spcPct val="106000"/>
              </a:lnSpc>
              <a:spcBef>
                <a:spcPts val="0"/>
              </a:spcBef>
              <a:spcAft>
                <a:spcPts val="0"/>
              </a:spcAft>
            </a:pPr>
            <a:r>
              <a:rPr sz="2600" b="1" i="0">
                <a:solidFill>
                  <a:srgbClr val="E4002B"/>
                </a:solidFill>
                <a:latin typeface="Calibri"/>
              </a:rPr>
              <a:t>05</a:t>
            </a:r>
          </a:p>
        </p:txBody>
      </p:sp>
      <p:sp>
        <p:nvSpPr>
          <p:cNvPr id="23" name="TextBox 22"/>
          <p:cNvSpPr txBox="1"/>
          <p:nvPr/>
        </p:nvSpPr>
        <p:spPr>
          <a:xfrm>
            <a:off x="1645920" y="5449824"/>
            <a:ext cx="9859975" cy="841248"/>
          </a:xfrm>
          <a:prstGeom prst="rect">
            <a:avLst/>
          </a:prstGeom>
          <a:noFill/>
        </p:spPr>
        <p:txBody>
          <a:bodyPr wrap="square" anchor="ctr" lIns="0" rIns="0" tIns="0" bIns="0">
            <a:spAutoFit/>
          </a:bodyPr>
          <a:lstStyle/>
          <a:p>
            <a:pPr algn="l">
              <a:lnSpc>
                <a:spcPct val="105000"/>
              </a:lnSpc>
              <a:spcBef>
                <a:spcPts val="0"/>
              </a:spcBef>
              <a:spcAft>
                <a:spcPts val="300"/>
              </a:spcAft>
            </a:pPr>
            <a:r>
              <a:rPr sz="1700" b="1" i="0">
                <a:solidFill>
                  <a:srgbClr val="24282C"/>
                </a:solidFill>
                <a:latin typeface="Calibri"/>
              </a:rPr>
              <a:t>Cost &amp; benefit analysis</a:t>
            </a:r>
          </a:p>
          <a:p>
            <a:pPr algn="l">
              <a:lnSpc>
                <a:spcPct val="105000"/>
              </a:lnSpc>
              <a:spcBef>
                <a:spcPts val="0"/>
              </a:spcBef>
              <a:spcAft>
                <a:spcPts val="300"/>
              </a:spcAft>
            </a:pPr>
            <a:r>
              <a:rPr sz="1250" b="0" i="0">
                <a:solidFill>
                  <a:srgbClr val="6A7177"/>
                </a:solidFill>
                <a:latin typeface="Calibri"/>
              </a:rPr>
              <a:t>CAPEX vs OPEX, projected payback, and the recommended pilot</a:t>
            </a:r>
          </a:p>
        </p:txBody>
      </p:sp>
      <p:sp>
        <p:nvSpPr>
          <p:cNvPr id="24" name="Rectangle 23"/>
          <p:cNvSpPr/>
          <p:nvPr/>
        </p:nvSpPr>
        <p:spPr>
          <a:xfrm>
            <a:off x="685800" y="6291072"/>
            <a:ext cx="10820095"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EXECUTIVE SUMMARY</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A lean, secure AI single source of truth turns slow, scattered lookups into instant, cited answers, with a fast payback and launch by April 2026</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03</a:t>
            </a:r>
          </a:p>
        </p:txBody>
      </p:sp>
      <p:sp>
        <p:nvSpPr>
          <p:cNvPr id="10" name="Rounded Rectangle 9"/>
          <p:cNvSpPr/>
          <p:nvPr/>
        </p:nvSpPr>
        <p:spPr>
          <a:xfrm>
            <a:off x="685800" y="1892808"/>
            <a:ext cx="493776" cy="493776"/>
          </a:xfrm>
          <a:prstGeom prst="round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92808"/>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Calibri"/>
              </a:rPr>
              <a:t>01</a:t>
            </a:r>
          </a:p>
        </p:txBody>
      </p:sp>
      <p:sp>
        <p:nvSpPr>
          <p:cNvPr id="12" name="TextBox 11"/>
          <p:cNvSpPr txBox="1"/>
          <p:nvPr/>
        </p:nvSpPr>
        <p:spPr>
          <a:xfrm>
            <a:off x="1325880" y="1746504"/>
            <a:ext cx="8074152" cy="256032"/>
          </a:xfrm>
          <a:prstGeom prst="rect">
            <a:avLst/>
          </a:prstGeom>
          <a:noFill/>
        </p:spPr>
        <p:txBody>
          <a:bodyPr wrap="square" anchor="t" lIns="0" rIns="0" tIns="0" bIns="0">
            <a:spAutoFit/>
          </a:bodyPr>
          <a:lstStyle/>
          <a:p>
            <a:pPr algn="l">
              <a:lnSpc>
                <a:spcPct val="106000"/>
              </a:lnSpc>
              <a:spcBef>
                <a:spcPts val="0"/>
              </a:spcBef>
              <a:spcAft>
                <a:spcPts val="0"/>
              </a:spcAft>
            </a:pPr>
            <a:r>
              <a:rPr sz="1350" b="1" i="0">
                <a:solidFill>
                  <a:srgbClr val="24282C"/>
                </a:solidFill>
                <a:latin typeface="Calibri"/>
              </a:rPr>
              <a:t>Background</a:t>
            </a:r>
          </a:p>
        </p:txBody>
      </p:sp>
      <p:sp>
        <p:nvSpPr>
          <p:cNvPr id="13" name="TextBox 12"/>
          <p:cNvSpPr txBox="1"/>
          <p:nvPr/>
        </p:nvSpPr>
        <p:spPr>
          <a:xfrm>
            <a:off x="1325880" y="2002536"/>
            <a:ext cx="8074152" cy="566928"/>
          </a:xfrm>
          <a:prstGeom prst="rect">
            <a:avLst/>
          </a:prstGeom>
          <a:noFill/>
        </p:spPr>
        <p:txBody>
          <a:bodyPr wrap="square" anchor="t" lIns="0" rIns="0" tIns="0" bIns="0">
            <a:spAutoFit/>
          </a:bodyPr>
          <a:lstStyle/>
          <a:p>
            <a:pPr algn="l">
              <a:lnSpc>
                <a:spcPct val="112000"/>
              </a:lnSpc>
              <a:spcBef>
                <a:spcPts val="0"/>
              </a:spcBef>
              <a:spcAft>
                <a:spcPts val="0"/>
              </a:spcAft>
            </a:pPr>
            <a:r>
              <a:rPr sz="1100" b="1" i="0">
                <a:solidFill>
                  <a:srgbClr val="24282C"/>
                </a:solidFill>
                <a:latin typeface="Calibri"/>
              </a:rPr>
              <a:t>EES 2025:  </a:t>
            </a:r>
            <a:r>
              <a:rPr sz="1100" b="1" i="0">
                <a:solidFill>
                  <a:srgbClr val="4E6B84"/>
                </a:solidFill>
                <a:latin typeface="Calibri"/>
              </a:rPr>
              <a:t>36%</a:t>
            </a:r>
            <a:r>
              <a:rPr sz="1100" b="0" i="0">
                <a:solidFill>
                  <a:srgbClr val="4C5359"/>
                </a:solidFill>
                <a:latin typeface="Calibri"/>
              </a:rPr>
              <a:t> of frontliners (</a:t>
            </a:r>
            <a:r>
              <a:rPr sz="1100" b="1" i="0">
                <a:solidFill>
                  <a:srgbClr val="4E6B84"/>
                </a:solidFill>
                <a:latin typeface="Calibri"/>
              </a:rPr>
              <a:t>1,200+</a:t>
            </a:r>
            <a:r>
              <a:rPr sz="1100" b="0" i="0">
                <a:solidFill>
                  <a:srgbClr val="4C5359"/>
                </a:solidFill>
                <a:latin typeface="Calibri"/>
              </a:rPr>
              <a:t>) cannot easily find current product, promo and procedure information. It is scattered across email, intranet and other channels and mixed with expired documents, with no single source of truth, so frontliners search manually or repeatedly ask Product Owners, cutting productivity at branches and Head Office.</a:t>
            </a:r>
          </a:p>
        </p:txBody>
      </p:sp>
      <p:sp>
        <p:nvSpPr>
          <p:cNvPr id="14" name="Rectangle 13"/>
          <p:cNvSpPr/>
          <p:nvPr/>
        </p:nvSpPr>
        <p:spPr>
          <a:xfrm>
            <a:off x="9454896" y="1828800"/>
            <a:ext cx="12700" cy="6400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82912" y="1901952"/>
            <a:ext cx="2105863" cy="384048"/>
          </a:xfrm>
          <a:prstGeom prst="rect">
            <a:avLst/>
          </a:prstGeom>
          <a:noFill/>
        </p:spPr>
        <p:txBody>
          <a:bodyPr wrap="square" anchor="t" lIns="0" rIns="0" tIns="0" bIns="0">
            <a:spAutoFit/>
          </a:bodyPr>
          <a:lstStyle/>
          <a:p>
            <a:pPr algn="ctr">
              <a:lnSpc>
                <a:spcPct val="106000"/>
              </a:lnSpc>
              <a:spcBef>
                <a:spcPts val="0"/>
              </a:spcBef>
              <a:spcAft>
                <a:spcPts val="0"/>
              </a:spcAft>
            </a:pPr>
            <a:r>
              <a:rPr sz="1900" b="1" i="0">
                <a:solidFill>
                  <a:srgbClr val="4E6B84"/>
                </a:solidFill>
                <a:latin typeface="Calibri"/>
              </a:rPr>
              <a:t>36%</a:t>
            </a:r>
          </a:p>
        </p:txBody>
      </p:sp>
      <p:sp>
        <p:nvSpPr>
          <p:cNvPr id="16" name="TextBox 15"/>
          <p:cNvSpPr txBox="1"/>
          <p:nvPr/>
        </p:nvSpPr>
        <p:spPr>
          <a:xfrm>
            <a:off x="9582912" y="2286000"/>
            <a:ext cx="2105863" cy="237744"/>
          </a:xfrm>
          <a:prstGeom prst="rect">
            <a:avLst/>
          </a:prstGeom>
          <a:noFill/>
        </p:spPr>
        <p:txBody>
          <a:bodyPr wrap="square" anchor="t" lIns="0" rIns="0" tIns="0" bIns="0">
            <a:spAutoFit/>
          </a:bodyPr>
          <a:lstStyle/>
          <a:p>
            <a:pPr algn="ctr">
              <a:lnSpc>
                <a:spcPct val="106000"/>
              </a:lnSpc>
              <a:spcBef>
                <a:spcPts val="0"/>
              </a:spcBef>
              <a:spcAft>
                <a:spcPts val="0"/>
              </a:spcAft>
            </a:pPr>
            <a:r>
              <a:rPr sz="900" b="0" i="0">
                <a:solidFill>
                  <a:srgbClr val="6A7177"/>
                </a:solidFill>
                <a:latin typeface="Calibri"/>
              </a:rPr>
              <a:t>frontliners affected</a:t>
            </a:r>
          </a:p>
        </p:txBody>
      </p:sp>
      <p:sp>
        <p:nvSpPr>
          <p:cNvPr id="17" name="Rectangle 16"/>
          <p:cNvSpPr/>
          <p:nvPr/>
        </p:nvSpPr>
        <p:spPr>
          <a:xfrm>
            <a:off x="685800" y="2596896"/>
            <a:ext cx="10820095" cy="1016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2807208"/>
            <a:ext cx="493776" cy="493776"/>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807208"/>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Calibri"/>
              </a:rPr>
              <a:t>02</a:t>
            </a:r>
          </a:p>
        </p:txBody>
      </p:sp>
      <p:sp>
        <p:nvSpPr>
          <p:cNvPr id="20" name="TextBox 19"/>
          <p:cNvSpPr txBox="1"/>
          <p:nvPr/>
        </p:nvSpPr>
        <p:spPr>
          <a:xfrm>
            <a:off x="1325880" y="2660903"/>
            <a:ext cx="8074152" cy="256032"/>
          </a:xfrm>
          <a:prstGeom prst="rect">
            <a:avLst/>
          </a:prstGeom>
          <a:noFill/>
        </p:spPr>
        <p:txBody>
          <a:bodyPr wrap="square" anchor="t" lIns="0" rIns="0" tIns="0" bIns="0">
            <a:spAutoFit/>
          </a:bodyPr>
          <a:lstStyle/>
          <a:p>
            <a:pPr algn="l">
              <a:lnSpc>
                <a:spcPct val="106000"/>
              </a:lnSpc>
              <a:spcBef>
                <a:spcPts val="0"/>
              </a:spcBef>
              <a:spcAft>
                <a:spcPts val="0"/>
              </a:spcAft>
            </a:pPr>
            <a:r>
              <a:rPr sz="1350" b="1" i="0">
                <a:solidFill>
                  <a:srgbClr val="24282C"/>
                </a:solidFill>
                <a:latin typeface="Calibri"/>
              </a:rPr>
              <a:t>Problem statement</a:t>
            </a:r>
          </a:p>
        </p:txBody>
      </p:sp>
      <p:sp>
        <p:nvSpPr>
          <p:cNvPr id="21" name="TextBox 20"/>
          <p:cNvSpPr txBox="1"/>
          <p:nvPr/>
        </p:nvSpPr>
        <p:spPr>
          <a:xfrm>
            <a:off x="1325880" y="2916936"/>
            <a:ext cx="8074152" cy="566928"/>
          </a:xfrm>
          <a:prstGeom prst="rect">
            <a:avLst/>
          </a:prstGeom>
          <a:noFill/>
        </p:spPr>
        <p:txBody>
          <a:bodyPr wrap="square" anchor="t" lIns="0" rIns="0" tIns="0" bIns="0">
            <a:spAutoFit/>
          </a:bodyPr>
          <a:lstStyle/>
          <a:p>
            <a:pPr algn="l">
              <a:lnSpc>
                <a:spcPct val="112000"/>
              </a:lnSpc>
              <a:spcBef>
                <a:spcPts val="0"/>
              </a:spcBef>
              <a:spcAft>
                <a:spcPts val="0"/>
              </a:spcAft>
            </a:pPr>
            <a:r>
              <a:rPr sz="1100" b="1" i="0">
                <a:solidFill>
                  <a:srgbClr val="24282C"/>
                </a:solidFill>
                <a:latin typeface="Calibri"/>
              </a:rPr>
              <a:t>Three pain points compound on every interaction: </a:t>
            </a:r>
            <a:r>
              <a:rPr sz="1100" b="0" i="0">
                <a:solidFill>
                  <a:srgbClr val="4C5359"/>
                </a:solidFill>
                <a:latin typeface="Calibri"/>
              </a:rPr>
              <a:t>productivity</a:t>
            </a:r>
            <a:r>
              <a:rPr sz="1100" b="0" i="0">
                <a:solidFill>
                  <a:srgbClr val="4C5359"/>
                </a:solidFill>
                <a:latin typeface="Calibri"/>
              </a:rPr>
              <a:t> (answers can take until next-day / H+1 from manual search and Head-Office bottlenecks); </a:t>
            </a:r>
            <a:r>
              <a:rPr sz="1100" b="0" i="0">
                <a:solidFill>
                  <a:srgbClr val="4C5359"/>
                </a:solidFill>
                <a:latin typeface="Calibri"/>
              </a:rPr>
              <a:t>accuracy</a:t>
            </a:r>
            <a:r>
              <a:rPr sz="1100" b="0" i="0">
                <a:solidFill>
                  <a:srgbClr val="4C5359"/>
                </a:solidFill>
                <a:latin typeface="Calibri"/>
              </a:rPr>
              <a:t> (inconsistent, biased information with no single source of truth); and </a:t>
            </a:r>
            <a:r>
              <a:rPr sz="1100" b="0" i="0">
                <a:solidFill>
                  <a:srgbClr val="4C5359"/>
                </a:solidFill>
                <a:latin typeface="Calibri"/>
              </a:rPr>
              <a:t>customer experience</a:t>
            </a:r>
            <a:r>
              <a:rPr sz="1100" b="0" i="0">
                <a:solidFill>
                  <a:srgbClr val="4C5359"/>
                </a:solidFill>
                <a:latin typeface="Calibri"/>
              </a:rPr>
              <a:t> (NPS H1 2025: </a:t>
            </a:r>
            <a:r>
              <a:rPr sz="1100" b="1" i="0">
                <a:solidFill>
                  <a:srgbClr val="E4002B"/>
                </a:solidFill>
                <a:latin typeface="Calibri"/>
              </a:rPr>
              <a:t>38%</a:t>
            </a:r>
            <a:r>
              <a:rPr sz="1100" b="0" i="0">
                <a:solidFill>
                  <a:srgbClr val="4C5359"/>
                </a:solidFill>
                <a:latin typeface="Calibri"/>
              </a:rPr>
              <a:t> of customers complained about frontliner answer quality).</a:t>
            </a:r>
          </a:p>
        </p:txBody>
      </p:sp>
      <p:sp>
        <p:nvSpPr>
          <p:cNvPr id="22" name="Rectangle 21"/>
          <p:cNvSpPr/>
          <p:nvPr/>
        </p:nvSpPr>
        <p:spPr>
          <a:xfrm>
            <a:off x="9454896" y="2743200"/>
            <a:ext cx="12700" cy="6400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2816352"/>
            <a:ext cx="2105863" cy="384048"/>
          </a:xfrm>
          <a:prstGeom prst="rect">
            <a:avLst/>
          </a:prstGeom>
          <a:noFill/>
        </p:spPr>
        <p:txBody>
          <a:bodyPr wrap="square" anchor="t" lIns="0" rIns="0" tIns="0" bIns="0">
            <a:spAutoFit/>
          </a:bodyPr>
          <a:lstStyle/>
          <a:p>
            <a:pPr algn="ctr">
              <a:lnSpc>
                <a:spcPct val="106000"/>
              </a:lnSpc>
              <a:spcBef>
                <a:spcPts val="0"/>
              </a:spcBef>
              <a:spcAft>
                <a:spcPts val="0"/>
              </a:spcAft>
            </a:pPr>
            <a:r>
              <a:rPr sz="1900" b="1" i="0">
                <a:solidFill>
                  <a:srgbClr val="E4002B"/>
                </a:solidFill>
                <a:latin typeface="Calibri"/>
              </a:rPr>
              <a:t>38%</a:t>
            </a:r>
          </a:p>
        </p:txBody>
      </p:sp>
      <p:sp>
        <p:nvSpPr>
          <p:cNvPr id="24" name="TextBox 23"/>
          <p:cNvSpPr txBox="1"/>
          <p:nvPr/>
        </p:nvSpPr>
        <p:spPr>
          <a:xfrm>
            <a:off x="9582912" y="3200400"/>
            <a:ext cx="2105863" cy="237744"/>
          </a:xfrm>
          <a:prstGeom prst="rect">
            <a:avLst/>
          </a:prstGeom>
          <a:noFill/>
        </p:spPr>
        <p:txBody>
          <a:bodyPr wrap="square" anchor="t" lIns="0" rIns="0" tIns="0" bIns="0">
            <a:spAutoFit/>
          </a:bodyPr>
          <a:lstStyle/>
          <a:p>
            <a:pPr algn="ctr">
              <a:lnSpc>
                <a:spcPct val="106000"/>
              </a:lnSpc>
              <a:spcBef>
                <a:spcPts val="0"/>
              </a:spcBef>
              <a:spcAft>
                <a:spcPts val="0"/>
              </a:spcAft>
            </a:pPr>
            <a:r>
              <a:rPr sz="900" b="0" i="0">
                <a:solidFill>
                  <a:srgbClr val="6A7177"/>
                </a:solidFill>
                <a:latin typeface="Calibri"/>
              </a:rPr>
              <a:t>NPS complaints</a:t>
            </a:r>
          </a:p>
        </p:txBody>
      </p:sp>
      <p:sp>
        <p:nvSpPr>
          <p:cNvPr id="25" name="Rectangle 24"/>
          <p:cNvSpPr/>
          <p:nvPr/>
        </p:nvSpPr>
        <p:spPr>
          <a:xfrm>
            <a:off x="685800" y="3511296"/>
            <a:ext cx="10820095" cy="1016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85800" y="3721608"/>
            <a:ext cx="493776" cy="493776"/>
          </a:xfrm>
          <a:prstGeom prst="round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721608"/>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Calibri"/>
              </a:rPr>
              <a:t>03</a:t>
            </a:r>
          </a:p>
        </p:txBody>
      </p:sp>
      <p:sp>
        <p:nvSpPr>
          <p:cNvPr id="28" name="TextBox 27"/>
          <p:cNvSpPr txBox="1"/>
          <p:nvPr/>
        </p:nvSpPr>
        <p:spPr>
          <a:xfrm>
            <a:off x="1325880" y="3575303"/>
            <a:ext cx="8074152" cy="256032"/>
          </a:xfrm>
          <a:prstGeom prst="rect">
            <a:avLst/>
          </a:prstGeom>
          <a:noFill/>
        </p:spPr>
        <p:txBody>
          <a:bodyPr wrap="square" anchor="t" lIns="0" rIns="0" tIns="0" bIns="0">
            <a:spAutoFit/>
          </a:bodyPr>
          <a:lstStyle/>
          <a:p>
            <a:pPr algn="l">
              <a:lnSpc>
                <a:spcPct val="106000"/>
              </a:lnSpc>
              <a:spcBef>
                <a:spcPts val="0"/>
              </a:spcBef>
              <a:spcAft>
                <a:spcPts val="0"/>
              </a:spcAft>
            </a:pPr>
            <a:r>
              <a:rPr sz="1350" b="1" i="0">
                <a:solidFill>
                  <a:srgbClr val="24282C"/>
                </a:solidFill>
                <a:latin typeface="Calibri"/>
              </a:rPr>
              <a:t>Project objective</a:t>
            </a:r>
          </a:p>
        </p:txBody>
      </p:sp>
      <p:sp>
        <p:nvSpPr>
          <p:cNvPr id="29" name="TextBox 28"/>
          <p:cNvSpPr txBox="1"/>
          <p:nvPr/>
        </p:nvSpPr>
        <p:spPr>
          <a:xfrm>
            <a:off x="1325880" y="3831335"/>
            <a:ext cx="8074152" cy="566928"/>
          </a:xfrm>
          <a:prstGeom prst="rect">
            <a:avLst/>
          </a:prstGeom>
          <a:noFill/>
        </p:spPr>
        <p:txBody>
          <a:bodyPr wrap="square" anchor="t" lIns="0" rIns="0" tIns="0" bIns="0">
            <a:spAutoFit/>
          </a:bodyPr>
          <a:lstStyle/>
          <a:p>
            <a:pPr algn="l">
              <a:lnSpc>
                <a:spcPct val="112000"/>
              </a:lnSpc>
              <a:spcBef>
                <a:spcPts val="0"/>
              </a:spcBef>
              <a:spcAft>
                <a:spcPts val="0"/>
              </a:spcAft>
            </a:pPr>
            <a:r>
              <a:rPr sz="1100" b="0" i="0">
                <a:solidFill>
                  <a:srgbClr val="4C5359"/>
                </a:solidFill>
                <a:latin typeface="Calibri"/>
              </a:rPr>
              <a:t>Deliver one secure AI single source of truth so frontliners answer product, promotion and service questions instantly, accurately and bilingually (ID/EN). Key results: cut lookups from &gt;30 minutes / next-day to </a:t>
            </a:r>
            <a:r>
              <a:rPr sz="1100" b="1" i="0">
                <a:solidFill>
                  <a:srgbClr val="395268"/>
                </a:solidFill>
                <a:latin typeface="Calibri"/>
              </a:rPr>
              <a:t>≤ 5 seconds</a:t>
            </a:r>
            <a:r>
              <a:rPr sz="1100" b="0" i="0">
                <a:solidFill>
                  <a:srgbClr val="4C5359"/>
                </a:solidFill>
                <a:latin typeface="Calibri"/>
              </a:rPr>
              <a:t>; raise answer accuracy to </a:t>
            </a:r>
            <a:r>
              <a:rPr sz="1100" b="1" i="0">
                <a:solidFill>
                  <a:srgbClr val="395268"/>
                </a:solidFill>
                <a:latin typeface="Calibri"/>
              </a:rPr>
              <a:t>95%</a:t>
            </a:r>
            <a:r>
              <a:rPr sz="1100" b="0" i="0">
                <a:solidFill>
                  <a:srgbClr val="4C5359"/>
                </a:solidFill>
                <a:latin typeface="Calibri"/>
              </a:rPr>
              <a:t>; cut NPS complaints to </a:t>
            </a:r>
            <a:r>
              <a:rPr sz="1100" b="1" i="0">
                <a:solidFill>
                  <a:srgbClr val="395268"/>
                </a:solidFill>
                <a:latin typeface="Calibri"/>
              </a:rPr>
              <a:t>below 10%</a:t>
            </a:r>
            <a:r>
              <a:rPr sz="1100" b="0" i="0">
                <a:solidFill>
                  <a:srgbClr val="4C5359"/>
                </a:solidFill>
                <a:latin typeface="Calibri"/>
              </a:rPr>
              <a:t>; and reduce reliance on Product Owners.</a:t>
            </a:r>
          </a:p>
        </p:txBody>
      </p:sp>
      <p:sp>
        <p:nvSpPr>
          <p:cNvPr id="30" name="Rectangle 29"/>
          <p:cNvSpPr/>
          <p:nvPr/>
        </p:nvSpPr>
        <p:spPr>
          <a:xfrm>
            <a:off x="9454896" y="3657600"/>
            <a:ext cx="12700" cy="6400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82912" y="3730752"/>
            <a:ext cx="2105863" cy="384048"/>
          </a:xfrm>
          <a:prstGeom prst="rect">
            <a:avLst/>
          </a:prstGeom>
          <a:noFill/>
        </p:spPr>
        <p:txBody>
          <a:bodyPr wrap="square" anchor="t" lIns="0" rIns="0" tIns="0" bIns="0">
            <a:spAutoFit/>
          </a:bodyPr>
          <a:lstStyle/>
          <a:p>
            <a:pPr algn="ctr">
              <a:lnSpc>
                <a:spcPct val="106000"/>
              </a:lnSpc>
              <a:spcBef>
                <a:spcPts val="0"/>
              </a:spcBef>
              <a:spcAft>
                <a:spcPts val="0"/>
              </a:spcAft>
            </a:pPr>
            <a:r>
              <a:rPr sz="1900" b="1" i="0">
                <a:solidFill>
                  <a:srgbClr val="395268"/>
                </a:solidFill>
                <a:latin typeface="Calibri"/>
              </a:rPr>
              <a:t>≤ 5 sec</a:t>
            </a:r>
          </a:p>
        </p:txBody>
      </p:sp>
      <p:sp>
        <p:nvSpPr>
          <p:cNvPr id="32" name="TextBox 31"/>
          <p:cNvSpPr txBox="1"/>
          <p:nvPr/>
        </p:nvSpPr>
        <p:spPr>
          <a:xfrm>
            <a:off x="9582912" y="4114800"/>
            <a:ext cx="2105863" cy="237744"/>
          </a:xfrm>
          <a:prstGeom prst="rect">
            <a:avLst/>
          </a:prstGeom>
          <a:noFill/>
        </p:spPr>
        <p:txBody>
          <a:bodyPr wrap="square" anchor="t" lIns="0" rIns="0" tIns="0" bIns="0">
            <a:spAutoFit/>
          </a:bodyPr>
          <a:lstStyle/>
          <a:p>
            <a:pPr algn="ctr">
              <a:lnSpc>
                <a:spcPct val="106000"/>
              </a:lnSpc>
              <a:spcBef>
                <a:spcPts val="0"/>
              </a:spcBef>
              <a:spcAft>
                <a:spcPts val="0"/>
              </a:spcAft>
            </a:pPr>
            <a:r>
              <a:rPr sz="900" b="0" i="0">
                <a:solidFill>
                  <a:srgbClr val="6A7177"/>
                </a:solidFill>
                <a:latin typeface="Calibri"/>
              </a:rPr>
              <a:t>target lookup</a:t>
            </a:r>
          </a:p>
        </p:txBody>
      </p:sp>
      <p:sp>
        <p:nvSpPr>
          <p:cNvPr id="33" name="Rectangle 32"/>
          <p:cNvSpPr/>
          <p:nvPr/>
        </p:nvSpPr>
        <p:spPr>
          <a:xfrm>
            <a:off x="685800" y="4425696"/>
            <a:ext cx="10820095" cy="1016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85800" y="4636008"/>
            <a:ext cx="493776" cy="493776"/>
          </a:xfrm>
          <a:prstGeom prst="round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4636008"/>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Calibri"/>
              </a:rPr>
              <a:t>04</a:t>
            </a:r>
          </a:p>
        </p:txBody>
      </p:sp>
      <p:sp>
        <p:nvSpPr>
          <p:cNvPr id="36" name="TextBox 35"/>
          <p:cNvSpPr txBox="1"/>
          <p:nvPr/>
        </p:nvSpPr>
        <p:spPr>
          <a:xfrm>
            <a:off x="1325880" y="4489704"/>
            <a:ext cx="8074152" cy="256032"/>
          </a:xfrm>
          <a:prstGeom prst="rect">
            <a:avLst/>
          </a:prstGeom>
          <a:noFill/>
        </p:spPr>
        <p:txBody>
          <a:bodyPr wrap="square" anchor="t" lIns="0" rIns="0" tIns="0" bIns="0">
            <a:spAutoFit/>
          </a:bodyPr>
          <a:lstStyle/>
          <a:p>
            <a:pPr algn="l">
              <a:lnSpc>
                <a:spcPct val="106000"/>
              </a:lnSpc>
              <a:spcBef>
                <a:spcPts val="0"/>
              </a:spcBef>
              <a:spcAft>
                <a:spcPts val="0"/>
              </a:spcAft>
            </a:pPr>
            <a:r>
              <a:rPr sz="1350" b="1" i="0">
                <a:solidFill>
                  <a:srgbClr val="24282C"/>
                </a:solidFill>
                <a:latin typeface="Calibri"/>
              </a:rPr>
              <a:t>Proposed solution</a:t>
            </a:r>
          </a:p>
        </p:txBody>
      </p:sp>
      <p:sp>
        <p:nvSpPr>
          <p:cNvPr id="37" name="TextBox 36"/>
          <p:cNvSpPr txBox="1"/>
          <p:nvPr/>
        </p:nvSpPr>
        <p:spPr>
          <a:xfrm>
            <a:off x="1325880" y="4745736"/>
            <a:ext cx="8074152" cy="566928"/>
          </a:xfrm>
          <a:prstGeom prst="rect">
            <a:avLst/>
          </a:prstGeom>
          <a:noFill/>
        </p:spPr>
        <p:txBody>
          <a:bodyPr wrap="square" anchor="t" lIns="0" rIns="0" tIns="0" bIns="0">
            <a:spAutoFit/>
          </a:bodyPr>
          <a:lstStyle/>
          <a:p>
            <a:pPr algn="l">
              <a:lnSpc>
                <a:spcPct val="112000"/>
              </a:lnSpc>
              <a:spcBef>
                <a:spcPts val="0"/>
              </a:spcBef>
              <a:spcAft>
                <a:spcPts val="0"/>
              </a:spcAft>
            </a:pPr>
            <a:r>
              <a:rPr sz="1100" b="0" i="0">
                <a:solidFill>
                  <a:srgbClr val="4C5359"/>
                </a:solidFill>
                <a:latin typeface="Calibri"/>
              </a:rPr>
              <a:t>OSG is a secure AI assistant that answers only from the bank's own approved content and shows the source for every answer. Expired offers are flagged; it is bilingual, self-updating and vendor-flexible, and never handles customer secrets such as PINs or passwords. It is </a:t>
            </a:r>
            <a:r>
              <a:rPr sz="1100" b="1" i="0">
                <a:solidFill>
                  <a:srgbClr val="B0812C"/>
                </a:solidFill>
                <a:latin typeface="Calibri"/>
              </a:rPr>
              <a:t>already live with 2,758 documents across 51 categories.</a:t>
            </a:r>
          </a:p>
        </p:txBody>
      </p:sp>
      <p:sp>
        <p:nvSpPr>
          <p:cNvPr id="38" name="Rectangle 37"/>
          <p:cNvSpPr/>
          <p:nvPr/>
        </p:nvSpPr>
        <p:spPr>
          <a:xfrm>
            <a:off x="9454896" y="4572000"/>
            <a:ext cx="12700" cy="6400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82912" y="4645152"/>
            <a:ext cx="2105863" cy="384048"/>
          </a:xfrm>
          <a:prstGeom prst="rect">
            <a:avLst/>
          </a:prstGeom>
          <a:noFill/>
        </p:spPr>
        <p:txBody>
          <a:bodyPr wrap="square" anchor="t" lIns="0" rIns="0" tIns="0" bIns="0">
            <a:spAutoFit/>
          </a:bodyPr>
          <a:lstStyle/>
          <a:p>
            <a:pPr algn="ctr">
              <a:lnSpc>
                <a:spcPct val="106000"/>
              </a:lnSpc>
              <a:spcBef>
                <a:spcPts val="0"/>
              </a:spcBef>
              <a:spcAft>
                <a:spcPts val="0"/>
              </a:spcAft>
            </a:pPr>
            <a:r>
              <a:rPr sz="1900" b="1" i="0">
                <a:solidFill>
                  <a:srgbClr val="B0812C"/>
                </a:solidFill>
                <a:latin typeface="Calibri"/>
              </a:rPr>
              <a:t>2,758</a:t>
            </a:r>
          </a:p>
        </p:txBody>
      </p:sp>
      <p:sp>
        <p:nvSpPr>
          <p:cNvPr id="40" name="TextBox 39"/>
          <p:cNvSpPr txBox="1"/>
          <p:nvPr/>
        </p:nvSpPr>
        <p:spPr>
          <a:xfrm>
            <a:off x="9582912" y="5029200"/>
            <a:ext cx="2105863" cy="237744"/>
          </a:xfrm>
          <a:prstGeom prst="rect">
            <a:avLst/>
          </a:prstGeom>
          <a:noFill/>
        </p:spPr>
        <p:txBody>
          <a:bodyPr wrap="square" anchor="t" lIns="0" rIns="0" tIns="0" bIns="0">
            <a:spAutoFit/>
          </a:bodyPr>
          <a:lstStyle/>
          <a:p>
            <a:pPr algn="ctr">
              <a:lnSpc>
                <a:spcPct val="106000"/>
              </a:lnSpc>
              <a:spcBef>
                <a:spcPts val="0"/>
              </a:spcBef>
              <a:spcAft>
                <a:spcPts val="0"/>
              </a:spcAft>
            </a:pPr>
            <a:r>
              <a:rPr sz="900" b="0" i="0">
                <a:solidFill>
                  <a:srgbClr val="6A7177"/>
                </a:solidFill>
                <a:latin typeface="Calibri"/>
              </a:rPr>
              <a:t>documents live</a:t>
            </a:r>
          </a:p>
        </p:txBody>
      </p:sp>
      <p:sp>
        <p:nvSpPr>
          <p:cNvPr id="41" name="Rectangle 40"/>
          <p:cNvSpPr/>
          <p:nvPr/>
        </p:nvSpPr>
        <p:spPr>
          <a:xfrm>
            <a:off x="685800" y="5340096"/>
            <a:ext cx="10820095" cy="1016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85800" y="5550408"/>
            <a:ext cx="493776" cy="493776"/>
          </a:xfrm>
          <a:prstGeom prst="round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5550408"/>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Calibri"/>
              </a:rPr>
              <a:t>05</a:t>
            </a:r>
          </a:p>
        </p:txBody>
      </p:sp>
      <p:sp>
        <p:nvSpPr>
          <p:cNvPr id="44" name="TextBox 43"/>
          <p:cNvSpPr txBox="1"/>
          <p:nvPr/>
        </p:nvSpPr>
        <p:spPr>
          <a:xfrm>
            <a:off x="1325880" y="5404104"/>
            <a:ext cx="8074152" cy="256032"/>
          </a:xfrm>
          <a:prstGeom prst="rect">
            <a:avLst/>
          </a:prstGeom>
          <a:noFill/>
        </p:spPr>
        <p:txBody>
          <a:bodyPr wrap="square" anchor="t" lIns="0" rIns="0" tIns="0" bIns="0">
            <a:spAutoFit/>
          </a:bodyPr>
          <a:lstStyle/>
          <a:p>
            <a:pPr algn="l">
              <a:lnSpc>
                <a:spcPct val="106000"/>
              </a:lnSpc>
              <a:spcBef>
                <a:spcPts val="0"/>
              </a:spcBef>
              <a:spcAft>
                <a:spcPts val="0"/>
              </a:spcAft>
            </a:pPr>
            <a:r>
              <a:rPr sz="1350" b="1" i="0">
                <a:solidFill>
                  <a:srgbClr val="24282C"/>
                </a:solidFill>
                <a:latin typeface="Calibri"/>
              </a:rPr>
              <a:t>Cost &amp; benefit analysis</a:t>
            </a:r>
          </a:p>
        </p:txBody>
      </p:sp>
      <p:sp>
        <p:nvSpPr>
          <p:cNvPr id="45" name="TextBox 44"/>
          <p:cNvSpPr txBox="1"/>
          <p:nvPr/>
        </p:nvSpPr>
        <p:spPr>
          <a:xfrm>
            <a:off x="1325880" y="5660136"/>
            <a:ext cx="8074152" cy="566928"/>
          </a:xfrm>
          <a:prstGeom prst="rect">
            <a:avLst/>
          </a:prstGeom>
          <a:noFill/>
        </p:spPr>
        <p:txBody>
          <a:bodyPr wrap="square" anchor="t" lIns="0" rIns="0" tIns="0" bIns="0">
            <a:spAutoFit/>
          </a:bodyPr>
          <a:lstStyle/>
          <a:p>
            <a:pPr algn="l">
              <a:lnSpc>
                <a:spcPct val="112000"/>
              </a:lnSpc>
              <a:spcBef>
                <a:spcPts val="0"/>
              </a:spcBef>
              <a:spcAft>
                <a:spcPts val="0"/>
              </a:spcAft>
            </a:pPr>
            <a:r>
              <a:rPr sz="1100" b="0" i="0">
                <a:solidFill>
                  <a:srgbClr val="4C5359"/>
                </a:solidFill>
                <a:latin typeface="Calibri"/>
              </a:rPr>
              <a:t>A lean design keeps costs low across </a:t>
            </a:r>
            <a:r>
              <a:rPr sz="1100" b="1" i="0">
                <a:solidFill>
                  <a:srgbClr val="24282C"/>
                </a:solidFill>
                <a:latin typeface="Calibri"/>
              </a:rPr>
              <a:t>CAPEX</a:t>
            </a:r>
            <a:r>
              <a:rPr sz="1100" b="0" i="0">
                <a:solidFill>
                  <a:srgbClr val="4C5359"/>
                </a:solidFill>
                <a:latin typeface="Calibri"/>
              </a:rPr>
              <a:t> (build, integration, content set-up) and </a:t>
            </a:r>
            <a:r>
              <a:rPr sz="1100" b="1" i="0">
                <a:solidFill>
                  <a:srgbClr val="24282C"/>
                </a:solidFill>
                <a:latin typeface="Calibri"/>
              </a:rPr>
              <a:t>OPEX</a:t>
            </a:r>
            <a:r>
              <a:rPr sz="1100" b="0" i="0">
                <a:solidFill>
                  <a:srgbClr val="4C5359"/>
                </a:solidFill>
                <a:latin typeface="Calibri"/>
              </a:rPr>
              <a:t> (AI usage, hosting, maintenance). Benefits are MECE across efficiency (frontliner-hours reclaimed), revenue (higher first-contact resolution and cross-sell) and risk mitigation (fewer errors, secrets never exposed), for a </a:t>
            </a:r>
            <a:r>
              <a:rPr sz="1100" b="1" i="0">
                <a:solidFill>
                  <a:srgbClr val="24282C"/>
                </a:solidFill>
                <a:latin typeface="Calibri"/>
              </a:rPr>
              <a:t>fast projected payback.</a:t>
            </a:r>
          </a:p>
        </p:txBody>
      </p:sp>
      <p:sp>
        <p:nvSpPr>
          <p:cNvPr id="46" name="Rectangle 45"/>
          <p:cNvSpPr/>
          <p:nvPr/>
        </p:nvSpPr>
        <p:spPr>
          <a:xfrm>
            <a:off x="9454896" y="5486400"/>
            <a:ext cx="12700" cy="6400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582912" y="5559552"/>
            <a:ext cx="2105863" cy="384048"/>
          </a:xfrm>
          <a:prstGeom prst="rect">
            <a:avLst/>
          </a:prstGeom>
          <a:noFill/>
        </p:spPr>
        <p:txBody>
          <a:bodyPr wrap="square" anchor="t" lIns="0" rIns="0" tIns="0" bIns="0">
            <a:spAutoFit/>
          </a:bodyPr>
          <a:lstStyle/>
          <a:p>
            <a:pPr algn="ctr">
              <a:lnSpc>
                <a:spcPct val="106000"/>
              </a:lnSpc>
              <a:spcBef>
                <a:spcPts val="0"/>
              </a:spcBef>
              <a:spcAft>
                <a:spcPts val="0"/>
              </a:spcAft>
            </a:pPr>
            <a:r>
              <a:rPr sz="1900" b="1" i="0">
                <a:solidFill>
                  <a:srgbClr val="24282C"/>
                </a:solidFill>
                <a:latin typeface="Calibri"/>
              </a:rPr>
              <a:t>Fast</a:t>
            </a:r>
          </a:p>
        </p:txBody>
      </p:sp>
      <p:sp>
        <p:nvSpPr>
          <p:cNvPr id="48" name="TextBox 47"/>
          <p:cNvSpPr txBox="1"/>
          <p:nvPr/>
        </p:nvSpPr>
        <p:spPr>
          <a:xfrm>
            <a:off x="9582912" y="5943600"/>
            <a:ext cx="2105863" cy="237744"/>
          </a:xfrm>
          <a:prstGeom prst="rect">
            <a:avLst/>
          </a:prstGeom>
          <a:noFill/>
        </p:spPr>
        <p:txBody>
          <a:bodyPr wrap="square" anchor="t" lIns="0" rIns="0" tIns="0" bIns="0">
            <a:spAutoFit/>
          </a:bodyPr>
          <a:lstStyle/>
          <a:p>
            <a:pPr algn="ctr">
              <a:lnSpc>
                <a:spcPct val="106000"/>
              </a:lnSpc>
              <a:spcBef>
                <a:spcPts val="0"/>
              </a:spcBef>
              <a:spcAft>
                <a:spcPts val="0"/>
              </a:spcAft>
            </a:pPr>
            <a:r>
              <a:rPr sz="900" b="0" i="0">
                <a:solidFill>
                  <a:srgbClr val="6A7177"/>
                </a:solidFill>
                <a:latin typeface="Calibri"/>
              </a:rPr>
              <a:t>projected payback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PROJECT CHARTER</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One AI-based single source of truth, targeting ≤ 5-second lookups, 95% answer accuracy and cutting customer complaints to &lt; 10%</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04</a:t>
            </a:r>
          </a:p>
        </p:txBody>
      </p:sp>
      <p:sp>
        <p:nvSpPr>
          <p:cNvPr id="10" name="Rectangle 9"/>
          <p:cNvSpPr/>
          <p:nvPr/>
        </p:nvSpPr>
        <p:spPr>
          <a:xfrm>
            <a:off x="685800" y="1645920"/>
            <a:ext cx="5272887" cy="1901952"/>
          </a:xfrm>
          <a:prstGeom prst="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45920"/>
            <a:ext cx="5272887" cy="384048"/>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1645920"/>
            <a:ext cx="4797399" cy="384048"/>
          </a:xfrm>
          <a:prstGeom prst="rect">
            <a:avLst/>
          </a:prstGeom>
          <a:noFill/>
        </p:spPr>
        <p:txBody>
          <a:bodyPr wrap="square" anchor="ctr" lIns="0" rIns="0" tIns="0" bIns="0">
            <a:spAutoFit/>
          </a:bodyPr>
          <a:lstStyle/>
          <a:p>
            <a:pPr algn="l">
              <a:lnSpc>
                <a:spcPct val="106000"/>
              </a:lnSpc>
              <a:spcBef>
                <a:spcPts val="0"/>
              </a:spcBef>
              <a:spcAft>
                <a:spcPts val="0"/>
              </a:spcAft>
            </a:pPr>
            <a:r>
              <a:rPr sz="1350" b="1" i="0">
                <a:solidFill>
                  <a:srgbClr val="FFFFFF"/>
                </a:solidFill>
                <a:latin typeface="Calibri"/>
              </a:rPr>
              <a:t>Situational context</a:t>
            </a:r>
          </a:p>
        </p:txBody>
      </p:sp>
      <p:sp>
        <p:nvSpPr>
          <p:cNvPr id="13" name="TextBox 12"/>
          <p:cNvSpPr txBox="1"/>
          <p:nvPr/>
        </p:nvSpPr>
        <p:spPr>
          <a:xfrm>
            <a:off x="923544" y="2194560"/>
            <a:ext cx="4797399" cy="1371600"/>
          </a:xfrm>
          <a:prstGeom prst="rect">
            <a:avLst/>
          </a:prstGeom>
          <a:noFill/>
        </p:spPr>
        <p:txBody>
          <a:bodyPr wrap="square" anchor="t" lIns="0" rIns="0" tIns="0" bIns="0">
            <a:spAutoFit/>
          </a:bodyPr>
          <a:lstStyle/>
          <a:p>
            <a:pPr algn="l">
              <a:lnSpc>
                <a:spcPct val="114000"/>
              </a:lnSpc>
              <a:spcBef>
                <a:spcPts val="0"/>
              </a:spcBef>
              <a:spcAft>
                <a:spcPts val="1000"/>
              </a:spcAft>
            </a:pPr>
            <a:r>
              <a:rPr sz="1050" b="1" i="0">
                <a:solidFill>
                  <a:srgbClr val="E4002B"/>
                </a:solidFill>
                <a:latin typeface="Calibri"/>
              </a:rPr>
              <a:t>▪  </a:t>
            </a:r>
            <a:r>
              <a:rPr sz="1050" b="1" i="0">
                <a:solidFill>
                  <a:srgbClr val="24282C"/>
                </a:solidFill>
                <a:latin typeface="Calibri"/>
              </a:rPr>
              <a:t>EES 2025:  </a:t>
            </a:r>
            <a:r>
              <a:rPr sz="1050" b="1" i="0">
                <a:solidFill>
                  <a:srgbClr val="E4002B"/>
                </a:solidFill>
                <a:latin typeface="Calibri"/>
              </a:rPr>
              <a:t>36%</a:t>
            </a:r>
            <a:r>
              <a:rPr sz="1050" b="0" i="0">
                <a:solidFill>
                  <a:srgbClr val="4C5359"/>
                </a:solidFill>
                <a:latin typeface="Calibri"/>
              </a:rPr>
              <a:t> of frontliners (</a:t>
            </a:r>
            <a:r>
              <a:rPr sz="1050" b="1" i="0">
                <a:solidFill>
                  <a:srgbClr val="E4002B"/>
                </a:solidFill>
                <a:latin typeface="Calibri"/>
              </a:rPr>
              <a:t>1,200+</a:t>
            </a:r>
            <a:r>
              <a:rPr sz="1050" b="0" i="0">
                <a:solidFill>
                  <a:srgbClr val="4C5359"/>
                </a:solidFill>
                <a:latin typeface="Calibri"/>
              </a:rPr>
              <a:t>) cannot easily find current product, promo and procedure information; it is scattered across email, intranet and other channels, and mixed with expired material.</a:t>
            </a:r>
          </a:p>
          <a:p>
            <a:pPr algn="l">
              <a:lnSpc>
                <a:spcPct val="114000"/>
              </a:lnSpc>
              <a:spcBef>
                <a:spcPts val="0"/>
              </a:spcBef>
              <a:spcAft>
                <a:spcPts val="1000"/>
              </a:spcAft>
            </a:pPr>
            <a:r>
              <a:rPr sz="1050" b="1" i="0">
                <a:solidFill>
                  <a:srgbClr val="E4002B"/>
                </a:solidFill>
                <a:latin typeface="Calibri"/>
              </a:rPr>
              <a:t>▪  </a:t>
            </a:r>
            <a:r>
              <a:rPr sz="1050" b="1" i="0">
                <a:solidFill>
                  <a:srgbClr val="24282C"/>
                </a:solidFill>
                <a:latin typeface="Calibri"/>
              </a:rPr>
              <a:t>No single source of truth</a:t>
            </a:r>
            <a:r>
              <a:rPr sz="1050" b="0" i="0">
                <a:solidFill>
                  <a:srgbClr val="4C5359"/>
                </a:solidFill>
                <a:latin typeface="Calibri"/>
              </a:rPr>
              <a:t>, frontliners search manually or ask Product Owners directly, who then field hundreds to thousands of repeat questions, cutting productivity at branches and Head Office.</a:t>
            </a:r>
          </a:p>
        </p:txBody>
      </p:sp>
      <p:sp>
        <p:nvSpPr>
          <p:cNvPr id="14" name="Rectangle 13"/>
          <p:cNvSpPr/>
          <p:nvPr/>
        </p:nvSpPr>
        <p:spPr>
          <a:xfrm>
            <a:off x="6233007" y="1645920"/>
            <a:ext cx="5272887" cy="1901952"/>
          </a:xfrm>
          <a:prstGeom prst="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3007" y="1645920"/>
            <a:ext cx="5272887" cy="384048"/>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0751" y="1645920"/>
            <a:ext cx="4797399" cy="384048"/>
          </a:xfrm>
          <a:prstGeom prst="rect">
            <a:avLst/>
          </a:prstGeom>
          <a:noFill/>
        </p:spPr>
        <p:txBody>
          <a:bodyPr wrap="square" anchor="ctr" lIns="0" rIns="0" tIns="0" bIns="0">
            <a:spAutoFit/>
          </a:bodyPr>
          <a:lstStyle/>
          <a:p>
            <a:pPr algn="l">
              <a:lnSpc>
                <a:spcPct val="106000"/>
              </a:lnSpc>
              <a:spcBef>
                <a:spcPts val="0"/>
              </a:spcBef>
              <a:spcAft>
                <a:spcPts val="0"/>
              </a:spcAft>
            </a:pPr>
            <a:r>
              <a:rPr sz="1350" b="1" i="0">
                <a:solidFill>
                  <a:srgbClr val="FFFFFF"/>
                </a:solidFill>
                <a:latin typeface="Calibri"/>
              </a:rPr>
              <a:t>Objective &amp; key results</a:t>
            </a:r>
          </a:p>
        </p:txBody>
      </p:sp>
      <p:sp>
        <p:nvSpPr>
          <p:cNvPr id="17" name="TextBox 16"/>
          <p:cNvSpPr txBox="1"/>
          <p:nvPr/>
        </p:nvSpPr>
        <p:spPr>
          <a:xfrm>
            <a:off x="6470751" y="2194560"/>
            <a:ext cx="4797399" cy="237744"/>
          </a:xfrm>
          <a:prstGeom prst="rect">
            <a:avLst/>
          </a:prstGeom>
          <a:noFill/>
        </p:spPr>
        <p:txBody>
          <a:bodyPr wrap="square" anchor="t" lIns="0" rIns="0" tIns="0" bIns="0">
            <a:spAutoFit/>
          </a:bodyPr>
          <a:lstStyle/>
          <a:p>
            <a:pPr algn="l">
              <a:lnSpc>
                <a:spcPct val="106000"/>
              </a:lnSpc>
              <a:spcBef>
                <a:spcPts val="0"/>
              </a:spcBef>
              <a:spcAft>
                <a:spcPts val="0"/>
              </a:spcAft>
            </a:pPr>
            <a:r>
              <a:rPr sz="1050" b="1" i="0">
                <a:solidFill>
                  <a:srgbClr val="24282C"/>
                </a:solidFill>
                <a:latin typeface="Calibri"/>
              </a:rPr>
              <a:t>Objective   </a:t>
            </a:r>
            <a:r>
              <a:rPr sz="1100" b="0" i="0">
                <a:solidFill>
                  <a:srgbClr val="6A7177"/>
                </a:solidFill>
                <a:latin typeface="Calibri"/>
              </a:rPr>
              <a:t>one AI single source of truth for product &amp; promo information.</a:t>
            </a:r>
          </a:p>
        </p:txBody>
      </p:sp>
      <p:sp>
        <p:nvSpPr>
          <p:cNvPr id="18" name="TextBox 17"/>
          <p:cNvSpPr txBox="1"/>
          <p:nvPr/>
        </p:nvSpPr>
        <p:spPr>
          <a:xfrm>
            <a:off x="6470751" y="2487168"/>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9BA1A7"/>
                </a:solidFill>
                <a:latin typeface="Calibri"/>
              </a:rPr>
              <a:t>KR1</a:t>
            </a:r>
          </a:p>
        </p:txBody>
      </p:sp>
      <p:sp>
        <p:nvSpPr>
          <p:cNvPr id="19" name="Rounded Rectangle 18"/>
          <p:cNvSpPr/>
          <p:nvPr/>
        </p:nvSpPr>
        <p:spPr>
          <a:xfrm>
            <a:off x="6909663" y="2487168"/>
            <a:ext cx="896112" cy="256032"/>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09663" y="2487168"/>
            <a:ext cx="896112" cy="256032"/>
          </a:xfrm>
          <a:prstGeom prst="rect">
            <a:avLst/>
          </a:prstGeom>
          <a:noFill/>
        </p:spPr>
        <p:txBody>
          <a:bodyPr wrap="square" anchor="ctr" lIns="0" rIns="0" tIns="0" bIns="0">
            <a:spAutoFit/>
          </a:bodyPr>
          <a:lstStyle/>
          <a:p>
            <a:pPr algn="ctr">
              <a:lnSpc>
                <a:spcPct val="106000"/>
              </a:lnSpc>
              <a:spcBef>
                <a:spcPts val="0"/>
              </a:spcBef>
              <a:spcAft>
                <a:spcPts val="0"/>
              </a:spcAft>
            </a:pPr>
            <a:r>
              <a:rPr sz="1050" b="1" i="0">
                <a:solidFill>
                  <a:srgbClr val="FFFFFF"/>
                </a:solidFill>
                <a:latin typeface="Calibri"/>
              </a:rPr>
              <a:t>≤ 5 sec</a:t>
            </a:r>
          </a:p>
        </p:txBody>
      </p:sp>
      <p:sp>
        <p:nvSpPr>
          <p:cNvPr id="21" name="TextBox 20"/>
          <p:cNvSpPr txBox="1"/>
          <p:nvPr/>
        </p:nvSpPr>
        <p:spPr>
          <a:xfrm>
            <a:off x="7933791" y="2487168"/>
            <a:ext cx="3334359" cy="256032"/>
          </a:xfrm>
          <a:prstGeom prst="rect">
            <a:avLst/>
          </a:prstGeom>
          <a:noFill/>
        </p:spPr>
        <p:txBody>
          <a:bodyPr wrap="square" anchor="ctr" lIns="0" rIns="0" tIns="0" bIns="0">
            <a:spAutoFit/>
          </a:bodyPr>
          <a:lstStyle/>
          <a:p>
            <a:pPr algn="l">
              <a:lnSpc>
                <a:spcPct val="106000"/>
              </a:lnSpc>
              <a:spcBef>
                <a:spcPts val="0"/>
              </a:spcBef>
              <a:spcAft>
                <a:spcPts val="0"/>
              </a:spcAft>
            </a:pPr>
            <a:r>
              <a:rPr sz="1050" b="0" i="0">
                <a:solidFill>
                  <a:srgbClr val="4C5359"/>
                </a:solidFill>
                <a:latin typeface="Calibri"/>
              </a:rPr>
              <a:t>frontliner lookup (from &gt;30 min)</a:t>
            </a:r>
          </a:p>
        </p:txBody>
      </p:sp>
      <p:sp>
        <p:nvSpPr>
          <p:cNvPr id="22" name="TextBox 21"/>
          <p:cNvSpPr txBox="1"/>
          <p:nvPr/>
        </p:nvSpPr>
        <p:spPr>
          <a:xfrm>
            <a:off x="6470751" y="2734056"/>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9BA1A7"/>
                </a:solidFill>
                <a:latin typeface="Calibri"/>
              </a:rPr>
              <a:t>KR2</a:t>
            </a:r>
          </a:p>
        </p:txBody>
      </p:sp>
      <p:sp>
        <p:nvSpPr>
          <p:cNvPr id="23" name="Rounded Rectangle 22"/>
          <p:cNvSpPr/>
          <p:nvPr/>
        </p:nvSpPr>
        <p:spPr>
          <a:xfrm>
            <a:off x="6909663" y="2734056"/>
            <a:ext cx="896112" cy="256032"/>
          </a:xfrm>
          <a:prstGeom prst="round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9663" y="2734056"/>
            <a:ext cx="896112" cy="256032"/>
          </a:xfrm>
          <a:prstGeom prst="rect">
            <a:avLst/>
          </a:prstGeom>
          <a:noFill/>
        </p:spPr>
        <p:txBody>
          <a:bodyPr wrap="square" anchor="ctr" lIns="0" rIns="0" tIns="0" bIns="0">
            <a:spAutoFit/>
          </a:bodyPr>
          <a:lstStyle/>
          <a:p>
            <a:pPr algn="ctr">
              <a:lnSpc>
                <a:spcPct val="106000"/>
              </a:lnSpc>
              <a:spcBef>
                <a:spcPts val="0"/>
              </a:spcBef>
              <a:spcAft>
                <a:spcPts val="0"/>
              </a:spcAft>
            </a:pPr>
            <a:r>
              <a:rPr sz="1050" b="1" i="0">
                <a:solidFill>
                  <a:srgbClr val="FFFFFF"/>
                </a:solidFill>
                <a:latin typeface="Calibri"/>
              </a:rPr>
              <a:t>95%</a:t>
            </a:r>
          </a:p>
        </p:txBody>
      </p:sp>
      <p:sp>
        <p:nvSpPr>
          <p:cNvPr id="25" name="TextBox 24"/>
          <p:cNvSpPr txBox="1"/>
          <p:nvPr/>
        </p:nvSpPr>
        <p:spPr>
          <a:xfrm>
            <a:off x="7933791" y="2734056"/>
            <a:ext cx="3334359" cy="256032"/>
          </a:xfrm>
          <a:prstGeom prst="rect">
            <a:avLst/>
          </a:prstGeom>
          <a:noFill/>
        </p:spPr>
        <p:txBody>
          <a:bodyPr wrap="square" anchor="ctr" lIns="0" rIns="0" tIns="0" bIns="0">
            <a:spAutoFit/>
          </a:bodyPr>
          <a:lstStyle/>
          <a:p>
            <a:pPr algn="l">
              <a:lnSpc>
                <a:spcPct val="106000"/>
              </a:lnSpc>
              <a:spcBef>
                <a:spcPts val="0"/>
              </a:spcBef>
              <a:spcAft>
                <a:spcPts val="0"/>
              </a:spcAft>
            </a:pPr>
            <a:r>
              <a:rPr sz="1050" b="0" i="0">
                <a:solidFill>
                  <a:srgbClr val="4C5359"/>
                </a:solidFill>
                <a:latin typeface="Calibri"/>
              </a:rPr>
              <a:t>accuracy of frontliner answers</a:t>
            </a:r>
          </a:p>
        </p:txBody>
      </p:sp>
      <p:sp>
        <p:nvSpPr>
          <p:cNvPr id="26" name="TextBox 25"/>
          <p:cNvSpPr txBox="1"/>
          <p:nvPr/>
        </p:nvSpPr>
        <p:spPr>
          <a:xfrm>
            <a:off x="6470751" y="2980944"/>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9BA1A7"/>
                </a:solidFill>
                <a:latin typeface="Calibri"/>
              </a:rPr>
              <a:t>KR3</a:t>
            </a:r>
          </a:p>
        </p:txBody>
      </p:sp>
      <p:sp>
        <p:nvSpPr>
          <p:cNvPr id="27" name="Rounded Rectangle 26"/>
          <p:cNvSpPr/>
          <p:nvPr/>
        </p:nvSpPr>
        <p:spPr>
          <a:xfrm>
            <a:off x="6909663" y="2980944"/>
            <a:ext cx="896112" cy="256032"/>
          </a:xfrm>
          <a:prstGeom prst="round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9663" y="2980944"/>
            <a:ext cx="896112" cy="256032"/>
          </a:xfrm>
          <a:prstGeom prst="rect">
            <a:avLst/>
          </a:prstGeom>
          <a:noFill/>
        </p:spPr>
        <p:txBody>
          <a:bodyPr wrap="square" anchor="ctr" lIns="0" rIns="0" tIns="0" bIns="0">
            <a:spAutoFit/>
          </a:bodyPr>
          <a:lstStyle/>
          <a:p>
            <a:pPr algn="ctr">
              <a:lnSpc>
                <a:spcPct val="106000"/>
              </a:lnSpc>
              <a:spcBef>
                <a:spcPts val="0"/>
              </a:spcBef>
              <a:spcAft>
                <a:spcPts val="0"/>
              </a:spcAft>
            </a:pPr>
            <a:r>
              <a:rPr sz="1050" b="1" i="0">
                <a:solidFill>
                  <a:srgbClr val="FFFFFF"/>
                </a:solidFill>
                <a:latin typeface="Calibri"/>
              </a:rPr>
              <a:t>&lt; 10%</a:t>
            </a:r>
          </a:p>
        </p:txBody>
      </p:sp>
      <p:sp>
        <p:nvSpPr>
          <p:cNvPr id="29" name="TextBox 28"/>
          <p:cNvSpPr txBox="1"/>
          <p:nvPr/>
        </p:nvSpPr>
        <p:spPr>
          <a:xfrm>
            <a:off x="7933791" y="2980944"/>
            <a:ext cx="3334359" cy="256032"/>
          </a:xfrm>
          <a:prstGeom prst="rect">
            <a:avLst/>
          </a:prstGeom>
          <a:noFill/>
        </p:spPr>
        <p:txBody>
          <a:bodyPr wrap="square" anchor="ctr" lIns="0" rIns="0" tIns="0" bIns="0">
            <a:spAutoFit/>
          </a:bodyPr>
          <a:lstStyle/>
          <a:p>
            <a:pPr algn="l">
              <a:lnSpc>
                <a:spcPct val="106000"/>
              </a:lnSpc>
              <a:spcBef>
                <a:spcPts val="0"/>
              </a:spcBef>
              <a:spcAft>
                <a:spcPts val="0"/>
              </a:spcAft>
            </a:pPr>
            <a:r>
              <a:rPr sz="1050" b="0" i="0">
                <a:solidFill>
                  <a:srgbClr val="4C5359"/>
                </a:solidFill>
                <a:latin typeface="Calibri"/>
              </a:rPr>
              <a:t>NPS: weak frontliner advisory</a:t>
            </a:r>
          </a:p>
        </p:txBody>
      </p:sp>
      <p:sp>
        <p:nvSpPr>
          <p:cNvPr id="30" name="TextBox 29"/>
          <p:cNvSpPr txBox="1"/>
          <p:nvPr/>
        </p:nvSpPr>
        <p:spPr>
          <a:xfrm>
            <a:off x="6470751" y="3227832"/>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9BA1A7"/>
                </a:solidFill>
                <a:latin typeface="Calibri"/>
              </a:rPr>
              <a:t>KR4</a:t>
            </a:r>
          </a:p>
        </p:txBody>
      </p:sp>
      <p:sp>
        <p:nvSpPr>
          <p:cNvPr id="31" name="Rounded Rectangle 30"/>
          <p:cNvSpPr/>
          <p:nvPr/>
        </p:nvSpPr>
        <p:spPr>
          <a:xfrm>
            <a:off x="6909663" y="3227832"/>
            <a:ext cx="896112" cy="256032"/>
          </a:xfrm>
          <a:prstGeom prst="round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9663" y="3227832"/>
            <a:ext cx="896112" cy="256032"/>
          </a:xfrm>
          <a:prstGeom prst="rect">
            <a:avLst/>
          </a:prstGeom>
          <a:noFill/>
        </p:spPr>
        <p:txBody>
          <a:bodyPr wrap="square" anchor="ctr" lIns="0" rIns="0" tIns="0" bIns="0">
            <a:spAutoFit/>
          </a:bodyPr>
          <a:lstStyle/>
          <a:p>
            <a:pPr algn="ctr">
              <a:lnSpc>
                <a:spcPct val="106000"/>
              </a:lnSpc>
              <a:spcBef>
                <a:spcPts val="0"/>
              </a:spcBef>
              <a:spcAft>
                <a:spcPts val="0"/>
              </a:spcAft>
            </a:pPr>
            <a:r>
              <a:rPr sz="1050" b="1" i="0">
                <a:solidFill>
                  <a:srgbClr val="FFFFFF"/>
                </a:solidFill>
                <a:latin typeface="Calibri"/>
              </a:rPr>
              <a:t>↓</a:t>
            </a:r>
          </a:p>
        </p:txBody>
      </p:sp>
      <p:sp>
        <p:nvSpPr>
          <p:cNvPr id="33" name="TextBox 32"/>
          <p:cNvSpPr txBox="1"/>
          <p:nvPr/>
        </p:nvSpPr>
        <p:spPr>
          <a:xfrm>
            <a:off x="7933791" y="3227832"/>
            <a:ext cx="3334359" cy="256032"/>
          </a:xfrm>
          <a:prstGeom prst="rect">
            <a:avLst/>
          </a:prstGeom>
          <a:noFill/>
        </p:spPr>
        <p:txBody>
          <a:bodyPr wrap="square" anchor="ctr" lIns="0" rIns="0" tIns="0" bIns="0">
            <a:spAutoFit/>
          </a:bodyPr>
          <a:lstStyle/>
          <a:p>
            <a:pPr algn="l">
              <a:lnSpc>
                <a:spcPct val="106000"/>
              </a:lnSpc>
              <a:spcBef>
                <a:spcPts val="0"/>
              </a:spcBef>
              <a:spcAft>
                <a:spcPts val="0"/>
              </a:spcAft>
            </a:pPr>
            <a:r>
              <a:rPr sz="1050" b="0" i="0">
                <a:solidFill>
                  <a:srgbClr val="4C5359"/>
                </a:solidFill>
                <a:latin typeface="Calibri"/>
              </a:rPr>
              <a:t>frontliner reliance on POs</a:t>
            </a:r>
          </a:p>
        </p:txBody>
      </p:sp>
      <p:sp>
        <p:nvSpPr>
          <p:cNvPr id="34" name="Rectangle 33"/>
          <p:cNvSpPr/>
          <p:nvPr/>
        </p:nvSpPr>
        <p:spPr>
          <a:xfrm>
            <a:off x="685800" y="3675887"/>
            <a:ext cx="5272887" cy="1700784"/>
          </a:xfrm>
          <a:prstGeom prst="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85800" y="3675887"/>
            <a:ext cx="5272887" cy="384048"/>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3544" y="3675887"/>
            <a:ext cx="4797399" cy="384048"/>
          </a:xfrm>
          <a:prstGeom prst="rect">
            <a:avLst/>
          </a:prstGeom>
          <a:noFill/>
        </p:spPr>
        <p:txBody>
          <a:bodyPr wrap="square" anchor="ctr" lIns="0" rIns="0" tIns="0" bIns="0">
            <a:spAutoFit/>
          </a:bodyPr>
          <a:lstStyle/>
          <a:p>
            <a:pPr algn="l">
              <a:lnSpc>
                <a:spcPct val="106000"/>
              </a:lnSpc>
              <a:spcBef>
                <a:spcPts val="0"/>
              </a:spcBef>
              <a:spcAft>
                <a:spcPts val="0"/>
              </a:spcAft>
            </a:pPr>
            <a:r>
              <a:rPr sz="1350" b="1" i="0">
                <a:solidFill>
                  <a:srgbClr val="FFFFFF"/>
                </a:solidFill>
                <a:latin typeface="Calibri"/>
              </a:rPr>
              <a:t>Problem statement</a:t>
            </a:r>
          </a:p>
        </p:txBody>
      </p:sp>
      <p:sp>
        <p:nvSpPr>
          <p:cNvPr id="37" name="TextBox 36"/>
          <p:cNvSpPr txBox="1"/>
          <p:nvPr/>
        </p:nvSpPr>
        <p:spPr>
          <a:xfrm>
            <a:off x="923544" y="4224527"/>
            <a:ext cx="4797399" cy="384048"/>
          </a:xfrm>
          <a:prstGeom prst="rect">
            <a:avLst/>
          </a:prstGeom>
          <a:noFill/>
        </p:spPr>
        <p:txBody>
          <a:bodyPr wrap="square" anchor="t" lIns="0" rIns="0" tIns="0" bIns="0">
            <a:spAutoFit/>
          </a:bodyPr>
          <a:lstStyle/>
          <a:p>
            <a:pPr algn="l">
              <a:lnSpc>
                <a:spcPct val="112000"/>
              </a:lnSpc>
              <a:spcBef>
                <a:spcPts val="0"/>
              </a:spcBef>
              <a:spcAft>
                <a:spcPts val="0"/>
              </a:spcAft>
            </a:pPr>
            <a:r>
              <a:rPr sz="1000" b="1" i="0">
                <a:solidFill>
                  <a:srgbClr val="4E6B84"/>
                </a:solidFill>
                <a:latin typeface="Calibri"/>
              </a:rPr>
              <a:t>● </a:t>
            </a:r>
            <a:r>
              <a:rPr sz="1050" b="1" i="0">
                <a:solidFill>
                  <a:srgbClr val="24282C"/>
                </a:solidFill>
                <a:latin typeface="Calibri"/>
              </a:rPr>
              <a:t>Productivity:  </a:t>
            </a:r>
            <a:r>
              <a:rPr sz="1050" b="0" i="0">
                <a:solidFill>
                  <a:srgbClr val="6A7177"/>
                </a:solidFill>
                <a:latin typeface="Calibri"/>
              </a:rPr>
              <a:t>frontliners wait up to next-day (H+1) for answers, from manual search and Head-Office bottlenecks.</a:t>
            </a:r>
          </a:p>
        </p:txBody>
      </p:sp>
      <p:sp>
        <p:nvSpPr>
          <p:cNvPr id="38" name="TextBox 37"/>
          <p:cNvSpPr txBox="1"/>
          <p:nvPr/>
        </p:nvSpPr>
        <p:spPr>
          <a:xfrm>
            <a:off x="923544" y="4626863"/>
            <a:ext cx="4797399" cy="384048"/>
          </a:xfrm>
          <a:prstGeom prst="rect">
            <a:avLst/>
          </a:prstGeom>
          <a:noFill/>
        </p:spPr>
        <p:txBody>
          <a:bodyPr wrap="square" anchor="t" lIns="0" rIns="0" tIns="0" bIns="0">
            <a:spAutoFit/>
          </a:bodyPr>
          <a:lstStyle/>
          <a:p>
            <a:pPr algn="l">
              <a:lnSpc>
                <a:spcPct val="112000"/>
              </a:lnSpc>
              <a:spcBef>
                <a:spcPts val="0"/>
              </a:spcBef>
              <a:spcAft>
                <a:spcPts val="0"/>
              </a:spcAft>
            </a:pPr>
            <a:r>
              <a:rPr sz="1000" b="1" i="0">
                <a:solidFill>
                  <a:srgbClr val="B0812C"/>
                </a:solidFill>
                <a:latin typeface="Calibri"/>
              </a:rPr>
              <a:t>● </a:t>
            </a:r>
            <a:r>
              <a:rPr sz="1050" b="1" i="0">
                <a:solidFill>
                  <a:srgbClr val="24282C"/>
                </a:solidFill>
                <a:latin typeface="Calibri"/>
              </a:rPr>
              <a:t>Accuracy:  </a:t>
            </a:r>
            <a:r>
              <a:rPr sz="1050" b="0" i="0">
                <a:solidFill>
                  <a:srgbClr val="6A7177"/>
                </a:solidFill>
                <a:latin typeface="Calibri"/>
              </a:rPr>
              <a:t>answers to customers vary and can be biased, with no single source of truth.</a:t>
            </a:r>
          </a:p>
        </p:txBody>
      </p:sp>
      <p:sp>
        <p:nvSpPr>
          <p:cNvPr id="39" name="TextBox 38"/>
          <p:cNvSpPr txBox="1"/>
          <p:nvPr/>
        </p:nvSpPr>
        <p:spPr>
          <a:xfrm>
            <a:off x="923544" y="5029199"/>
            <a:ext cx="4797399" cy="384048"/>
          </a:xfrm>
          <a:prstGeom prst="rect">
            <a:avLst/>
          </a:prstGeom>
          <a:noFill/>
        </p:spPr>
        <p:txBody>
          <a:bodyPr wrap="square" anchor="t" lIns="0" rIns="0" tIns="0" bIns="0">
            <a:spAutoFit/>
          </a:bodyPr>
          <a:lstStyle/>
          <a:p>
            <a:pPr algn="l">
              <a:lnSpc>
                <a:spcPct val="112000"/>
              </a:lnSpc>
              <a:spcBef>
                <a:spcPts val="0"/>
              </a:spcBef>
              <a:spcAft>
                <a:spcPts val="0"/>
              </a:spcAft>
            </a:pPr>
            <a:r>
              <a:rPr sz="1000" b="1" i="0">
                <a:solidFill>
                  <a:srgbClr val="E4002B"/>
                </a:solidFill>
                <a:latin typeface="Calibri"/>
              </a:rPr>
              <a:t>● </a:t>
            </a:r>
            <a:r>
              <a:rPr sz="1050" b="1" i="0">
                <a:solidFill>
                  <a:srgbClr val="24282C"/>
                </a:solidFill>
                <a:latin typeface="Calibri"/>
              </a:rPr>
              <a:t>Experience:  </a:t>
            </a:r>
            <a:r>
              <a:rPr sz="1050" b="0" i="0">
                <a:solidFill>
                  <a:srgbClr val="6A7177"/>
                </a:solidFill>
                <a:latin typeface="Calibri"/>
              </a:rPr>
              <a:t>NPS H1 2025:  38% of customers complained about frontliner answer quality.</a:t>
            </a:r>
          </a:p>
        </p:txBody>
      </p:sp>
      <p:sp>
        <p:nvSpPr>
          <p:cNvPr id="40" name="Rectangle 39"/>
          <p:cNvSpPr/>
          <p:nvPr/>
        </p:nvSpPr>
        <p:spPr>
          <a:xfrm>
            <a:off x="6233007" y="3675887"/>
            <a:ext cx="5272887" cy="1700784"/>
          </a:xfrm>
          <a:prstGeom prst="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3675887"/>
            <a:ext cx="5272887" cy="384048"/>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70751" y="3675887"/>
            <a:ext cx="4797399" cy="384048"/>
          </a:xfrm>
          <a:prstGeom prst="rect">
            <a:avLst/>
          </a:prstGeom>
          <a:noFill/>
        </p:spPr>
        <p:txBody>
          <a:bodyPr wrap="square" anchor="ctr" lIns="0" rIns="0" tIns="0" bIns="0">
            <a:spAutoFit/>
          </a:bodyPr>
          <a:lstStyle/>
          <a:p>
            <a:pPr algn="l">
              <a:lnSpc>
                <a:spcPct val="106000"/>
              </a:lnSpc>
              <a:spcBef>
                <a:spcPts val="0"/>
              </a:spcBef>
              <a:spcAft>
                <a:spcPts val="0"/>
              </a:spcAft>
            </a:pPr>
            <a:r>
              <a:rPr sz="1350" b="1" i="0">
                <a:solidFill>
                  <a:srgbClr val="FFFFFF"/>
                </a:solidFill>
                <a:latin typeface="Calibri"/>
              </a:rPr>
              <a:t>Scope &amp; constraints</a:t>
            </a:r>
          </a:p>
        </p:txBody>
      </p:sp>
      <p:sp>
        <p:nvSpPr>
          <p:cNvPr id="43" name="TextBox 42"/>
          <p:cNvSpPr txBox="1"/>
          <p:nvPr/>
        </p:nvSpPr>
        <p:spPr>
          <a:xfrm>
            <a:off x="6470751" y="4224527"/>
            <a:ext cx="4797399" cy="365760"/>
          </a:xfrm>
          <a:prstGeom prst="rect">
            <a:avLst/>
          </a:prstGeom>
          <a:noFill/>
        </p:spPr>
        <p:txBody>
          <a:bodyPr wrap="square" anchor="t" lIns="0" rIns="0" tIns="0" bIns="0">
            <a:spAutoFit/>
          </a:bodyPr>
          <a:lstStyle/>
          <a:p>
            <a:pPr algn="l">
              <a:lnSpc>
                <a:spcPct val="112000"/>
              </a:lnSpc>
              <a:spcBef>
                <a:spcPts val="0"/>
              </a:spcBef>
              <a:spcAft>
                <a:spcPts val="0"/>
              </a:spcAft>
            </a:pPr>
            <a:r>
              <a:rPr sz="1050" b="1" i="0">
                <a:solidFill>
                  <a:srgbClr val="24282C"/>
                </a:solidFill>
                <a:latin typeface="Calibri"/>
              </a:rPr>
              <a:t>Scope   </a:t>
            </a:r>
            <a:r>
              <a:rPr sz="1050" b="0" i="0">
                <a:solidFill>
                  <a:srgbClr val="4C5359"/>
                </a:solidFill>
                <a:latin typeface="Calibri"/>
              </a:rPr>
              <a:t>Central platform · Content management · Training · Monitoring</a:t>
            </a:r>
          </a:p>
        </p:txBody>
      </p:sp>
      <p:sp>
        <p:nvSpPr>
          <p:cNvPr id="44" name="Rectangle 43"/>
          <p:cNvSpPr/>
          <p:nvPr/>
        </p:nvSpPr>
        <p:spPr>
          <a:xfrm>
            <a:off x="6470751" y="4590287"/>
            <a:ext cx="4797399" cy="1016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70751" y="4681727"/>
            <a:ext cx="4797399" cy="365760"/>
          </a:xfrm>
          <a:prstGeom prst="rect">
            <a:avLst/>
          </a:prstGeom>
          <a:noFill/>
        </p:spPr>
        <p:txBody>
          <a:bodyPr wrap="square" lIns="0" rIns="0" tIns="0" bIns="0">
            <a:spAutoFit/>
          </a:bodyPr>
          <a:lstStyle/>
          <a:p>
            <a:pPr>
              <a:lnSpc>
                <a:spcPct val="108000"/>
              </a:lnSpc>
              <a:spcBef>
                <a:spcPts val="0"/>
              </a:spcBef>
              <a:spcAft>
                <a:spcPts val="600"/>
              </a:spcAft>
            </a:pPr>
            <a:r>
              <a:rPr sz="1100" b="1">
                <a:solidFill>
                  <a:srgbClr val="24282C"/>
                </a:solidFill>
              </a:rPr>
              <a:t>▪  </a:t>
            </a:r>
            <a:r>
              <a:rPr sz="1050" b="1">
                <a:solidFill>
                  <a:srgbClr val="202428"/>
                </a:solidFill>
              </a:rPr>
              <a:t>PO uploads verified before publishing.</a:t>
            </a:r>
          </a:p>
          <a:p>
            <a:pPr>
              <a:lnSpc>
                <a:spcPct val="108000"/>
              </a:lnSpc>
              <a:spcBef>
                <a:spcPts val="0"/>
              </a:spcBef>
              <a:spcAft>
                <a:spcPts val="600"/>
              </a:spcAft>
            </a:pPr>
            <a:r>
              <a:rPr sz="1100" b="1">
                <a:solidFill>
                  <a:srgbClr val="24282C"/>
                </a:solidFill>
              </a:rPr>
              <a:t>▪  </a:t>
            </a:r>
            <a:r>
              <a:rPr sz="1050" b="1">
                <a:solidFill>
                  <a:srgbClr val="202428"/>
                </a:solidFill>
              </a:rPr>
              <a:t>Dual control on every upload to the content hub.</a:t>
            </a:r>
          </a:p>
          <a:p>
            <a:pPr>
              <a:lnSpc>
                <a:spcPct val="108000"/>
              </a:lnSpc>
              <a:spcBef>
                <a:spcPts val="0"/>
              </a:spcBef>
              <a:spcAft>
                <a:spcPts val="600"/>
              </a:spcAft>
            </a:pPr>
            <a:r>
              <a:rPr sz="1100" b="1">
                <a:solidFill>
                  <a:srgbClr val="24282C"/>
                </a:solidFill>
              </a:rPr>
              <a:t>▪  </a:t>
            </a:r>
            <a:r>
              <a:rPr sz="1050" b="1">
                <a:solidFill>
                  <a:srgbClr val="202428"/>
                </a:solidFill>
              </a:rPr>
              <a:t>Start/end dates prevent use of expired content.</a:t>
            </a:r>
          </a:p>
        </p:txBody>
      </p:sp>
      <p:sp>
        <p:nvSpPr>
          <p:cNvPr id="46" name="TextBox 45"/>
          <p:cNvSpPr txBox="1"/>
          <p:nvPr/>
        </p:nvSpPr>
        <p:spPr>
          <a:xfrm>
            <a:off x="685800" y="5522976"/>
            <a:ext cx="10820095" cy="20116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4C5359"/>
                </a:solidFill>
                <a:latin typeface="Calibri"/>
              </a:rPr>
              <a:t>HIGH-LEVEL TIMELINE</a:t>
            </a:r>
            <a:r>
              <a:rPr sz="1050" b="0" i="0">
                <a:solidFill>
                  <a:srgbClr val="6A7177"/>
                </a:solidFill>
                <a:latin typeface="Calibri"/>
              </a:rPr>
              <a:t>   ·  content upload from Nov 2025, live by Apr 2026</a:t>
            </a:r>
          </a:p>
        </p:txBody>
      </p:sp>
      <p:sp>
        <p:nvSpPr>
          <p:cNvPr id="47" name="Rounded Rectangle 46"/>
          <p:cNvSpPr/>
          <p:nvPr/>
        </p:nvSpPr>
        <p:spPr>
          <a:xfrm>
            <a:off x="685800" y="5742432"/>
            <a:ext cx="2526715" cy="438912"/>
          </a:xfrm>
          <a:prstGeom prst="round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7240" y="5742432"/>
            <a:ext cx="2343835" cy="438912"/>
          </a:xfrm>
          <a:prstGeom prst="rect">
            <a:avLst/>
          </a:prstGeom>
          <a:noFill/>
        </p:spPr>
        <p:txBody>
          <a:bodyPr wrap="square" anchor="ctr" lIns="0" rIns="0" tIns="0" bIns="0">
            <a:spAutoFit/>
          </a:bodyPr>
          <a:lstStyle/>
          <a:p>
            <a:pPr algn="ctr">
              <a:lnSpc>
                <a:spcPct val="102000"/>
              </a:lnSpc>
              <a:spcBef>
                <a:spcPts val="0"/>
              </a:spcBef>
              <a:spcAft>
                <a:spcPts val="100"/>
              </a:spcAft>
            </a:pPr>
            <a:r>
              <a:rPr sz="1050" b="0" i="0">
                <a:solidFill>
                  <a:srgbClr val="FFFFFF"/>
                </a:solidFill>
                <a:latin typeface="Calibri"/>
              </a:rPr>
              <a:t>PO content upload to CMS Hub</a:t>
            </a:r>
          </a:p>
          <a:p>
            <a:pPr algn="ctr">
              <a:lnSpc>
                <a:spcPct val="102000"/>
              </a:lnSpc>
              <a:spcBef>
                <a:spcPts val="0"/>
              </a:spcBef>
              <a:spcAft>
                <a:spcPts val="100"/>
              </a:spcAft>
            </a:pPr>
            <a:r>
              <a:rPr sz="950" b="0" i="0">
                <a:solidFill>
                  <a:srgbClr val="EBECEE"/>
                </a:solidFill>
                <a:latin typeface="Calibri"/>
              </a:rPr>
              <a:t>W4 Nov 2025 to W2 Feb 2026</a:t>
            </a:r>
          </a:p>
        </p:txBody>
      </p:sp>
      <p:sp>
        <p:nvSpPr>
          <p:cNvPr id="49" name="Chevron 48"/>
          <p:cNvSpPr/>
          <p:nvPr/>
        </p:nvSpPr>
        <p:spPr>
          <a:xfrm>
            <a:off x="3249091" y="5870448"/>
            <a:ext cx="164592" cy="201168"/>
          </a:xfrm>
          <a:prstGeom prst="chevron">
            <a:avLst/>
          </a:prstGeom>
          <a:solidFill>
            <a:srgbClr val="9BA1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3450259" y="5742432"/>
            <a:ext cx="2526715" cy="438912"/>
          </a:xfrm>
          <a:prstGeom prst="round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541699" y="5742432"/>
            <a:ext cx="2343835" cy="438912"/>
          </a:xfrm>
          <a:prstGeom prst="rect">
            <a:avLst/>
          </a:prstGeom>
          <a:noFill/>
        </p:spPr>
        <p:txBody>
          <a:bodyPr wrap="square" anchor="ctr" lIns="0" rIns="0" tIns="0" bIns="0">
            <a:spAutoFit/>
          </a:bodyPr>
          <a:lstStyle/>
          <a:p>
            <a:pPr algn="ctr">
              <a:lnSpc>
                <a:spcPct val="102000"/>
              </a:lnSpc>
              <a:spcBef>
                <a:spcPts val="0"/>
              </a:spcBef>
              <a:spcAft>
                <a:spcPts val="100"/>
              </a:spcAft>
            </a:pPr>
            <a:r>
              <a:rPr sz="1050" b="0" i="0">
                <a:solidFill>
                  <a:srgbClr val="FFFFFF"/>
                </a:solidFill>
                <a:latin typeface="Calibri"/>
              </a:rPr>
              <a:t>UAT: OSG Admin &amp; SQM</a:t>
            </a:r>
          </a:p>
          <a:p>
            <a:pPr algn="ctr">
              <a:lnSpc>
                <a:spcPct val="102000"/>
              </a:lnSpc>
              <a:spcBef>
                <a:spcPts val="0"/>
              </a:spcBef>
              <a:spcAft>
                <a:spcPts val="100"/>
              </a:spcAft>
            </a:pPr>
            <a:r>
              <a:rPr sz="950" b="0" i="0">
                <a:solidFill>
                  <a:srgbClr val="EBECEE"/>
                </a:solidFill>
                <a:latin typeface="Calibri"/>
              </a:rPr>
              <a:t>W3 Feb 2026</a:t>
            </a:r>
          </a:p>
        </p:txBody>
      </p:sp>
      <p:sp>
        <p:nvSpPr>
          <p:cNvPr id="52" name="Chevron 51"/>
          <p:cNvSpPr/>
          <p:nvPr/>
        </p:nvSpPr>
        <p:spPr>
          <a:xfrm>
            <a:off x="6013550" y="5870448"/>
            <a:ext cx="164592" cy="201168"/>
          </a:xfrm>
          <a:prstGeom prst="chevron">
            <a:avLst/>
          </a:prstGeom>
          <a:solidFill>
            <a:srgbClr val="9BA1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6214718" y="5742432"/>
            <a:ext cx="2526715" cy="438912"/>
          </a:xfrm>
          <a:prstGeom prst="round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6158" y="5742432"/>
            <a:ext cx="2343835" cy="438912"/>
          </a:xfrm>
          <a:prstGeom prst="rect">
            <a:avLst/>
          </a:prstGeom>
          <a:noFill/>
        </p:spPr>
        <p:txBody>
          <a:bodyPr wrap="square" anchor="ctr" lIns="0" rIns="0" tIns="0" bIns="0">
            <a:spAutoFit/>
          </a:bodyPr>
          <a:lstStyle/>
          <a:p>
            <a:pPr algn="ctr">
              <a:lnSpc>
                <a:spcPct val="102000"/>
              </a:lnSpc>
              <a:spcBef>
                <a:spcPts val="0"/>
              </a:spcBef>
              <a:spcAft>
                <a:spcPts val="100"/>
              </a:spcAft>
            </a:pPr>
            <a:r>
              <a:rPr sz="1050" b="0" i="0">
                <a:solidFill>
                  <a:srgbClr val="FFFFFF"/>
                </a:solidFill>
                <a:latin typeface="Calibri"/>
              </a:rPr>
              <a:t>UAT: OSG by Product Owners</a:t>
            </a:r>
          </a:p>
          <a:p>
            <a:pPr algn="ctr">
              <a:lnSpc>
                <a:spcPct val="102000"/>
              </a:lnSpc>
              <a:spcBef>
                <a:spcPts val="0"/>
              </a:spcBef>
              <a:spcAft>
                <a:spcPts val="100"/>
              </a:spcAft>
            </a:pPr>
            <a:r>
              <a:rPr sz="950" b="0" i="0">
                <a:solidFill>
                  <a:srgbClr val="EBECEE"/>
                </a:solidFill>
                <a:latin typeface="Calibri"/>
              </a:rPr>
              <a:t>W3 Mar 2026</a:t>
            </a:r>
          </a:p>
        </p:txBody>
      </p:sp>
      <p:sp>
        <p:nvSpPr>
          <p:cNvPr id="55" name="Chevron 54"/>
          <p:cNvSpPr/>
          <p:nvPr/>
        </p:nvSpPr>
        <p:spPr>
          <a:xfrm>
            <a:off x="8778009" y="5870448"/>
            <a:ext cx="164592" cy="201168"/>
          </a:xfrm>
          <a:prstGeom prst="chevron">
            <a:avLst/>
          </a:prstGeom>
          <a:solidFill>
            <a:srgbClr val="9BA1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8979177" y="5742432"/>
            <a:ext cx="2526715" cy="438912"/>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070617" y="5742432"/>
            <a:ext cx="2343835" cy="438912"/>
          </a:xfrm>
          <a:prstGeom prst="rect">
            <a:avLst/>
          </a:prstGeom>
          <a:noFill/>
        </p:spPr>
        <p:txBody>
          <a:bodyPr wrap="square" anchor="ctr" lIns="0" rIns="0" tIns="0" bIns="0">
            <a:spAutoFit/>
          </a:bodyPr>
          <a:lstStyle/>
          <a:p>
            <a:pPr algn="ctr">
              <a:lnSpc>
                <a:spcPct val="102000"/>
              </a:lnSpc>
              <a:spcBef>
                <a:spcPts val="0"/>
              </a:spcBef>
              <a:spcAft>
                <a:spcPts val="100"/>
              </a:spcAft>
            </a:pPr>
            <a:r>
              <a:rPr sz="1050" b="0" i="0">
                <a:solidFill>
                  <a:srgbClr val="FFFFFF"/>
                </a:solidFill>
                <a:latin typeface="Calibri"/>
              </a:rPr>
              <a:t>Launch OSG</a:t>
            </a:r>
          </a:p>
          <a:p>
            <a:pPr algn="ctr">
              <a:lnSpc>
                <a:spcPct val="102000"/>
              </a:lnSpc>
              <a:spcBef>
                <a:spcPts val="0"/>
              </a:spcBef>
              <a:spcAft>
                <a:spcPts val="100"/>
              </a:spcAft>
            </a:pPr>
            <a:r>
              <a:rPr sz="950" b="0" i="0">
                <a:solidFill>
                  <a:srgbClr val="EBECEE"/>
                </a:solidFill>
                <a:latin typeface="Calibri"/>
              </a:rPr>
              <a:t>W2 Apr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BACKGROUND, PROBLEM &amp; SOLUTION</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About 6,000 customer questions a day take ~49,300 hours to answer today; OSG returns a cited answer in seconds, ~8 hours in total</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05</a:t>
            </a:r>
          </a:p>
        </p:txBody>
      </p:sp>
      <p:sp>
        <p:nvSpPr>
          <p:cNvPr id="10" name="Rectangle 9"/>
          <p:cNvSpPr/>
          <p:nvPr/>
        </p:nvSpPr>
        <p:spPr>
          <a:xfrm>
            <a:off x="685800" y="1755648"/>
            <a:ext cx="10820095" cy="841248"/>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68580" cy="841248"/>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1755648"/>
            <a:ext cx="603504" cy="841248"/>
          </a:xfrm>
          <a:prstGeom prst="rect">
            <a:avLst/>
          </a:prstGeom>
          <a:noFill/>
        </p:spPr>
        <p:txBody>
          <a:bodyPr wrap="square" anchor="ctr" lIns="0" rIns="0" tIns="0" bIns="0">
            <a:spAutoFit/>
          </a:bodyPr>
          <a:lstStyle/>
          <a:p>
            <a:pPr algn="l">
              <a:lnSpc>
                <a:spcPct val="106000"/>
              </a:lnSpc>
              <a:spcBef>
                <a:spcPts val="0"/>
              </a:spcBef>
              <a:spcAft>
                <a:spcPts val="0"/>
              </a:spcAft>
            </a:pPr>
            <a:r>
              <a:rPr sz="3000" b="1" i="0">
                <a:solidFill>
                  <a:srgbClr val="395268"/>
                </a:solidFill>
                <a:latin typeface="Calibri"/>
              </a:rPr>
              <a:t>01</a:t>
            </a:r>
          </a:p>
        </p:txBody>
      </p:sp>
      <p:sp>
        <p:nvSpPr>
          <p:cNvPr id="13" name="TextBox 12"/>
          <p:cNvSpPr txBox="1"/>
          <p:nvPr/>
        </p:nvSpPr>
        <p:spPr>
          <a:xfrm>
            <a:off x="1371600" y="1755648"/>
            <a:ext cx="1463040" cy="841248"/>
          </a:xfrm>
          <a:prstGeom prst="rect">
            <a:avLst/>
          </a:prstGeom>
          <a:noFill/>
        </p:spPr>
        <p:txBody>
          <a:bodyPr wrap="square" anchor="ctr" lIns="0" rIns="0" tIns="0" bIns="0">
            <a:spAutoFit/>
          </a:bodyPr>
          <a:lstStyle/>
          <a:p>
            <a:pPr algn="l">
              <a:lnSpc>
                <a:spcPct val="104000"/>
              </a:lnSpc>
              <a:spcBef>
                <a:spcPts val="0"/>
              </a:spcBef>
              <a:spcAft>
                <a:spcPts val="200"/>
              </a:spcAft>
            </a:pPr>
            <a:r>
              <a:rPr sz="1300" b="1" i="0">
                <a:solidFill>
                  <a:srgbClr val="24282C"/>
                </a:solidFill>
                <a:latin typeface="Calibri"/>
              </a:rPr>
              <a:t>BACKGROUND</a:t>
            </a:r>
          </a:p>
          <a:p>
            <a:pPr algn="l">
              <a:lnSpc>
                <a:spcPct val="104000"/>
              </a:lnSpc>
              <a:spcBef>
                <a:spcPts val="0"/>
              </a:spcBef>
              <a:spcAft>
                <a:spcPts val="200"/>
              </a:spcAft>
            </a:pPr>
            <a:r>
              <a:rPr sz="950" b="0" i="0">
                <a:solidFill>
                  <a:srgbClr val="6A7177"/>
                </a:solidFill>
                <a:latin typeface="Calibri"/>
              </a:rPr>
              <a:t>The bank's front line</a:t>
            </a:r>
          </a:p>
        </p:txBody>
      </p:sp>
      <p:sp>
        <p:nvSpPr>
          <p:cNvPr id="14" name="TextBox 13"/>
          <p:cNvSpPr txBox="1"/>
          <p:nvPr/>
        </p:nvSpPr>
        <p:spPr>
          <a:xfrm>
            <a:off x="3063240" y="1755648"/>
            <a:ext cx="2468880" cy="841248"/>
          </a:xfrm>
          <a:prstGeom prst="rect">
            <a:avLst/>
          </a:prstGeom>
          <a:noFill/>
        </p:spPr>
        <p:txBody>
          <a:bodyPr wrap="square" anchor="ctr" lIns="0" rIns="0" tIns="0" bIns="0">
            <a:spAutoFit/>
          </a:bodyPr>
          <a:lstStyle/>
          <a:p>
            <a:pPr algn="l">
              <a:lnSpc>
                <a:spcPct val="102000"/>
              </a:lnSpc>
              <a:spcBef>
                <a:spcPts val="0"/>
              </a:spcBef>
              <a:spcAft>
                <a:spcPts val="200"/>
              </a:spcAft>
            </a:pPr>
            <a:r>
              <a:rPr sz="3000" b="1" i="0">
                <a:solidFill>
                  <a:srgbClr val="24282C"/>
                </a:solidFill>
                <a:latin typeface="Calibri"/>
              </a:rPr>
              <a:t>1,200</a:t>
            </a:r>
          </a:p>
          <a:p>
            <a:pPr algn="l">
              <a:lnSpc>
                <a:spcPct val="102000"/>
              </a:lnSpc>
              <a:spcBef>
                <a:spcPts val="0"/>
              </a:spcBef>
              <a:spcAft>
                <a:spcPts val="200"/>
              </a:spcAft>
            </a:pPr>
            <a:r>
              <a:rPr sz="1050" b="0" i="0">
                <a:solidFill>
                  <a:srgbClr val="4C5359"/>
                </a:solidFill>
                <a:latin typeface="Calibri"/>
              </a:rPr>
              <a:t>frontliners, the bank's front line</a:t>
            </a:r>
          </a:p>
        </p:txBody>
      </p:sp>
      <p:sp>
        <p:nvSpPr>
          <p:cNvPr id="15" name="Rectangle 14"/>
          <p:cNvSpPr/>
          <p:nvPr/>
        </p:nvSpPr>
        <p:spPr>
          <a:xfrm>
            <a:off x="5623560" y="1938528"/>
            <a:ext cx="12700" cy="475488"/>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0" y="1755648"/>
            <a:ext cx="2651760" cy="841248"/>
          </a:xfrm>
          <a:prstGeom prst="rect">
            <a:avLst/>
          </a:prstGeom>
          <a:noFill/>
        </p:spPr>
        <p:txBody>
          <a:bodyPr wrap="square" anchor="ctr" lIns="0" rIns="0" tIns="0" bIns="0">
            <a:spAutoFit/>
          </a:bodyPr>
          <a:lstStyle/>
          <a:p>
            <a:pPr algn="l">
              <a:lnSpc>
                <a:spcPct val="102000"/>
              </a:lnSpc>
              <a:spcBef>
                <a:spcPts val="0"/>
              </a:spcBef>
              <a:spcAft>
                <a:spcPts val="200"/>
              </a:spcAft>
            </a:pPr>
            <a:r>
              <a:rPr sz="3000" b="1" i="0">
                <a:solidFill>
                  <a:srgbClr val="24282C"/>
                </a:solidFill>
                <a:latin typeface="Calibri"/>
              </a:rPr>
              <a:t>~6,000</a:t>
            </a:r>
          </a:p>
          <a:p>
            <a:pPr algn="l">
              <a:lnSpc>
                <a:spcPct val="102000"/>
              </a:lnSpc>
              <a:spcBef>
                <a:spcPts val="0"/>
              </a:spcBef>
              <a:spcAft>
                <a:spcPts val="200"/>
              </a:spcAft>
            </a:pPr>
            <a:r>
              <a:rPr sz="1050" b="0" i="0">
                <a:solidFill>
                  <a:srgbClr val="4C5359"/>
                </a:solidFill>
                <a:latin typeface="Calibri"/>
              </a:rPr>
              <a:t>customer questions every day</a:t>
            </a:r>
          </a:p>
        </p:txBody>
      </p:sp>
      <p:sp>
        <p:nvSpPr>
          <p:cNvPr id="17" name="Rectangle 16"/>
          <p:cNvSpPr/>
          <p:nvPr/>
        </p:nvSpPr>
        <p:spPr>
          <a:xfrm>
            <a:off x="8732520" y="1938528"/>
            <a:ext cx="12700" cy="475488"/>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0" y="1755648"/>
            <a:ext cx="2468880" cy="841248"/>
          </a:xfrm>
          <a:prstGeom prst="rect">
            <a:avLst/>
          </a:prstGeom>
          <a:noFill/>
        </p:spPr>
        <p:txBody>
          <a:bodyPr wrap="square" anchor="ctr" lIns="0" rIns="0" tIns="0" bIns="0">
            <a:spAutoFit/>
          </a:bodyPr>
          <a:lstStyle/>
          <a:p>
            <a:pPr algn="l">
              <a:lnSpc>
                <a:spcPct val="110000"/>
              </a:lnSpc>
              <a:spcBef>
                <a:spcPts val="0"/>
              </a:spcBef>
              <a:spcAft>
                <a:spcPts val="0"/>
              </a:spcAft>
            </a:pPr>
            <a:r>
              <a:rPr sz="1100" b="0" i="0">
                <a:solidFill>
                  <a:srgbClr val="4C5359"/>
                </a:solidFill>
                <a:latin typeface="Calibri"/>
              </a:rPr>
              <a:t>Every question needs a fast, correct and trusted answer, on first contact.</a:t>
            </a:r>
          </a:p>
        </p:txBody>
      </p:sp>
      <p:sp>
        <p:nvSpPr>
          <p:cNvPr id="19" name="Rectangle 18"/>
          <p:cNvSpPr/>
          <p:nvPr/>
        </p:nvSpPr>
        <p:spPr>
          <a:xfrm>
            <a:off x="685800" y="2734056"/>
            <a:ext cx="10820095" cy="1591056"/>
          </a:xfrm>
          <a:prstGeom prst="rect">
            <a:avLst/>
          </a:prstGeom>
          <a:solidFill>
            <a:srgbClr val="FBF1F2"/>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2734056"/>
            <a:ext cx="68580" cy="1591056"/>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2734056"/>
            <a:ext cx="603504" cy="1591056"/>
          </a:xfrm>
          <a:prstGeom prst="rect">
            <a:avLst/>
          </a:prstGeom>
          <a:noFill/>
        </p:spPr>
        <p:txBody>
          <a:bodyPr wrap="square" anchor="ctr" lIns="0" rIns="0" tIns="0" bIns="0">
            <a:spAutoFit/>
          </a:bodyPr>
          <a:lstStyle/>
          <a:p>
            <a:pPr algn="l">
              <a:lnSpc>
                <a:spcPct val="106000"/>
              </a:lnSpc>
              <a:spcBef>
                <a:spcPts val="0"/>
              </a:spcBef>
              <a:spcAft>
                <a:spcPts val="0"/>
              </a:spcAft>
            </a:pPr>
            <a:r>
              <a:rPr sz="3000" b="1" i="0">
                <a:solidFill>
                  <a:srgbClr val="E4002B"/>
                </a:solidFill>
                <a:latin typeface="Calibri"/>
              </a:rPr>
              <a:t>02</a:t>
            </a:r>
          </a:p>
        </p:txBody>
      </p:sp>
      <p:sp>
        <p:nvSpPr>
          <p:cNvPr id="22" name="TextBox 21"/>
          <p:cNvSpPr txBox="1"/>
          <p:nvPr/>
        </p:nvSpPr>
        <p:spPr>
          <a:xfrm>
            <a:off x="1371600" y="2734056"/>
            <a:ext cx="1463040" cy="1591056"/>
          </a:xfrm>
          <a:prstGeom prst="rect">
            <a:avLst/>
          </a:prstGeom>
          <a:noFill/>
        </p:spPr>
        <p:txBody>
          <a:bodyPr wrap="square" anchor="ctr" lIns="0" rIns="0" tIns="0" bIns="0">
            <a:spAutoFit/>
          </a:bodyPr>
          <a:lstStyle/>
          <a:p>
            <a:pPr algn="l">
              <a:lnSpc>
                <a:spcPct val="104000"/>
              </a:lnSpc>
              <a:spcBef>
                <a:spcPts val="0"/>
              </a:spcBef>
              <a:spcAft>
                <a:spcPts val="200"/>
              </a:spcAft>
            </a:pPr>
            <a:r>
              <a:rPr sz="1300" b="1" i="0">
                <a:solidFill>
                  <a:srgbClr val="24282C"/>
                </a:solidFill>
                <a:latin typeface="Calibri"/>
              </a:rPr>
              <a:t>PROBLEM</a:t>
            </a:r>
          </a:p>
          <a:p>
            <a:pPr algn="l">
              <a:lnSpc>
                <a:spcPct val="104000"/>
              </a:lnSpc>
              <a:spcBef>
                <a:spcPts val="0"/>
              </a:spcBef>
              <a:spcAft>
                <a:spcPts val="200"/>
              </a:spcAft>
            </a:pPr>
            <a:r>
              <a:rPr sz="950" b="0" i="0">
                <a:solidFill>
                  <a:srgbClr val="6A7177"/>
                </a:solidFill>
                <a:latin typeface="Calibri"/>
              </a:rPr>
              <a:t>Scattered knowledge, slow answers</a:t>
            </a:r>
          </a:p>
        </p:txBody>
      </p:sp>
      <p:sp>
        <p:nvSpPr>
          <p:cNvPr id="23" name="Rounded Rectangle 22"/>
          <p:cNvSpPr/>
          <p:nvPr/>
        </p:nvSpPr>
        <p:spPr>
          <a:xfrm>
            <a:off x="3017520" y="2916936"/>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17520" y="2916936"/>
            <a:ext cx="1998649" cy="54864"/>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82112" y="3054096"/>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E4002B"/>
                </a:solidFill>
                <a:latin typeface="Calibri"/>
              </a:rPr>
              <a:t>493</a:t>
            </a:r>
            <a:r>
              <a:rPr sz="1100" b="1" i="0">
                <a:solidFill>
                  <a:srgbClr val="E4002B"/>
                </a:solidFill>
                <a:latin typeface="Calibri"/>
              </a:rPr>
              <a:t> min</a:t>
            </a:r>
          </a:p>
        </p:txBody>
      </p:sp>
      <p:sp>
        <p:nvSpPr>
          <p:cNvPr id="26" name="TextBox 25"/>
          <p:cNvSpPr txBox="1"/>
          <p:nvPr/>
        </p:nvSpPr>
        <p:spPr>
          <a:xfrm>
            <a:off x="3182112" y="3502152"/>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elapsed per case</a:t>
            </a:r>
          </a:p>
        </p:txBody>
      </p:sp>
      <p:sp>
        <p:nvSpPr>
          <p:cNvPr id="27" name="TextBox 26"/>
          <p:cNvSpPr txBox="1"/>
          <p:nvPr/>
        </p:nvSpPr>
        <p:spPr>
          <a:xfrm>
            <a:off x="3182112" y="3758184"/>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escalate to a Product Owner, wait to H+1</a:t>
            </a:r>
          </a:p>
        </p:txBody>
      </p:sp>
      <p:sp>
        <p:nvSpPr>
          <p:cNvPr id="28" name="Rounded Rectangle 27"/>
          <p:cNvSpPr/>
          <p:nvPr/>
        </p:nvSpPr>
        <p:spPr>
          <a:xfrm>
            <a:off x="5180761" y="2916936"/>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180761" y="2916936"/>
            <a:ext cx="1998649" cy="54864"/>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5353" y="3054096"/>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E4002B"/>
                </a:solidFill>
                <a:latin typeface="Calibri"/>
              </a:rPr>
              <a:t>49,300</a:t>
            </a:r>
            <a:r>
              <a:rPr sz="1100" b="1" i="0">
                <a:solidFill>
                  <a:srgbClr val="E4002B"/>
                </a:solidFill>
                <a:latin typeface="Calibri"/>
              </a:rPr>
              <a:t> hrs</a:t>
            </a:r>
          </a:p>
        </p:txBody>
      </p:sp>
      <p:sp>
        <p:nvSpPr>
          <p:cNvPr id="31" name="TextBox 30"/>
          <p:cNvSpPr txBox="1"/>
          <p:nvPr/>
        </p:nvSpPr>
        <p:spPr>
          <a:xfrm>
            <a:off x="5345353" y="3502152"/>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per day, all frontliners</a:t>
            </a:r>
          </a:p>
        </p:txBody>
      </p:sp>
      <p:sp>
        <p:nvSpPr>
          <p:cNvPr id="32" name="TextBox 31"/>
          <p:cNvSpPr txBox="1"/>
          <p:nvPr/>
        </p:nvSpPr>
        <p:spPr>
          <a:xfrm>
            <a:off x="5345353" y="3758184"/>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493 min x 1,200 x 5 cases</a:t>
            </a:r>
          </a:p>
        </p:txBody>
      </p:sp>
      <p:sp>
        <p:nvSpPr>
          <p:cNvPr id="33" name="Rounded Rectangle 32"/>
          <p:cNvSpPr/>
          <p:nvPr/>
        </p:nvSpPr>
        <p:spPr>
          <a:xfrm>
            <a:off x="7344002" y="2916936"/>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344002" y="2916936"/>
            <a:ext cx="1998649" cy="54864"/>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08594" y="3054096"/>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E4002B"/>
                </a:solidFill>
                <a:latin typeface="Calibri"/>
              </a:rPr>
              <a:t>36%</a:t>
            </a:r>
            <a:r>
              <a:rPr sz="1100" b="1" i="0">
                <a:solidFill>
                  <a:srgbClr val="E4002B"/>
                </a:solidFill>
                <a:latin typeface="Calibri"/>
              </a:rPr>
              <a:t/>
            </a:r>
          </a:p>
        </p:txBody>
      </p:sp>
      <p:sp>
        <p:nvSpPr>
          <p:cNvPr id="36" name="TextBox 35"/>
          <p:cNvSpPr txBox="1"/>
          <p:nvPr/>
        </p:nvSpPr>
        <p:spPr>
          <a:xfrm>
            <a:off x="7508594" y="3502152"/>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cannot find the answer</a:t>
            </a:r>
          </a:p>
        </p:txBody>
      </p:sp>
      <p:sp>
        <p:nvSpPr>
          <p:cNvPr id="37" name="TextBox 36"/>
          <p:cNvSpPr txBox="1"/>
          <p:nvPr/>
        </p:nvSpPr>
        <p:spPr>
          <a:xfrm>
            <a:off x="7508594" y="3758184"/>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email, intranet, old PDFs · EES 2025</a:t>
            </a:r>
          </a:p>
        </p:txBody>
      </p:sp>
      <p:sp>
        <p:nvSpPr>
          <p:cNvPr id="38" name="Rounded Rectangle 37"/>
          <p:cNvSpPr/>
          <p:nvPr/>
        </p:nvSpPr>
        <p:spPr>
          <a:xfrm>
            <a:off x="9507243" y="2916936"/>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507243" y="2916936"/>
            <a:ext cx="1998649" cy="54864"/>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71835" y="3054096"/>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E4002B"/>
                </a:solidFill>
                <a:latin typeface="Calibri"/>
              </a:rPr>
              <a:t>38%</a:t>
            </a:r>
            <a:r>
              <a:rPr sz="1100" b="1" i="0">
                <a:solidFill>
                  <a:srgbClr val="E4002B"/>
                </a:solidFill>
                <a:latin typeface="Calibri"/>
              </a:rPr>
              <a:t/>
            </a:r>
          </a:p>
        </p:txBody>
      </p:sp>
      <p:sp>
        <p:nvSpPr>
          <p:cNvPr id="41" name="TextBox 40"/>
          <p:cNvSpPr txBox="1"/>
          <p:nvPr/>
        </p:nvSpPr>
        <p:spPr>
          <a:xfrm>
            <a:off x="9671835" y="3502152"/>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of customers complain</a:t>
            </a:r>
          </a:p>
        </p:txBody>
      </p:sp>
      <p:sp>
        <p:nvSpPr>
          <p:cNvPr id="42" name="TextBox 41"/>
          <p:cNvSpPr txBox="1"/>
          <p:nvPr/>
        </p:nvSpPr>
        <p:spPr>
          <a:xfrm>
            <a:off x="9671835" y="3758184"/>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late, inconsistent answers · NPS H1 2025</a:t>
            </a:r>
          </a:p>
        </p:txBody>
      </p:sp>
      <p:sp>
        <p:nvSpPr>
          <p:cNvPr id="43" name="Down Arrow 42"/>
          <p:cNvSpPr/>
          <p:nvPr/>
        </p:nvSpPr>
        <p:spPr>
          <a:xfrm>
            <a:off x="1490472" y="4206240"/>
            <a:ext cx="292608" cy="237744"/>
          </a:xfrm>
          <a:prstGeom prst="downArrow">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85800" y="4462272"/>
            <a:ext cx="10820095" cy="1591056"/>
          </a:xfrm>
          <a:prstGeom prst="rect">
            <a:avLst/>
          </a:prstGeom>
          <a:solidFill>
            <a:srgbClr val="EDF4F2"/>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85800" y="4462272"/>
            <a:ext cx="68580" cy="1591056"/>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8" y="4462272"/>
            <a:ext cx="603504" cy="1591056"/>
          </a:xfrm>
          <a:prstGeom prst="rect">
            <a:avLst/>
          </a:prstGeom>
          <a:noFill/>
        </p:spPr>
        <p:txBody>
          <a:bodyPr wrap="square" anchor="ctr" lIns="0" rIns="0" tIns="0" bIns="0">
            <a:spAutoFit/>
          </a:bodyPr>
          <a:lstStyle/>
          <a:p>
            <a:pPr algn="l">
              <a:lnSpc>
                <a:spcPct val="106000"/>
              </a:lnSpc>
              <a:spcBef>
                <a:spcPts val="0"/>
              </a:spcBef>
              <a:spcAft>
                <a:spcPts val="0"/>
              </a:spcAft>
            </a:pPr>
            <a:r>
              <a:rPr sz="3000" b="1" i="0">
                <a:solidFill>
                  <a:srgbClr val="395268"/>
                </a:solidFill>
                <a:latin typeface="Calibri"/>
              </a:rPr>
              <a:t>03</a:t>
            </a:r>
          </a:p>
        </p:txBody>
      </p:sp>
      <p:sp>
        <p:nvSpPr>
          <p:cNvPr id="47" name="TextBox 46"/>
          <p:cNvSpPr txBox="1"/>
          <p:nvPr/>
        </p:nvSpPr>
        <p:spPr>
          <a:xfrm>
            <a:off x="1371600" y="4462272"/>
            <a:ext cx="1463040" cy="1591056"/>
          </a:xfrm>
          <a:prstGeom prst="rect">
            <a:avLst/>
          </a:prstGeom>
          <a:noFill/>
        </p:spPr>
        <p:txBody>
          <a:bodyPr wrap="square" anchor="ctr" lIns="0" rIns="0" tIns="0" bIns="0">
            <a:spAutoFit/>
          </a:bodyPr>
          <a:lstStyle/>
          <a:p>
            <a:pPr algn="l">
              <a:lnSpc>
                <a:spcPct val="104000"/>
              </a:lnSpc>
              <a:spcBef>
                <a:spcPts val="0"/>
              </a:spcBef>
              <a:spcAft>
                <a:spcPts val="200"/>
              </a:spcAft>
            </a:pPr>
            <a:r>
              <a:rPr sz="1300" b="1" i="0">
                <a:solidFill>
                  <a:srgbClr val="24282C"/>
                </a:solidFill>
                <a:latin typeface="Calibri"/>
              </a:rPr>
              <a:t>SOLUTION</a:t>
            </a:r>
          </a:p>
          <a:p>
            <a:pPr algn="l">
              <a:lnSpc>
                <a:spcPct val="104000"/>
              </a:lnSpc>
              <a:spcBef>
                <a:spcPts val="0"/>
              </a:spcBef>
              <a:spcAft>
                <a:spcPts val="200"/>
              </a:spcAft>
            </a:pPr>
            <a:r>
              <a:rPr sz="950" b="0" i="0">
                <a:solidFill>
                  <a:srgbClr val="6A7177"/>
                </a:solidFill>
                <a:latin typeface="Calibri"/>
              </a:rPr>
              <a:t>OSG: one AI source of truth</a:t>
            </a:r>
          </a:p>
        </p:txBody>
      </p:sp>
      <p:sp>
        <p:nvSpPr>
          <p:cNvPr id="48" name="Rounded Rectangle 47"/>
          <p:cNvSpPr/>
          <p:nvPr/>
        </p:nvSpPr>
        <p:spPr>
          <a:xfrm>
            <a:off x="3017520" y="4645152"/>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017520" y="4645152"/>
            <a:ext cx="1998649" cy="54864"/>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182112" y="4782312"/>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395268"/>
                </a:solidFill>
                <a:latin typeface="Calibri"/>
              </a:rPr>
              <a:t>~5</a:t>
            </a:r>
            <a:r>
              <a:rPr sz="1100" b="1" i="0">
                <a:solidFill>
                  <a:srgbClr val="395268"/>
                </a:solidFill>
                <a:latin typeface="Calibri"/>
              </a:rPr>
              <a:t> sec</a:t>
            </a:r>
          </a:p>
        </p:txBody>
      </p:sp>
      <p:sp>
        <p:nvSpPr>
          <p:cNvPr id="51" name="TextBox 50"/>
          <p:cNvSpPr txBox="1"/>
          <p:nvPr/>
        </p:nvSpPr>
        <p:spPr>
          <a:xfrm>
            <a:off x="3182112" y="5230368"/>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cited answer per case</a:t>
            </a:r>
          </a:p>
        </p:txBody>
      </p:sp>
      <p:sp>
        <p:nvSpPr>
          <p:cNvPr id="52" name="TextBox 51"/>
          <p:cNvSpPr txBox="1"/>
          <p:nvPr/>
        </p:nvSpPr>
        <p:spPr>
          <a:xfrm>
            <a:off x="3182112" y="5486400"/>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ask in plain words, get the source</a:t>
            </a:r>
          </a:p>
        </p:txBody>
      </p:sp>
      <p:sp>
        <p:nvSpPr>
          <p:cNvPr id="53" name="Rounded Rectangle 52"/>
          <p:cNvSpPr/>
          <p:nvPr/>
        </p:nvSpPr>
        <p:spPr>
          <a:xfrm>
            <a:off x="5180761" y="4645152"/>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80761" y="4645152"/>
            <a:ext cx="1998649" cy="54864"/>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45353" y="4782312"/>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395268"/>
                </a:solidFill>
                <a:latin typeface="Calibri"/>
              </a:rPr>
              <a:t>~8</a:t>
            </a:r>
            <a:r>
              <a:rPr sz="1100" b="1" i="0">
                <a:solidFill>
                  <a:srgbClr val="395268"/>
                </a:solidFill>
                <a:latin typeface="Calibri"/>
              </a:rPr>
              <a:t> hrs</a:t>
            </a:r>
          </a:p>
        </p:txBody>
      </p:sp>
      <p:sp>
        <p:nvSpPr>
          <p:cNvPr id="56" name="TextBox 55"/>
          <p:cNvSpPr txBox="1"/>
          <p:nvPr/>
        </p:nvSpPr>
        <p:spPr>
          <a:xfrm>
            <a:off x="5345353" y="5230368"/>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per day, all frontliners</a:t>
            </a:r>
          </a:p>
        </p:txBody>
      </p:sp>
      <p:sp>
        <p:nvSpPr>
          <p:cNvPr id="57" name="TextBox 56"/>
          <p:cNvSpPr txBox="1"/>
          <p:nvPr/>
        </p:nvSpPr>
        <p:spPr>
          <a:xfrm>
            <a:off x="5345353" y="5486400"/>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5 sec x 1,200 x 5 cases</a:t>
            </a:r>
          </a:p>
        </p:txBody>
      </p:sp>
      <p:sp>
        <p:nvSpPr>
          <p:cNvPr id="58" name="Rounded Rectangle 57"/>
          <p:cNvSpPr/>
          <p:nvPr/>
        </p:nvSpPr>
        <p:spPr>
          <a:xfrm>
            <a:off x="7344002" y="4645152"/>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344002" y="4645152"/>
            <a:ext cx="1998649" cy="54864"/>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508594" y="4782312"/>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395268"/>
                </a:solidFill>
                <a:latin typeface="Calibri"/>
              </a:rPr>
              <a:t>100%</a:t>
            </a:r>
            <a:r>
              <a:rPr sz="1100" b="1" i="0">
                <a:solidFill>
                  <a:srgbClr val="395268"/>
                </a:solidFill>
                <a:latin typeface="Calibri"/>
              </a:rPr>
              <a:t/>
            </a:r>
          </a:p>
        </p:txBody>
      </p:sp>
      <p:sp>
        <p:nvSpPr>
          <p:cNvPr id="61" name="TextBox 60"/>
          <p:cNvSpPr txBox="1"/>
          <p:nvPr/>
        </p:nvSpPr>
        <p:spPr>
          <a:xfrm>
            <a:off x="7508594" y="5230368"/>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source-cited &amp; current</a:t>
            </a:r>
          </a:p>
        </p:txBody>
      </p:sp>
      <p:sp>
        <p:nvSpPr>
          <p:cNvPr id="62" name="TextBox 61"/>
          <p:cNvSpPr txBox="1"/>
          <p:nvPr/>
        </p:nvSpPr>
        <p:spPr>
          <a:xfrm>
            <a:off x="7508594" y="5486400"/>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one approved single source of truth</a:t>
            </a:r>
          </a:p>
        </p:txBody>
      </p:sp>
      <p:sp>
        <p:nvSpPr>
          <p:cNvPr id="63" name="Rounded Rectangle 62"/>
          <p:cNvSpPr/>
          <p:nvPr/>
        </p:nvSpPr>
        <p:spPr>
          <a:xfrm>
            <a:off x="9507243" y="4645152"/>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507243" y="4645152"/>
            <a:ext cx="1998649" cy="54864"/>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671835" y="4782312"/>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395268"/>
                </a:solidFill>
                <a:latin typeface="Calibri"/>
              </a:rPr>
              <a:t>1st</a:t>
            </a:r>
            <a:r>
              <a:rPr sz="1100" b="1" i="0">
                <a:solidFill>
                  <a:srgbClr val="395268"/>
                </a:solidFill>
                <a:latin typeface="Calibri"/>
              </a:rPr>
              <a:t>-contact</a:t>
            </a:r>
          </a:p>
        </p:txBody>
      </p:sp>
      <p:sp>
        <p:nvSpPr>
          <p:cNvPr id="66" name="TextBox 65"/>
          <p:cNvSpPr txBox="1"/>
          <p:nvPr/>
        </p:nvSpPr>
        <p:spPr>
          <a:xfrm>
            <a:off x="9671835" y="5230368"/>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resolved &amp; traceable</a:t>
            </a:r>
          </a:p>
        </p:txBody>
      </p:sp>
      <p:sp>
        <p:nvSpPr>
          <p:cNvPr id="67" name="TextBox 66"/>
          <p:cNvSpPr txBox="1"/>
          <p:nvPr/>
        </p:nvSpPr>
        <p:spPr>
          <a:xfrm>
            <a:off x="9671835" y="5486400"/>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confident, correct, auditable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PROOF · BUILT &amp; LIVE TODAY</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Live since April 2026: 1,313 users have asked 12,944 questions, with 86% answered correctly</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06</a:t>
            </a:r>
          </a:p>
        </p:txBody>
      </p:sp>
      <p:sp>
        <p:nvSpPr>
          <p:cNvPr id="10" name="Rectangle 9"/>
          <p:cNvSpPr/>
          <p:nvPr/>
        </p:nvSpPr>
        <p:spPr>
          <a:xfrm>
            <a:off x="685800" y="1773936"/>
            <a:ext cx="10820095" cy="1188720"/>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56816"/>
            <a:ext cx="2499283" cy="640080"/>
          </a:xfrm>
          <a:prstGeom prst="rect">
            <a:avLst/>
          </a:prstGeom>
          <a:noFill/>
        </p:spPr>
        <p:txBody>
          <a:bodyPr wrap="square" anchor="t" lIns="0" rIns="0" tIns="0" bIns="0">
            <a:spAutoFit/>
          </a:bodyPr>
          <a:lstStyle/>
          <a:p>
            <a:pPr algn="ctr">
              <a:lnSpc>
                <a:spcPct val="106000"/>
              </a:lnSpc>
              <a:spcBef>
                <a:spcPts val="0"/>
              </a:spcBef>
              <a:spcAft>
                <a:spcPts val="0"/>
              </a:spcAft>
            </a:pPr>
            <a:r>
              <a:rPr sz="3000" b="1" i="0">
                <a:solidFill>
                  <a:srgbClr val="E4002B"/>
                </a:solidFill>
                <a:latin typeface="Calibri"/>
              </a:rPr>
              <a:t>1,313</a:t>
            </a:r>
          </a:p>
        </p:txBody>
      </p:sp>
      <p:sp>
        <p:nvSpPr>
          <p:cNvPr id="12" name="TextBox 11"/>
          <p:cNvSpPr txBox="1"/>
          <p:nvPr/>
        </p:nvSpPr>
        <p:spPr>
          <a:xfrm>
            <a:off x="685800" y="2523744"/>
            <a:ext cx="2499283" cy="457200"/>
          </a:xfrm>
          <a:prstGeom prst="rect">
            <a:avLst/>
          </a:prstGeom>
          <a:noFill/>
        </p:spPr>
        <p:txBody>
          <a:bodyPr wrap="square" anchor="t" lIns="0" rIns="0" tIns="0" bIns="0">
            <a:spAutoFit/>
          </a:bodyPr>
          <a:lstStyle/>
          <a:p>
            <a:pPr algn="ctr">
              <a:lnSpc>
                <a:spcPct val="106000"/>
              </a:lnSpc>
              <a:spcBef>
                <a:spcPts val="0"/>
              </a:spcBef>
              <a:spcAft>
                <a:spcPts val="0"/>
              </a:spcAft>
            </a:pPr>
            <a:r>
              <a:rPr sz="1250" b="1" i="0">
                <a:solidFill>
                  <a:srgbClr val="4C5359"/>
                </a:solidFill>
                <a:latin typeface="Calibri"/>
              </a:rPr>
              <a:t>users</a:t>
            </a:r>
          </a:p>
        </p:txBody>
      </p:sp>
      <p:sp>
        <p:nvSpPr>
          <p:cNvPr id="13" name="TextBox 12"/>
          <p:cNvSpPr txBox="1"/>
          <p:nvPr/>
        </p:nvSpPr>
        <p:spPr>
          <a:xfrm>
            <a:off x="3459403" y="1956816"/>
            <a:ext cx="2499283" cy="640080"/>
          </a:xfrm>
          <a:prstGeom prst="rect">
            <a:avLst/>
          </a:prstGeom>
          <a:noFill/>
        </p:spPr>
        <p:txBody>
          <a:bodyPr wrap="square" anchor="t" lIns="0" rIns="0" tIns="0" bIns="0">
            <a:spAutoFit/>
          </a:bodyPr>
          <a:lstStyle/>
          <a:p>
            <a:pPr algn="ctr">
              <a:lnSpc>
                <a:spcPct val="106000"/>
              </a:lnSpc>
              <a:spcBef>
                <a:spcPts val="0"/>
              </a:spcBef>
              <a:spcAft>
                <a:spcPts val="0"/>
              </a:spcAft>
            </a:pPr>
            <a:r>
              <a:rPr sz="3000" b="1" i="0">
                <a:solidFill>
                  <a:srgbClr val="4E6B84"/>
                </a:solidFill>
                <a:latin typeface="Calibri"/>
              </a:rPr>
              <a:t>12,944</a:t>
            </a:r>
          </a:p>
        </p:txBody>
      </p:sp>
      <p:sp>
        <p:nvSpPr>
          <p:cNvPr id="14" name="TextBox 13"/>
          <p:cNvSpPr txBox="1"/>
          <p:nvPr/>
        </p:nvSpPr>
        <p:spPr>
          <a:xfrm>
            <a:off x="3459403" y="2523744"/>
            <a:ext cx="2499283" cy="457200"/>
          </a:xfrm>
          <a:prstGeom prst="rect">
            <a:avLst/>
          </a:prstGeom>
          <a:noFill/>
        </p:spPr>
        <p:txBody>
          <a:bodyPr wrap="square" anchor="t" lIns="0" rIns="0" tIns="0" bIns="0">
            <a:spAutoFit/>
          </a:bodyPr>
          <a:lstStyle/>
          <a:p>
            <a:pPr algn="ctr">
              <a:lnSpc>
                <a:spcPct val="106000"/>
              </a:lnSpc>
              <a:spcBef>
                <a:spcPts val="0"/>
              </a:spcBef>
              <a:spcAft>
                <a:spcPts val="0"/>
              </a:spcAft>
            </a:pPr>
            <a:r>
              <a:rPr sz="1250" b="1" i="0">
                <a:solidFill>
                  <a:srgbClr val="4C5359"/>
                </a:solidFill>
                <a:latin typeface="Calibri"/>
              </a:rPr>
              <a:t>questions asked</a:t>
            </a:r>
          </a:p>
        </p:txBody>
      </p:sp>
      <p:sp>
        <p:nvSpPr>
          <p:cNvPr id="15" name="TextBox 14"/>
          <p:cNvSpPr txBox="1"/>
          <p:nvPr/>
        </p:nvSpPr>
        <p:spPr>
          <a:xfrm>
            <a:off x="6233006" y="1956816"/>
            <a:ext cx="2499283" cy="640080"/>
          </a:xfrm>
          <a:prstGeom prst="rect">
            <a:avLst/>
          </a:prstGeom>
          <a:noFill/>
        </p:spPr>
        <p:txBody>
          <a:bodyPr wrap="square" anchor="t" lIns="0" rIns="0" tIns="0" bIns="0">
            <a:spAutoFit/>
          </a:bodyPr>
          <a:lstStyle/>
          <a:p>
            <a:pPr algn="ctr">
              <a:lnSpc>
                <a:spcPct val="106000"/>
              </a:lnSpc>
              <a:spcBef>
                <a:spcPts val="0"/>
              </a:spcBef>
              <a:spcAft>
                <a:spcPts val="0"/>
              </a:spcAft>
            </a:pPr>
            <a:r>
              <a:rPr sz="3000" b="1" i="0">
                <a:solidFill>
                  <a:srgbClr val="B0812C"/>
                </a:solidFill>
                <a:latin typeface="Calibri"/>
              </a:rPr>
              <a:t>326</a:t>
            </a:r>
          </a:p>
        </p:txBody>
      </p:sp>
      <p:sp>
        <p:nvSpPr>
          <p:cNvPr id="16" name="TextBox 15"/>
          <p:cNvSpPr txBox="1"/>
          <p:nvPr/>
        </p:nvSpPr>
        <p:spPr>
          <a:xfrm>
            <a:off x="6233006" y="2523744"/>
            <a:ext cx="2499283" cy="457200"/>
          </a:xfrm>
          <a:prstGeom prst="rect">
            <a:avLst/>
          </a:prstGeom>
          <a:noFill/>
        </p:spPr>
        <p:txBody>
          <a:bodyPr wrap="square" anchor="t" lIns="0" rIns="0" tIns="0" bIns="0">
            <a:spAutoFit/>
          </a:bodyPr>
          <a:lstStyle/>
          <a:p>
            <a:pPr algn="ctr">
              <a:lnSpc>
                <a:spcPct val="106000"/>
              </a:lnSpc>
              <a:spcBef>
                <a:spcPts val="0"/>
              </a:spcBef>
              <a:spcAft>
                <a:spcPts val="0"/>
              </a:spcAft>
            </a:pPr>
            <a:r>
              <a:rPr sz="1250" b="1" i="0">
                <a:solidFill>
                  <a:srgbClr val="4C5359"/>
                </a:solidFill>
                <a:latin typeface="Calibri"/>
              </a:rPr>
              <a:t>products &amp; promos live</a:t>
            </a:r>
          </a:p>
        </p:txBody>
      </p:sp>
      <p:sp>
        <p:nvSpPr>
          <p:cNvPr id="17" name="TextBox 16"/>
          <p:cNvSpPr txBox="1"/>
          <p:nvPr/>
        </p:nvSpPr>
        <p:spPr>
          <a:xfrm>
            <a:off x="9006609" y="1956816"/>
            <a:ext cx="2499283" cy="640080"/>
          </a:xfrm>
          <a:prstGeom prst="rect">
            <a:avLst/>
          </a:prstGeom>
          <a:noFill/>
        </p:spPr>
        <p:txBody>
          <a:bodyPr wrap="square" anchor="t" lIns="0" rIns="0" tIns="0" bIns="0">
            <a:spAutoFit/>
          </a:bodyPr>
          <a:lstStyle/>
          <a:p>
            <a:pPr algn="ctr">
              <a:lnSpc>
                <a:spcPct val="106000"/>
              </a:lnSpc>
              <a:spcBef>
                <a:spcPts val="0"/>
              </a:spcBef>
              <a:spcAft>
                <a:spcPts val="0"/>
              </a:spcAft>
            </a:pPr>
            <a:r>
              <a:rPr sz="3000" b="1" i="0">
                <a:solidFill>
                  <a:srgbClr val="395268"/>
                </a:solidFill>
                <a:latin typeface="Calibri"/>
              </a:rPr>
              <a:t>86%</a:t>
            </a:r>
          </a:p>
        </p:txBody>
      </p:sp>
      <p:sp>
        <p:nvSpPr>
          <p:cNvPr id="18" name="TextBox 17"/>
          <p:cNvSpPr txBox="1"/>
          <p:nvPr/>
        </p:nvSpPr>
        <p:spPr>
          <a:xfrm>
            <a:off x="9006609" y="2523744"/>
            <a:ext cx="2499283" cy="457200"/>
          </a:xfrm>
          <a:prstGeom prst="rect">
            <a:avLst/>
          </a:prstGeom>
          <a:noFill/>
        </p:spPr>
        <p:txBody>
          <a:bodyPr wrap="square" anchor="t" lIns="0" rIns="0" tIns="0" bIns="0">
            <a:spAutoFit/>
          </a:bodyPr>
          <a:lstStyle/>
          <a:p>
            <a:pPr algn="ctr">
              <a:lnSpc>
                <a:spcPct val="106000"/>
              </a:lnSpc>
              <a:spcBef>
                <a:spcPts val="0"/>
              </a:spcBef>
              <a:spcAft>
                <a:spcPts val="0"/>
              </a:spcAft>
            </a:pPr>
            <a:r>
              <a:rPr sz="1250" b="1" i="0">
                <a:solidFill>
                  <a:srgbClr val="4C5359"/>
                </a:solidFill>
                <a:latin typeface="Calibri"/>
              </a:rPr>
              <a:t>answered correctly</a:t>
            </a:r>
          </a:p>
        </p:txBody>
      </p:sp>
      <p:sp>
        <p:nvSpPr>
          <p:cNvPr id="19" name="Rectangle 18"/>
          <p:cNvSpPr/>
          <p:nvPr/>
        </p:nvSpPr>
        <p:spPr>
          <a:xfrm>
            <a:off x="3322243" y="1993392"/>
            <a:ext cx="12700" cy="749808"/>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95846" y="1993392"/>
            <a:ext cx="12700" cy="749808"/>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69449" y="1993392"/>
            <a:ext cx="12700" cy="749808"/>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017520"/>
            <a:ext cx="10820095" cy="2194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6A7177"/>
                </a:solidFill>
                <a:latin typeface="Calibri"/>
              </a:rPr>
              <a:t>Live pilot · 6 Apr to 6 Jul 2026 · adoption and accuracy climbing toward the 95% target</a:t>
            </a:r>
          </a:p>
        </p:txBody>
      </p:sp>
      <p:sp>
        <p:nvSpPr>
          <p:cNvPr id="23" name="TextBox 22"/>
          <p:cNvSpPr txBox="1"/>
          <p:nvPr/>
        </p:nvSpPr>
        <p:spPr>
          <a:xfrm>
            <a:off x="685800" y="3383280"/>
            <a:ext cx="5272887" cy="256032"/>
          </a:xfrm>
          <a:prstGeom prst="rect">
            <a:avLst/>
          </a:prstGeom>
          <a:noFill/>
        </p:spPr>
        <p:txBody>
          <a:bodyPr wrap="square" anchor="t" lIns="0" rIns="0" tIns="0" bIns="0">
            <a:spAutoFit/>
          </a:bodyPr>
          <a:lstStyle/>
          <a:p>
            <a:pPr algn="l">
              <a:lnSpc>
                <a:spcPct val="106000"/>
              </a:lnSpc>
              <a:spcBef>
                <a:spcPts val="0"/>
              </a:spcBef>
              <a:spcAft>
                <a:spcPts val="0"/>
              </a:spcAft>
            </a:pPr>
            <a:r>
              <a:rPr sz="1100" b="1" i="0">
                <a:solidFill>
                  <a:srgbClr val="24282C"/>
                </a:solidFill>
                <a:latin typeface="Calibri"/>
              </a:rPr>
              <a:t>WHAT USERS ASK</a:t>
            </a:r>
          </a:p>
        </p:txBody>
      </p:sp>
      <p:sp>
        <p:nvSpPr>
          <p:cNvPr id="24" name="TextBox 23"/>
          <p:cNvSpPr txBox="1"/>
          <p:nvPr/>
        </p:nvSpPr>
        <p:spPr>
          <a:xfrm>
            <a:off x="685800" y="3767328"/>
            <a:ext cx="2103120" cy="256032"/>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24282C"/>
                </a:solidFill>
                <a:latin typeface="Calibri"/>
              </a:rPr>
              <a:t>Product &amp; promo</a:t>
            </a:r>
          </a:p>
        </p:txBody>
      </p:sp>
      <p:sp>
        <p:nvSpPr>
          <p:cNvPr id="25" name="Rectangle 24"/>
          <p:cNvSpPr/>
          <p:nvPr/>
        </p:nvSpPr>
        <p:spPr>
          <a:xfrm>
            <a:off x="2880360" y="3803904"/>
            <a:ext cx="2575407" cy="1828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880360" y="3803904"/>
            <a:ext cx="1957309" cy="18288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10631" y="3767328"/>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E4002B"/>
                </a:solidFill>
                <a:latin typeface="Calibri"/>
              </a:rPr>
              <a:t>76%</a:t>
            </a:r>
          </a:p>
        </p:txBody>
      </p:sp>
      <p:sp>
        <p:nvSpPr>
          <p:cNvPr id="28" name="TextBox 27"/>
          <p:cNvSpPr txBox="1"/>
          <p:nvPr/>
        </p:nvSpPr>
        <p:spPr>
          <a:xfrm>
            <a:off x="685800" y="4169664"/>
            <a:ext cx="2103120" cy="256032"/>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24282C"/>
                </a:solidFill>
                <a:latin typeface="Calibri"/>
              </a:rPr>
              <a:t>Operational terms &amp; policy</a:t>
            </a:r>
          </a:p>
        </p:txBody>
      </p:sp>
      <p:sp>
        <p:nvSpPr>
          <p:cNvPr id="29" name="Rectangle 28"/>
          <p:cNvSpPr/>
          <p:nvPr/>
        </p:nvSpPr>
        <p:spPr>
          <a:xfrm>
            <a:off x="2880360" y="4206240"/>
            <a:ext cx="2575407" cy="1828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880360" y="4206240"/>
            <a:ext cx="386311" cy="182880"/>
          </a:xfrm>
          <a:prstGeom prst="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10631" y="4169664"/>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B0812C"/>
                </a:solidFill>
                <a:latin typeface="Calibri"/>
              </a:rPr>
              <a:t>15%</a:t>
            </a:r>
          </a:p>
        </p:txBody>
      </p:sp>
      <p:sp>
        <p:nvSpPr>
          <p:cNvPr id="32" name="TextBox 31"/>
          <p:cNvSpPr txBox="1"/>
          <p:nvPr/>
        </p:nvSpPr>
        <p:spPr>
          <a:xfrm>
            <a:off x="685800" y="4572000"/>
            <a:ext cx="2103120" cy="256032"/>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24282C"/>
                </a:solidFill>
                <a:latin typeface="Calibri"/>
              </a:rPr>
              <a:t>Greetings</a:t>
            </a:r>
          </a:p>
        </p:txBody>
      </p:sp>
      <p:sp>
        <p:nvSpPr>
          <p:cNvPr id="33" name="Rectangle 32"/>
          <p:cNvSpPr/>
          <p:nvPr/>
        </p:nvSpPr>
        <p:spPr>
          <a:xfrm>
            <a:off x="2880360" y="4608576"/>
            <a:ext cx="2575407" cy="1828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880360" y="4608576"/>
            <a:ext cx="206032" cy="182880"/>
          </a:xfrm>
          <a:prstGeom prst="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510631" y="4572000"/>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4E6B84"/>
                </a:solidFill>
                <a:latin typeface="Calibri"/>
              </a:rPr>
              <a:t>8%</a:t>
            </a:r>
          </a:p>
        </p:txBody>
      </p:sp>
      <p:sp>
        <p:nvSpPr>
          <p:cNvPr id="36" name="TextBox 35"/>
          <p:cNvSpPr txBox="1"/>
          <p:nvPr/>
        </p:nvSpPr>
        <p:spPr>
          <a:xfrm>
            <a:off x="685800" y="5084064"/>
            <a:ext cx="5272887" cy="548640"/>
          </a:xfrm>
          <a:prstGeom prst="rect">
            <a:avLst/>
          </a:prstGeom>
          <a:noFill/>
        </p:spPr>
        <p:txBody>
          <a:bodyPr wrap="square" anchor="t" lIns="0" rIns="0" tIns="0" bIns="0">
            <a:spAutoFit/>
          </a:bodyPr>
          <a:lstStyle/>
          <a:p>
            <a:pPr algn="l">
              <a:lnSpc>
                <a:spcPct val="120000"/>
              </a:lnSpc>
              <a:spcBef>
                <a:spcPts val="0"/>
              </a:spcBef>
              <a:spcAft>
                <a:spcPts val="0"/>
              </a:spcAft>
            </a:pPr>
            <a:r>
              <a:rPr sz="1050" b="0" i="0">
                <a:solidFill>
                  <a:srgbClr val="4C5359"/>
                </a:solidFill>
                <a:latin typeface="Calibri"/>
              </a:rPr>
              <a:t>Most questions are exactly what OSG is built for, product and promo answers, and it handles them in seconds.</a:t>
            </a:r>
          </a:p>
        </p:txBody>
      </p:sp>
      <p:sp>
        <p:nvSpPr>
          <p:cNvPr id="37" name="TextBox 36"/>
          <p:cNvSpPr txBox="1"/>
          <p:nvPr/>
        </p:nvSpPr>
        <p:spPr>
          <a:xfrm>
            <a:off x="6233007" y="3383280"/>
            <a:ext cx="5272887" cy="256032"/>
          </a:xfrm>
          <a:prstGeom prst="rect">
            <a:avLst/>
          </a:prstGeom>
          <a:noFill/>
        </p:spPr>
        <p:txBody>
          <a:bodyPr wrap="square" anchor="t" lIns="0" rIns="0" tIns="0" bIns="0">
            <a:spAutoFit/>
          </a:bodyPr>
          <a:lstStyle/>
          <a:p>
            <a:pPr algn="l">
              <a:lnSpc>
                <a:spcPct val="106000"/>
              </a:lnSpc>
              <a:spcBef>
                <a:spcPts val="0"/>
              </a:spcBef>
              <a:spcAft>
                <a:spcPts val="0"/>
              </a:spcAft>
            </a:pPr>
            <a:r>
              <a:rPr sz="1100" b="1" i="0">
                <a:solidFill>
                  <a:srgbClr val="24282C"/>
                </a:solidFill>
                <a:latin typeface="Calibri"/>
              </a:rPr>
              <a:t>ANSWER QUALITY</a:t>
            </a:r>
          </a:p>
        </p:txBody>
      </p:sp>
      <p:sp>
        <p:nvSpPr>
          <p:cNvPr id="38" name="Rectangle 37"/>
          <p:cNvSpPr/>
          <p:nvPr/>
        </p:nvSpPr>
        <p:spPr>
          <a:xfrm>
            <a:off x="6233007" y="3767328"/>
            <a:ext cx="4534682" cy="292608"/>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767689" y="3767328"/>
            <a:ext cx="738205" cy="292608"/>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2735" y="3767328"/>
            <a:ext cx="4534682" cy="292608"/>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FFFFFF"/>
                </a:solidFill>
                <a:latin typeface="Calibri"/>
              </a:rPr>
              <a:t>86% answered correctly</a:t>
            </a:r>
          </a:p>
        </p:txBody>
      </p:sp>
      <p:sp>
        <p:nvSpPr>
          <p:cNvPr id="41" name="TextBox 40"/>
          <p:cNvSpPr txBox="1"/>
          <p:nvPr/>
        </p:nvSpPr>
        <p:spPr>
          <a:xfrm>
            <a:off x="10767689" y="3767328"/>
            <a:ext cx="738205" cy="292608"/>
          </a:xfrm>
          <a:prstGeom prst="rect">
            <a:avLst/>
          </a:prstGeom>
          <a:noFill/>
        </p:spPr>
        <p:txBody>
          <a:bodyPr wrap="square" anchor="ctr" lIns="0" rIns="0" tIns="0" bIns="0">
            <a:spAutoFit/>
          </a:bodyPr>
          <a:lstStyle/>
          <a:p>
            <a:pPr algn="ctr">
              <a:lnSpc>
                <a:spcPct val="106000"/>
              </a:lnSpc>
              <a:spcBef>
                <a:spcPts val="0"/>
              </a:spcBef>
              <a:spcAft>
                <a:spcPts val="0"/>
              </a:spcAft>
            </a:pPr>
            <a:r>
              <a:rPr sz="1100" b="1" i="0">
                <a:solidFill>
                  <a:srgbClr val="FFFFFF"/>
                </a:solidFill>
                <a:latin typeface="Calibri"/>
              </a:rPr>
              <a:t>14%</a:t>
            </a:r>
          </a:p>
        </p:txBody>
      </p:sp>
      <p:sp>
        <p:nvSpPr>
          <p:cNvPr id="42" name="Rectangle 41"/>
          <p:cNvSpPr/>
          <p:nvPr/>
        </p:nvSpPr>
        <p:spPr>
          <a:xfrm>
            <a:off x="6233007" y="4187952"/>
            <a:ext cx="5272887" cy="658368"/>
          </a:xfrm>
          <a:prstGeom prst="rect">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3007" y="4187952"/>
            <a:ext cx="64008" cy="658368"/>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15887" y="4187952"/>
            <a:ext cx="1280160" cy="658368"/>
          </a:xfrm>
          <a:prstGeom prst="rect">
            <a:avLst/>
          </a:prstGeom>
          <a:noFill/>
        </p:spPr>
        <p:txBody>
          <a:bodyPr wrap="square" anchor="ctr" lIns="0" rIns="0" tIns="0" bIns="0">
            <a:spAutoFit/>
          </a:bodyPr>
          <a:lstStyle/>
          <a:p>
            <a:pPr algn="l">
              <a:lnSpc>
                <a:spcPct val="106000"/>
              </a:lnSpc>
              <a:spcBef>
                <a:spcPts val="0"/>
              </a:spcBef>
              <a:spcAft>
                <a:spcPts val="0"/>
              </a:spcAft>
            </a:pPr>
            <a:r>
              <a:rPr sz="3300" b="1" i="0">
                <a:solidFill>
                  <a:srgbClr val="E4002B"/>
                </a:solidFill>
                <a:latin typeface="Calibri"/>
              </a:rPr>
              <a:t>14%</a:t>
            </a:r>
          </a:p>
        </p:txBody>
      </p:sp>
      <p:sp>
        <p:nvSpPr>
          <p:cNvPr id="45" name="TextBox 44"/>
          <p:cNvSpPr txBox="1"/>
          <p:nvPr/>
        </p:nvSpPr>
        <p:spPr>
          <a:xfrm>
            <a:off x="7750911" y="4187952"/>
            <a:ext cx="3608679" cy="658368"/>
          </a:xfrm>
          <a:prstGeom prst="rect">
            <a:avLst/>
          </a:prstGeom>
          <a:noFill/>
        </p:spPr>
        <p:txBody>
          <a:bodyPr wrap="square" anchor="ctr" lIns="0" rIns="0" tIns="0" bIns="0">
            <a:spAutoFit/>
          </a:bodyPr>
          <a:lstStyle/>
          <a:p>
            <a:pPr algn="l">
              <a:lnSpc>
                <a:spcPct val="114000"/>
              </a:lnSpc>
              <a:spcBef>
                <a:spcPts val="0"/>
              </a:spcBef>
              <a:spcAft>
                <a:spcPts val="0"/>
              </a:spcAft>
            </a:pPr>
            <a:r>
              <a:rPr sz="1100" b="1" i="0">
                <a:solidFill>
                  <a:srgbClr val="24282C"/>
                </a:solidFill>
                <a:latin typeface="Calibri"/>
              </a:rPr>
              <a:t>are not wrong answers, they are questions OSG deliberately does not guess on:</a:t>
            </a:r>
          </a:p>
        </p:txBody>
      </p:sp>
      <p:sp>
        <p:nvSpPr>
          <p:cNvPr id="46" name="TextBox 45"/>
          <p:cNvSpPr txBox="1"/>
          <p:nvPr/>
        </p:nvSpPr>
        <p:spPr>
          <a:xfrm>
            <a:off x="6233007" y="4992624"/>
            <a:ext cx="5272887" cy="365760"/>
          </a:xfrm>
          <a:prstGeom prst="rect">
            <a:avLst/>
          </a:prstGeom>
          <a:noFill/>
        </p:spPr>
        <p:txBody>
          <a:bodyPr wrap="square" lIns="0" rIns="0" tIns="0" bIns="0">
            <a:spAutoFit/>
          </a:bodyPr>
          <a:lstStyle/>
          <a:p>
            <a:pPr>
              <a:lnSpc>
                <a:spcPct val="108000"/>
              </a:lnSpc>
              <a:spcBef>
                <a:spcPts val="0"/>
              </a:spcBef>
              <a:spcAft>
                <a:spcPts val="600"/>
              </a:spcAft>
            </a:pPr>
            <a:r>
              <a:rPr sz="1100" b="1">
                <a:solidFill>
                  <a:srgbClr val="E4002B"/>
                </a:solidFill>
              </a:rPr>
              <a:t>▪  </a:t>
            </a:r>
            <a:r>
              <a:rPr sz="1050" b="1">
                <a:solidFill>
                  <a:srgbClr val="202428"/>
                </a:solidFill>
              </a:rPr>
              <a:t>Internal data or policy questions</a:t>
            </a:r>
          </a:p>
          <a:p>
            <a:pPr>
              <a:lnSpc>
                <a:spcPct val="108000"/>
              </a:lnSpc>
              <a:spcBef>
                <a:spcPts val="0"/>
              </a:spcBef>
              <a:spcAft>
                <a:spcPts val="600"/>
              </a:spcAft>
            </a:pPr>
            <a:r>
              <a:rPr sz="1100" b="1">
                <a:solidFill>
                  <a:srgbClr val="E4002B"/>
                </a:solidFill>
              </a:rPr>
              <a:t>▪  </a:t>
            </a:r>
            <a:r>
              <a:rPr sz="1050" b="1">
                <a:solidFill>
                  <a:srgbClr val="202428"/>
                </a:solidFill>
              </a:rPr>
              <a:t>Internal procedures and authorization</a:t>
            </a:r>
          </a:p>
          <a:p>
            <a:pPr>
              <a:lnSpc>
                <a:spcPct val="108000"/>
              </a:lnSpc>
              <a:spcBef>
                <a:spcPts val="0"/>
              </a:spcBef>
              <a:spcAft>
                <a:spcPts val="600"/>
              </a:spcAft>
            </a:pPr>
            <a:r>
              <a:rPr sz="1100" b="1">
                <a:solidFill>
                  <a:srgbClr val="E4002B"/>
                </a:solidFill>
              </a:rPr>
              <a:t>▪  </a:t>
            </a:r>
            <a:r>
              <a:rPr sz="1050" b="1">
                <a:solidFill>
                  <a:srgbClr val="202428"/>
                </a:solidFill>
              </a:rPr>
              <a:t>Real-time data, such as currency rates</a:t>
            </a:r>
          </a:p>
          <a:p>
            <a:pPr>
              <a:lnSpc>
                <a:spcPct val="108000"/>
              </a:lnSpc>
              <a:spcBef>
                <a:spcPts val="0"/>
              </a:spcBef>
              <a:spcAft>
                <a:spcPts val="600"/>
              </a:spcAft>
            </a:pPr>
            <a:r>
              <a:rPr sz="1100" b="1">
                <a:solidFill>
                  <a:srgbClr val="E4002B"/>
                </a:solidFill>
              </a:rPr>
              <a:t>▪  </a:t>
            </a:r>
            <a:r>
              <a:rPr sz="1050" b="1">
                <a:solidFill>
                  <a:srgbClr val="202428"/>
                </a:solidFill>
              </a:rPr>
              <a:t>Data outside the current period, e.g. a future-month promo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CROSS-FUNCTIONAL PROCESS MAP · BEFORE (WITHOUT OSG)</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Today, a manual chain from Product Owner to branch, with an H+1 escalation whenever the answer is not on hand</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07</a:t>
            </a:r>
          </a:p>
        </p:txBody>
      </p:sp>
      <p:sp>
        <p:nvSpPr>
          <p:cNvPr id="10" name="Rectangle 9"/>
          <p:cNvSpPr/>
          <p:nvPr/>
        </p:nvSpPr>
        <p:spPr>
          <a:xfrm>
            <a:off x="1618488" y="1810512"/>
            <a:ext cx="9887407" cy="1463040"/>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810512"/>
            <a:ext cx="932688" cy="146304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rot="16200000">
            <a:off x="420624" y="2075688"/>
            <a:ext cx="1463040" cy="932688"/>
          </a:xfrm>
          <a:prstGeom prst="rect">
            <a:avLst/>
          </a:prstGeom>
          <a:noFill/>
        </p:spPr>
        <p:txBody>
          <a:bodyPr wrap="none" anchor="ctr" lIns="0" rIns="0" tIns="0" bIns="0">
            <a:spAutoFit/>
          </a:bodyPr>
          <a:lstStyle/>
          <a:p>
            <a:pPr algn="ctr"/>
            <a:r>
              <a:rPr sz="1050" b="1">
                <a:solidFill>
                  <a:srgbClr val="FFFFFF"/>
                </a:solidFill>
                <a:latin typeface="Calibri"/>
              </a:rPr>
              <a:t>CUSTOMER</a:t>
            </a:r>
          </a:p>
        </p:txBody>
      </p:sp>
      <p:sp>
        <p:nvSpPr>
          <p:cNvPr id="13" name="Rectangle 12"/>
          <p:cNvSpPr/>
          <p:nvPr/>
        </p:nvSpPr>
        <p:spPr>
          <a:xfrm>
            <a:off x="1618488" y="3273552"/>
            <a:ext cx="9887407" cy="1463040"/>
          </a:xfrm>
          <a:prstGeom prst="rect">
            <a:avLst/>
          </a:prstGeom>
          <a:solidFill>
            <a:srgbClr val="F1F1F3"/>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3273552"/>
            <a:ext cx="932688" cy="1463040"/>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rot="16200000">
            <a:off x="420624" y="3538728"/>
            <a:ext cx="1463040" cy="932688"/>
          </a:xfrm>
          <a:prstGeom prst="rect">
            <a:avLst/>
          </a:prstGeom>
          <a:noFill/>
        </p:spPr>
        <p:txBody>
          <a:bodyPr wrap="none" anchor="ctr" lIns="0" rIns="0" tIns="0" bIns="0">
            <a:spAutoFit/>
          </a:bodyPr>
          <a:lstStyle/>
          <a:p>
            <a:pPr algn="ctr"/>
            <a:r>
              <a:rPr sz="1050" b="1">
                <a:solidFill>
                  <a:srgbClr val="FFFFFF"/>
                </a:solidFill>
                <a:latin typeface="Calibri"/>
              </a:rPr>
              <a:t>FRONTLINER</a:t>
            </a:r>
          </a:p>
        </p:txBody>
      </p:sp>
      <p:sp>
        <p:nvSpPr>
          <p:cNvPr id="16" name="Rectangle 15"/>
          <p:cNvSpPr/>
          <p:nvPr/>
        </p:nvSpPr>
        <p:spPr>
          <a:xfrm>
            <a:off x="1618488" y="4736592"/>
            <a:ext cx="9887407" cy="1463040"/>
          </a:xfrm>
          <a:prstGeom prst="rect">
            <a:avLst/>
          </a:prstGeom>
          <a:solidFill>
            <a:srgbClr val="FBEEF0"/>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 y="4736592"/>
            <a:ext cx="932688" cy="1463040"/>
          </a:xfrm>
          <a:prstGeom prst="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rot="16200000">
            <a:off x="420624" y="5001768"/>
            <a:ext cx="1463040" cy="932688"/>
          </a:xfrm>
          <a:prstGeom prst="rect">
            <a:avLst/>
          </a:prstGeom>
          <a:noFill/>
        </p:spPr>
        <p:txBody>
          <a:bodyPr wrap="none" anchor="ctr" lIns="0" rIns="0" tIns="0" bIns="0">
            <a:spAutoFit/>
          </a:bodyPr>
          <a:lstStyle/>
          <a:p>
            <a:pPr algn="ctr"/>
            <a:r>
              <a:rPr sz="1050" b="1">
                <a:solidFill>
                  <a:srgbClr val="FFFFFF"/>
                </a:solidFill>
                <a:latin typeface="Calibri"/>
              </a:rPr>
              <a:t>PRODUCT OWNER</a:t>
            </a:r>
          </a:p>
        </p:txBody>
      </p:sp>
      <p:sp>
        <p:nvSpPr>
          <p:cNvPr id="19" name="Rounded Rectangle 18"/>
          <p:cNvSpPr/>
          <p:nvPr/>
        </p:nvSpPr>
        <p:spPr>
          <a:xfrm>
            <a:off x="1901952" y="223113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65960" y="223113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Customer asks a question</a:t>
            </a:r>
          </a:p>
        </p:txBody>
      </p:sp>
      <p:sp>
        <p:nvSpPr>
          <p:cNvPr id="21" name="Rounded Rectangle 20"/>
          <p:cNvSpPr/>
          <p:nvPr/>
        </p:nvSpPr>
        <p:spPr>
          <a:xfrm>
            <a:off x="1901952" y="369417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65960" y="369417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Search the materials the PO uploaded</a:t>
            </a:r>
          </a:p>
        </p:txBody>
      </p:sp>
      <p:sp>
        <p:nvSpPr>
          <p:cNvPr id="23" name="Diamond 22"/>
          <p:cNvSpPr/>
          <p:nvPr/>
        </p:nvSpPr>
        <p:spPr>
          <a:xfrm>
            <a:off x="3803904" y="3547872"/>
            <a:ext cx="1627632" cy="914400"/>
          </a:xfrm>
          <a:prstGeom prst="diamond">
            <a:avLst/>
          </a:prstGeom>
          <a:solidFill>
            <a:srgbClr val="EAF2F0"/>
          </a:solidFill>
          <a:ln w="15240">
            <a:solidFill>
              <a:srgbClr val="3952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31920" y="3547872"/>
            <a:ext cx="1371600" cy="914400"/>
          </a:xfrm>
          <a:prstGeom prst="rect">
            <a:avLst/>
          </a:prstGeom>
          <a:noFill/>
        </p:spPr>
        <p:txBody>
          <a:bodyPr wrap="square" anchor="ctr" lIns="0" rIns="0" tIns="0" bIns="0">
            <a:spAutoFit/>
          </a:bodyPr>
          <a:lstStyle/>
          <a:p>
            <a:pPr algn="ctr">
              <a:lnSpc>
                <a:spcPct val="102000"/>
              </a:lnSpc>
              <a:spcBef>
                <a:spcPts val="0"/>
              </a:spcBef>
              <a:spcAft>
                <a:spcPts val="0"/>
              </a:spcAft>
            </a:pPr>
            <a:r>
              <a:rPr sz="900" b="1" i="0">
                <a:solidFill>
                  <a:srgbClr val="24282C"/>
                </a:solidFill>
                <a:latin typeface="Calibri"/>
              </a:rPr>
              <a:t>Material found?</a:t>
            </a:r>
          </a:p>
        </p:txBody>
      </p:sp>
      <p:sp>
        <p:nvSpPr>
          <p:cNvPr id="25" name="Rounded Rectangle 24"/>
          <p:cNvSpPr/>
          <p:nvPr/>
        </p:nvSpPr>
        <p:spPr>
          <a:xfrm>
            <a:off x="5742432" y="369417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369417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Answer the customer, same day</a:t>
            </a:r>
          </a:p>
        </p:txBody>
      </p:sp>
      <p:sp>
        <p:nvSpPr>
          <p:cNvPr id="27" name="Rounded Rectangle 26"/>
          <p:cNvSpPr/>
          <p:nvPr/>
        </p:nvSpPr>
        <p:spPr>
          <a:xfrm>
            <a:off x="5742432" y="223113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06440" y="223113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Customer helped, same day</a:t>
            </a:r>
          </a:p>
        </p:txBody>
      </p:sp>
      <p:sp>
        <p:nvSpPr>
          <p:cNvPr id="29" name="Rounded Rectangle 28"/>
          <p:cNvSpPr/>
          <p:nvPr/>
        </p:nvSpPr>
        <p:spPr>
          <a:xfrm>
            <a:off x="3822192" y="515721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86200" y="515721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Escalate to the PIC PO; PO replies (H+1)</a:t>
            </a:r>
          </a:p>
        </p:txBody>
      </p:sp>
      <p:sp>
        <p:nvSpPr>
          <p:cNvPr id="31" name="Rounded Rectangle 30"/>
          <p:cNvSpPr/>
          <p:nvPr/>
        </p:nvSpPr>
        <p:spPr>
          <a:xfrm>
            <a:off x="9582912" y="369417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46920" y="369417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Follow up and answer the customer</a:t>
            </a:r>
          </a:p>
        </p:txBody>
      </p:sp>
      <p:sp>
        <p:nvSpPr>
          <p:cNvPr id="33" name="Rounded Rectangle 32"/>
          <p:cNvSpPr/>
          <p:nvPr/>
        </p:nvSpPr>
        <p:spPr>
          <a:xfrm>
            <a:off x="9582912" y="223113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46920" y="223113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Customer helped, next day (H+1)</a:t>
            </a:r>
          </a:p>
        </p:txBody>
      </p:sp>
      <p:cxnSp>
        <p:nvCxnSpPr>
          <p:cNvPr id="35" name="Connector 34"/>
          <p:cNvCxnSpPr/>
          <p:nvPr/>
        </p:nvCxnSpPr>
        <p:spPr>
          <a:xfrm>
            <a:off x="2697480" y="2852928"/>
            <a:ext cx="0" cy="841248"/>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493008" y="4005072"/>
            <a:ext cx="310896" cy="0"/>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431536" y="4005072"/>
            <a:ext cx="310896" cy="0"/>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358384" y="3877056"/>
            <a:ext cx="457200" cy="256032"/>
          </a:xfrm>
          <a:prstGeom prst="round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58384" y="3877056"/>
            <a:ext cx="457200" cy="256032"/>
          </a:xfrm>
          <a:prstGeom prst="rect">
            <a:avLst/>
          </a:prstGeom>
          <a:noFill/>
        </p:spPr>
        <p:txBody>
          <a:bodyPr wrap="square" anchor="ctr" lIns="0" rIns="0" tIns="0" bIns="0">
            <a:spAutoFit/>
          </a:bodyPr>
          <a:lstStyle/>
          <a:p>
            <a:pPr algn="ctr">
              <a:lnSpc>
                <a:spcPct val="106000"/>
              </a:lnSpc>
              <a:spcBef>
                <a:spcPts val="0"/>
              </a:spcBef>
              <a:spcAft>
                <a:spcPts val="0"/>
              </a:spcAft>
            </a:pPr>
            <a:r>
              <a:rPr sz="850" b="1" i="0">
                <a:solidFill>
                  <a:srgbClr val="FFFFFF"/>
                </a:solidFill>
                <a:latin typeface="Calibri"/>
              </a:rPr>
              <a:t>YES</a:t>
            </a:r>
          </a:p>
        </p:txBody>
      </p:sp>
      <p:cxnSp>
        <p:nvCxnSpPr>
          <p:cNvPr id="40" name="Connector 39"/>
          <p:cNvCxnSpPr/>
          <p:nvPr/>
        </p:nvCxnSpPr>
        <p:spPr>
          <a:xfrm flipV="1">
            <a:off x="6537960" y="2852928"/>
            <a:ext cx="0" cy="841248"/>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617720" y="4462272"/>
            <a:ext cx="0" cy="694944"/>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389120" y="4681728"/>
            <a:ext cx="457200" cy="256032"/>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89120" y="4681728"/>
            <a:ext cx="457200" cy="256032"/>
          </a:xfrm>
          <a:prstGeom prst="rect">
            <a:avLst/>
          </a:prstGeom>
          <a:noFill/>
        </p:spPr>
        <p:txBody>
          <a:bodyPr wrap="square" anchor="ctr" lIns="0" rIns="0" tIns="0" bIns="0">
            <a:spAutoFit/>
          </a:bodyPr>
          <a:lstStyle/>
          <a:p>
            <a:pPr algn="ctr">
              <a:lnSpc>
                <a:spcPct val="106000"/>
              </a:lnSpc>
              <a:spcBef>
                <a:spcPts val="0"/>
              </a:spcBef>
              <a:spcAft>
                <a:spcPts val="0"/>
              </a:spcAft>
            </a:pPr>
            <a:r>
              <a:rPr sz="850" b="1" i="0">
                <a:solidFill>
                  <a:srgbClr val="FFFFFF"/>
                </a:solidFill>
                <a:latin typeface="Calibri"/>
              </a:rPr>
              <a:t>NO</a:t>
            </a:r>
          </a:p>
        </p:txBody>
      </p:sp>
      <p:cxnSp>
        <p:nvCxnSpPr>
          <p:cNvPr id="44" name="Connector 43"/>
          <p:cNvCxnSpPr/>
          <p:nvPr/>
        </p:nvCxnSpPr>
        <p:spPr>
          <a:xfrm flipV="1">
            <a:off x="5413248" y="4005072"/>
            <a:ext cx="4169664" cy="1463040"/>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378440" y="2852928"/>
            <a:ext cx="0" cy="841248"/>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CROSS-FUNCTIONAL PROCESS MAP · AFTER (WITH OSG)</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With OSG, one centralized CMS Hub feeds the AI, and the frontliner answers from the source in seconds</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08</a:t>
            </a:r>
          </a:p>
        </p:txBody>
      </p:sp>
      <p:sp>
        <p:nvSpPr>
          <p:cNvPr id="10" name="Rectangle 9"/>
          <p:cNvSpPr/>
          <p:nvPr/>
        </p:nvSpPr>
        <p:spPr>
          <a:xfrm>
            <a:off x="1618488" y="1792224"/>
            <a:ext cx="9887407" cy="1124712"/>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92224"/>
            <a:ext cx="932688" cy="1124712"/>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rot="16200000">
            <a:off x="589788" y="1888236"/>
            <a:ext cx="1124712" cy="932688"/>
          </a:xfrm>
          <a:prstGeom prst="rect">
            <a:avLst/>
          </a:prstGeom>
          <a:noFill/>
        </p:spPr>
        <p:txBody>
          <a:bodyPr wrap="none" anchor="ctr" lIns="0" rIns="0" tIns="0" bIns="0">
            <a:spAutoFit/>
          </a:bodyPr>
          <a:lstStyle/>
          <a:p>
            <a:pPr algn="ctr"/>
            <a:r>
              <a:rPr sz="1050" b="1">
                <a:solidFill>
                  <a:srgbClr val="FFFFFF"/>
                </a:solidFill>
                <a:latin typeface="Calibri"/>
              </a:rPr>
              <a:t>CUSTOMER</a:t>
            </a:r>
          </a:p>
        </p:txBody>
      </p:sp>
      <p:sp>
        <p:nvSpPr>
          <p:cNvPr id="13" name="Rectangle 12"/>
          <p:cNvSpPr/>
          <p:nvPr/>
        </p:nvSpPr>
        <p:spPr>
          <a:xfrm>
            <a:off x="1618488" y="2916936"/>
            <a:ext cx="9887407" cy="1124712"/>
          </a:xfrm>
          <a:prstGeom prst="rect">
            <a:avLst/>
          </a:prstGeom>
          <a:solidFill>
            <a:srgbClr val="F1F1F3"/>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2916936"/>
            <a:ext cx="932688" cy="1124712"/>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rot="16200000">
            <a:off x="589788" y="3012948"/>
            <a:ext cx="1124712" cy="932688"/>
          </a:xfrm>
          <a:prstGeom prst="rect">
            <a:avLst/>
          </a:prstGeom>
          <a:noFill/>
        </p:spPr>
        <p:txBody>
          <a:bodyPr wrap="none" anchor="ctr" lIns="0" rIns="0" tIns="0" bIns="0">
            <a:spAutoFit/>
          </a:bodyPr>
          <a:lstStyle/>
          <a:p>
            <a:pPr algn="ctr"/>
            <a:r>
              <a:rPr sz="1050" b="1">
                <a:solidFill>
                  <a:srgbClr val="FFFFFF"/>
                </a:solidFill>
                <a:latin typeface="Calibri"/>
              </a:rPr>
              <a:t>FRONTLINER</a:t>
            </a:r>
          </a:p>
        </p:txBody>
      </p:sp>
      <p:sp>
        <p:nvSpPr>
          <p:cNvPr id="16" name="Rectangle 15"/>
          <p:cNvSpPr/>
          <p:nvPr/>
        </p:nvSpPr>
        <p:spPr>
          <a:xfrm>
            <a:off x="1618488" y="4041648"/>
            <a:ext cx="9887407" cy="1124712"/>
          </a:xfrm>
          <a:prstGeom prst="rect">
            <a:avLst/>
          </a:prstGeom>
          <a:solidFill>
            <a:srgbClr val="FBEEF0"/>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 y="4041648"/>
            <a:ext cx="932688" cy="1124712"/>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rot="16200000">
            <a:off x="589788" y="4137660"/>
            <a:ext cx="1124712" cy="932688"/>
          </a:xfrm>
          <a:prstGeom prst="rect">
            <a:avLst/>
          </a:prstGeom>
          <a:noFill/>
        </p:spPr>
        <p:txBody>
          <a:bodyPr wrap="none" anchor="ctr" lIns="0" rIns="0" tIns="0" bIns="0">
            <a:spAutoFit/>
          </a:bodyPr>
          <a:lstStyle/>
          <a:p>
            <a:pPr algn="ctr"/>
            <a:r>
              <a:rPr sz="1050" b="1">
                <a:solidFill>
                  <a:srgbClr val="FFFFFF"/>
                </a:solidFill>
                <a:latin typeface="Calibri"/>
              </a:rPr>
              <a:t>OSG · AI</a:t>
            </a:r>
          </a:p>
        </p:txBody>
      </p:sp>
      <p:sp>
        <p:nvSpPr>
          <p:cNvPr id="19" name="Rectangle 18"/>
          <p:cNvSpPr/>
          <p:nvPr/>
        </p:nvSpPr>
        <p:spPr>
          <a:xfrm>
            <a:off x="1618488" y="5166360"/>
            <a:ext cx="9887407" cy="1124712"/>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5166360"/>
            <a:ext cx="932688" cy="1124712"/>
          </a:xfrm>
          <a:prstGeom prst="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rot="16200000">
            <a:off x="589788" y="5262372"/>
            <a:ext cx="1124712" cy="932688"/>
          </a:xfrm>
          <a:prstGeom prst="rect">
            <a:avLst/>
          </a:prstGeom>
          <a:noFill/>
        </p:spPr>
        <p:txBody>
          <a:bodyPr wrap="none" anchor="ctr" lIns="0" rIns="0" tIns="0" bIns="0">
            <a:spAutoFit/>
          </a:bodyPr>
          <a:lstStyle/>
          <a:p>
            <a:pPr algn="ctr"/>
            <a:r>
              <a:rPr sz="1050" b="1">
                <a:solidFill>
                  <a:srgbClr val="FFFFFF"/>
                </a:solidFill>
                <a:latin typeface="Calibri"/>
              </a:rPr>
              <a:t>CMS HUB · PO</a:t>
            </a:r>
          </a:p>
        </p:txBody>
      </p:sp>
      <p:sp>
        <p:nvSpPr>
          <p:cNvPr id="22" name="Rounded Rectangle 21"/>
          <p:cNvSpPr/>
          <p:nvPr/>
        </p:nvSpPr>
        <p:spPr>
          <a:xfrm>
            <a:off x="1810512" y="5445252"/>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4520" y="5445252"/>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Upload materials to the CMS Hub</a:t>
            </a:r>
          </a:p>
        </p:txBody>
      </p:sp>
      <p:sp>
        <p:nvSpPr>
          <p:cNvPr id="24" name="Rounded Rectangle 23"/>
          <p:cNvSpPr/>
          <p:nvPr/>
        </p:nvSpPr>
        <p:spPr>
          <a:xfrm>
            <a:off x="1810512" y="4320540"/>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74520" y="4320540"/>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OSG pulls from CMS Hub; KB updates</a:t>
            </a:r>
          </a:p>
        </p:txBody>
      </p:sp>
      <p:sp>
        <p:nvSpPr>
          <p:cNvPr id="26" name="Rounded Rectangle 25"/>
          <p:cNvSpPr/>
          <p:nvPr/>
        </p:nvSpPr>
        <p:spPr>
          <a:xfrm>
            <a:off x="3730752" y="2071116"/>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94760" y="2071116"/>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Customer asks a question</a:t>
            </a:r>
          </a:p>
        </p:txBody>
      </p:sp>
      <p:sp>
        <p:nvSpPr>
          <p:cNvPr id="28" name="Rounded Rectangle 27"/>
          <p:cNvSpPr/>
          <p:nvPr/>
        </p:nvSpPr>
        <p:spPr>
          <a:xfrm>
            <a:off x="3730752" y="3195828"/>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94760" y="3195828"/>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Log in to OSG and search</a:t>
            </a:r>
          </a:p>
        </p:txBody>
      </p:sp>
      <p:sp>
        <p:nvSpPr>
          <p:cNvPr id="30" name="Diamond 29"/>
          <p:cNvSpPr/>
          <p:nvPr/>
        </p:nvSpPr>
        <p:spPr>
          <a:xfrm>
            <a:off x="5632704" y="4174236"/>
            <a:ext cx="1627632" cy="859536"/>
          </a:xfrm>
          <a:prstGeom prst="diamond">
            <a:avLst/>
          </a:prstGeom>
          <a:solidFill>
            <a:srgbClr val="EAF2F0"/>
          </a:solidFill>
          <a:ln w="15240">
            <a:solidFill>
              <a:srgbClr val="3952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60720" y="4174236"/>
            <a:ext cx="1371600" cy="859536"/>
          </a:xfrm>
          <a:prstGeom prst="rect">
            <a:avLst/>
          </a:prstGeom>
          <a:noFill/>
        </p:spPr>
        <p:txBody>
          <a:bodyPr wrap="square" anchor="ctr" lIns="0" rIns="0" tIns="0" bIns="0">
            <a:spAutoFit/>
          </a:bodyPr>
          <a:lstStyle/>
          <a:p>
            <a:pPr algn="ctr">
              <a:lnSpc>
                <a:spcPct val="102000"/>
              </a:lnSpc>
              <a:spcBef>
                <a:spcPts val="0"/>
              </a:spcBef>
              <a:spcAft>
                <a:spcPts val="0"/>
              </a:spcAft>
            </a:pPr>
            <a:r>
              <a:rPr sz="900" b="1" i="0">
                <a:solidFill>
                  <a:srgbClr val="24282C"/>
                </a:solidFill>
                <a:latin typeface="Calibri"/>
              </a:rPr>
              <a:t>Answer found?</a:t>
            </a:r>
          </a:p>
        </p:txBody>
      </p:sp>
      <p:sp>
        <p:nvSpPr>
          <p:cNvPr id="32" name="Rounded Rectangle 31"/>
          <p:cNvSpPr/>
          <p:nvPr/>
        </p:nvSpPr>
        <p:spPr>
          <a:xfrm>
            <a:off x="7571232" y="4320540"/>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35240" y="4320540"/>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Answer with source and full detail</a:t>
            </a:r>
          </a:p>
        </p:txBody>
      </p:sp>
      <p:sp>
        <p:nvSpPr>
          <p:cNvPr id="34" name="Rounded Rectangle 33"/>
          <p:cNvSpPr/>
          <p:nvPr/>
        </p:nvSpPr>
        <p:spPr>
          <a:xfrm>
            <a:off x="7571232" y="3195828"/>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35240" y="3195828"/>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Answer the customer, in seconds</a:t>
            </a:r>
          </a:p>
        </p:txBody>
      </p:sp>
      <p:sp>
        <p:nvSpPr>
          <p:cNvPr id="36" name="Rounded Rectangle 35"/>
          <p:cNvSpPr/>
          <p:nvPr/>
        </p:nvSpPr>
        <p:spPr>
          <a:xfrm>
            <a:off x="7571232" y="2071116"/>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35240" y="2071116"/>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Customer helped, in seconds</a:t>
            </a:r>
          </a:p>
        </p:txBody>
      </p:sp>
      <p:sp>
        <p:nvSpPr>
          <p:cNvPr id="38" name="Rounded Rectangle 37"/>
          <p:cNvSpPr/>
          <p:nvPr/>
        </p:nvSpPr>
        <p:spPr>
          <a:xfrm>
            <a:off x="5650992" y="5445252"/>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5000" y="5445252"/>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PIC PO updates the CMS Hub</a:t>
            </a:r>
          </a:p>
        </p:txBody>
      </p:sp>
      <p:cxnSp>
        <p:nvCxnSpPr>
          <p:cNvPr id="40" name="Connector 39"/>
          <p:cNvCxnSpPr/>
          <p:nvPr/>
        </p:nvCxnSpPr>
        <p:spPr>
          <a:xfrm flipV="1">
            <a:off x="2606040" y="4887468"/>
            <a:ext cx="0" cy="557784"/>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401568" y="4604004"/>
            <a:ext cx="2231136" cy="0"/>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526280" y="2638044"/>
            <a:ext cx="0" cy="557784"/>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321808" y="3479292"/>
            <a:ext cx="310896" cy="1124712"/>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260336" y="4604004"/>
            <a:ext cx="310896" cy="0"/>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187184" y="4475988"/>
            <a:ext cx="457200" cy="256032"/>
          </a:xfrm>
          <a:prstGeom prst="round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87184" y="4475988"/>
            <a:ext cx="457200" cy="256032"/>
          </a:xfrm>
          <a:prstGeom prst="rect">
            <a:avLst/>
          </a:prstGeom>
          <a:noFill/>
        </p:spPr>
        <p:txBody>
          <a:bodyPr wrap="square" anchor="ctr" lIns="0" rIns="0" tIns="0" bIns="0">
            <a:spAutoFit/>
          </a:bodyPr>
          <a:lstStyle/>
          <a:p>
            <a:pPr algn="ctr">
              <a:lnSpc>
                <a:spcPct val="106000"/>
              </a:lnSpc>
              <a:spcBef>
                <a:spcPts val="0"/>
              </a:spcBef>
              <a:spcAft>
                <a:spcPts val="0"/>
              </a:spcAft>
            </a:pPr>
            <a:r>
              <a:rPr sz="850" b="1" i="0">
                <a:solidFill>
                  <a:srgbClr val="FFFFFF"/>
                </a:solidFill>
                <a:latin typeface="Calibri"/>
              </a:rPr>
              <a:t>YES</a:t>
            </a:r>
          </a:p>
        </p:txBody>
      </p:sp>
      <p:cxnSp>
        <p:nvCxnSpPr>
          <p:cNvPr id="47" name="Connector 46"/>
          <p:cNvCxnSpPr/>
          <p:nvPr/>
        </p:nvCxnSpPr>
        <p:spPr>
          <a:xfrm flipV="1">
            <a:off x="8366760" y="3762756"/>
            <a:ext cx="0" cy="557784"/>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8366760" y="2638044"/>
            <a:ext cx="0" cy="557784"/>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446520" y="5033772"/>
            <a:ext cx="0" cy="411480"/>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217920" y="5111496"/>
            <a:ext cx="457200" cy="256032"/>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0" y="5111496"/>
            <a:ext cx="457200" cy="256032"/>
          </a:xfrm>
          <a:prstGeom prst="rect">
            <a:avLst/>
          </a:prstGeom>
          <a:noFill/>
        </p:spPr>
        <p:txBody>
          <a:bodyPr wrap="square" anchor="ctr" lIns="0" rIns="0" tIns="0" bIns="0">
            <a:spAutoFit/>
          </a:bodyPr>
          <a:lstStyle/>
          <a:p>
            <a:pPr algn="ctr">
              <a:lnSpc>
                <a:spcPct val="106000"/>
              </a:lnSpc>
              <a:spcBef>
                <a:spcPts val="0"/>
              </a:spcBef>
              <a:spcAft>
                <a:spcPts val="0"/>
              </a:spcAft>
            </a:pPr>
            <a:r>
              <a:rPr sz="850" b="1" i="0">
                <a:solidFill>
                  <a:srgbClr val="FFFFFF"/>
                </a:solidFill>
                <a:latin typeface="Calibri"/>
              </a:rPr>
              <a:t>NO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PROPOSED SOLUTION</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Smart Guide turns a slow, multi-step search into a 5-second answer, freeing up to 2.5 hours per frontliner every day</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09</a:t>
            </a:r>
          </a:p>
        </p:txBody>
      </p:sp>
      <p:sp>
        <p:nvSpPr>
          <p:cNvPr id="10" name="Rounded Rectangle 9"/>
          <p:cNvSpPr/>
          <p:nvPr/>
        </p:nvSpPr>
        <p:spPr>
          <a:xfrm>
            <a:off x="685800" y="1792224"/>
            <a:ext cx="3291840" cy="420624"/>
          </a:xfrm>
          <a:prstGeom prst="round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792224"/>
            <a:ext cx="3291840" cy="420624"/>
          </a:xfrm>
          <a:prstGeom prst="rect">
            <a:avLst/>
          </a:prstGeom>
          <a:noFill/>
        </p:spPr>
        <p:txBody>
          <a:bodyPr wrap="square" anchor="ctr" lIns="0" rIns="0" tIns="0" bIns="0">
            <a:spAutoFit/>
          </a:bodyPr>
          <a:lstStyle/>
          <a:p>
            <a:pPr algn="ctr">
              <a:lnSpc>
                <a:spcPct val="106000"/>
              </a:lnSpc>
              <a:spcBef>
                <a:spcPts val="0"/>
              </a:spcBef>
              <a:spcAft>
                <a:spcPts val="0"/>
              </a:spcAft>
            </a:pPr>
            <a:r>
              <a:rPr sz="1250" b="1" i="0">
                <a:solidFill>
                  <a:srgbClr val="FFFFFF"/>
                </a:solidFill>
                <a:latin typeface="Calibri"/>
              </a:rPr>
              <a:t>BEFORE SMART GUIDE</a:t>
            </a:r>
          </a:p>
        </p:txBody>
      </p:sp>
      <p:sp>
        <p:nvSpPr>
          <p:cNvPr id="12" name="Rounded Rectangle 11"/>
          <p:cNvSpPr/>
          <p:nvPr/>
        </p:nvSpPr>
        <p:spPr>
          <a:xfrm>
            <a:off x="4206240" y="1792224"/>
            <a:ext cx="2697480" cy="420624"/>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1792224"/>
            <a:ext cx="2697480" cy="420624"/>
          </a:xfrm>
          <a:prstGeom prst="rect">
            <a:avLst/>
          </a:prstGeom>
          <a:noFill/>
        </p:spPr>
        <p:txBody>
          <a:bodyPr wrap="square" anchor="ctr" lIns="0" rIns="0" tIns="0" bIns="0">
            <a:spAutoFit/>
          </a:bodyPr>
          <a:lstStyle/>
          <a:p>
            <a:pPr algn="ctr">
              <a:lnSpc>
                <a:spcPct val="106000"/>
              </a:lnSpc>
              <a:spcBef>
                <a:spcPts val="0"/>
              </a:spcBef>
              <a:spcAft>
                <a:spcPts val="0"/>
              </a:spcAft>
            </a:pPr>
            <a:r>
              <a:rPr sz="1250" b="1" i="0">
                <a:solidFill>
                  <a:srgbClr val="FFFFFF"/>
                </a:solidFill>
                <a:latin typeface="Calibri"/>
              </a:rPr>
              <a:t>WITH SMART GUIDE</a:t>
            </a:r>
          </a:p>
        </p:txBody>
      </p:sp>
      <p:sp>
        <p:nvSpPr>
          <p:cNvPr id="14" name="Rounded Rectangle 13"/>
          <p:cNvSpPr/>
          <p:nvPr/>
        </p:nvSpPr>
        <p:spPr>
          <a:xfrm>
            <a:off x="7150608" y="1792224"/>
            <a:ext cx="4352544" cy="420624"/>
          </a:xfrm>
          <a:prstGeom prst="round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50608" y="1792224"/>
            <a:ext cx="4352544" cy="420624"/>
          </a:xfrm>
          <a:prstGeom prst="rect">
            <a:avLst/>
          </a:prstGeom>
          <a:noFill/>
        </p:spPr>
        <p:txBody>
          <a:bodyPr wrap="square" anchor="ctr" lIns="0" rIns="0" tIns="0" bIns="0">
            <a:spAutoFit/>
          </a:bodyPr>
          <a:lstStyle/>
          <a:p>
            <a:pPr algn="ctr">
              <a:lnSpc>
                <a:spcPct val="106000"/>
              </a:lnSpc>
              <a:spcBef>
                <a:spcPts val="0"/>
              </a:spcBef>
              <a:spcAft>
                <a:spcPts val="0"/>
              </a:spcAft>
            </a:pPr>
            <a:r>
              <a:rPr sz="1250" b="1" i="0">
                <a:solidFill>
                  <a:srgbClr val="FFFFFF"/>
                </a:solidFill>
                <a:latin typeface="Calibri"/>
              </a:rPr>
              <a:t>BUSINESS VALUE</a:t>
            </a:r>
          </a:p>
        </p:txBody>
      </p:sp>
      <p:sp>
        <p:nvSpPr>
          <p:cNvPr id="16" name="Rounded Rectangle 15"/>
          <p:cNvSpPr/>
          <p:nvPr/>
        </p:nvSpPr>
        <p:spPr>
          <a:xfrm>
            <a:off x="960120" y="2249424"/>
            <a:ext cx="2743200" cy="274320"/>
          </a:xfrm>
          <a:prstGeom prst="roundRect">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2249424"/>
            <a:ext cx="2743200" cy="274320"/>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24282C"/>
                </a:solidFill>
                <a:latin typeface="Calibri"/>
              </a:rPr>
              <a:t>10 minutes to next-day (H+1)</a:t>
            </a:r>
          </a:p>
        </p:txBody>
      </p:sp>
      <p:sp>
        <p:nvSpPr>
          <p:cNvPr id="18" name="Rounded Rectangle 17"/>
          <p:cNvSpPr/>
          <p:nvPr/>
        </p:nvSpPr>
        <p:spPr>
          <a:xfrm>
            <a:off x="4183380" y="2249424"/>
            <a:ext cx="2743200" cy="274320"/>
          </a:xfrm>
          <a:prstGeom prst="roundRect">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3380" y="2249424"/>
            <a:ext cx="2743200" cy="274320"/>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E4002B"/>
                </a:solidFill>
                <a:latin typeface="Calibri"/>
              </a:rPr>
              <a:t>One question, instant answer</a:t>
            </a:r>
          </a:p>
        </p:txBody>
      </p:sp>
      <p:sp>
        <p:nvSpPr>
          <p:cNvPr id="20" name="TextBox 19"/>
          <p:cNvSpPr txBox="1"/>
          <p:nvPr/>
        </p:nvSpPr>
        <p:spPr>
          <a:xfrm>
            <a:off x="7150608" y="2267712"/>
            <a:ext cx="4352544" cy="237744"/>
          </a:xfrm>
          <a:prstGeom prst="rect">
            <a:avLst/>
          </a:prstGeom>
          <a:noFill/>
        </p:spPr>
        <p:txBody>
          <a:bodyPr wrap="square" anchor="t" lIns="0" rIns="0" tIns="0" bIns="0">
            <a:spAutoFit/>
          </a:bodyPr>
          <a:lstStyle/>
          <a:p>
            <a:pPr algn="ctr">
              <a:lnSpc>
                <a:spcPct val="106000"/>
              </a:lnSpc>
              <a:spcBef>
                <a:spcPts val="0"/>
              </a:spcBef>
              <a:spcAft>
                <a:spcPts val="0"/>
              </a:spcAft>
            </a:pPr>
            <a:r>
              <a:rPr sz="1050" b="0" i="0">
                <a:solidFill>
                  <a:srgbClr val="4C5359"/>
                </a:solidFill>
                <a:latin typeface="Calibri"/>
              </a:rPr>
              <a:t>What the bank gains</a:t>
            </a:r>
          </a:p>
        </p:txBody>
      </p:sp>
      <p:sp>
        <p:nvSpPr>
          <p:cNvPr id="21" name="Rectangle 20"/>
          <p:cNvSpPr/>
          <p:nvPr/>
        </p:nvSpPr>
        <p:spPr>
          <a:xfrm>
            <a:off x="947420" y="2834639"/>
            <a:ext cx="20320" cy="2560320"/>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85800" y="2615184"/>
            <a:ext cx="3291840" cy="438912"/>
          </a:xfrm>
          <a:prstGeom prst="roundRect">
            <a:avLst/>
          </a:prstGeom>
          <a:solidFill>
            <a:srgbClr val="F7F7F8"/>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13816" y="2688336"/>
            <a:ext cx="292608" cy="292608"/>
          </a:xfrm>
          <a:prstGeom prst="ellipse">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 y="2688336"/>
            <a:ext cx="292608" cy="292608"/>
          </a:xfrm>
          <a:prstGeom prst="rect">
            <a:avLst/>
          </a:prstGeom>
          <a:noFill/>
        </p:spPr>
        <p:txBody>
          <a:bodyPr wrap="square" anchor="ctr" lIns="0" rIns="0" tIns="0" bIns="0">
            <a:spAutoFit/>
          </a:bodyPr>
          <a:lstStyle/>
          <a:p>
            <a:pPr algn="ctr">
              <a:lnSpc>
                <a:spcPct val="106000"/>
              </a:lnSpc>
              <a:spcBef>
                <a:spcPts val="0"/>
              </a:spcBef>
              <a:spcAft>
                <a:spcPts val="0"/>
              </a:spcAft>
            </a:pPr>
            <a:r>
              <a:rPr sz="1100" b="1" i="0">
                <a:solidFill>
                  <a:srgbClr val="FFFFFF"/>
                </a:solidFill>
                <a:latin typeface="Calibri"/>
              </a:rPr>
              <a:t>1</a:t>
            </a:r>
          </a:p>
        </p:txBody>
      </p:sp>
      <p:sp>
        <p:nvSpPr>
          <p:cNvPr id="25" name="TextBox 24"/>
          <p:cNvSpPr txBox="1"/>
          <p:nvPr/>
        </p:nvSpPr>
        <p:spPr>
          <a:xfrm>
            <a:off x="1216152" y="2615184"/>
            <a:ext cx="2633472" cy="438912"/>
          </a:xfrm>
          <a:prstGeom prst="rect">
            <a:avLst/>
          </a:prstGeom>
          <a:noFill/>
        </p:spPr>
        <p:txBody>
          <a:bodyPr wrap="square" anchor="ctr" lIns="0" rIns="0" tIns="0" bIns="0">
            <a:spAutoFit/>
          </a:bodyPr>
          <a:lstStyle/>
          <a:p>
            <a:pPr algn="l">
              <a:lnSpc>
                <a:spcPct val="106000"/>
              </a:lnSpc>
              <a:spcBef>
                <a:spcPts val="0"/>
              </a:spcBef>
              <a:spcAft>
                <a:spcPts val="0"/>
              </a:spcAft>
            </a:pPr>
            <a:r>
              <a:rPr sz="1150" b="0" i="0">
                <a:solidFill>
                  <a:srgbClr val="202428"/>
                </a:solidFill>
                <a:latin typeface="Calibri"/>
              </a:rPr>
              <a:t>Customer asks</a:t>
            </a:r>
          </a:p>
        </p:txBody>
      </p:sp>
      <p:sp>
        <p:nvSpPr>
          <p:cNvPr id="26" name="Rounded Rectangle 25"/>
          <p:cNvSpPr/>
          <p:nvPr/>
        </p:nvSpPr>
        <p:spPr>
          <a:xfrm>
            <a:off x="685800" y="3127248"/>
            <a:ext cx="3291840" cy="438912"/>
          </a:xfrm>
          <a:prstGeom prst="roundRect">
            <a:avLst/>
          </a:prstGeom>
          <a:solidFill>
            <a:srgbClr val="F7F7F8"/>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13816" y="3200400"/>
            <a:ext cx="292608" cy="292608"/>
          </a:xfrm>
          <a:prstGeom prst="ellipse">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 y="3200400"/>
            <a:ext cx="292608" cy="292608"/>
          </a:xfrm>
          <a:prstGeom prst="rect">
            <a:avLst/>
          </a:prstGeom>
          <a:noFill/>
        </p:spPr>
        <p:txBody>
          <a:bodyPr wrap="square" anchor="ctr" lIns="0" rIns="0" tIns="0" bIns="0">
            <a:spAutoFit/>
          </a:bodyPr>
          <a:lstStyle/>
          <a:p>
            <a:pPr algn="ctr">
              <a:lnSpc>
                <a:spcPct val="106000"/>
              </a:lnSpc>
              <a:spcBef>
                <a:spcPts val="0"/>
              </a:spcBef>
              <a:spcAft>
                <a:spcPts val="0"/>
              </a:spcAft>
            </a:pPr>
            <a:r>
              <a:rPr sz="1100" b="1" i="0">
                <a:solidFill>
                  <a:srgbClr val="FFFFFF"/>
                </a:solidFill>
                <a:latin typeface="Calibri"/>
              </a:rPr>
              <a:t>2</a:t>
            </a:r>
          </a:p>
        </p:txBody>
      </p:sp>
      <p:sp>
        <p:nvSpPr>
          <p:cNvPr id="29" name="TextBox 28"/>
          <p:cNvSpPr txBox="1"/>
          <p:nvPr/>
        </p:nvSpPr>
        <p:spPr>
          <a:xfrm>
            <a:off x="1216152" y="3127248"/>
            <a:ext cx="2633472" cy="438912"/>
          </a:xfrm>
          <a:prstGeom prst="rect">
            <a:avLst/>
          </a:prstGeom>
          <a:noFill/>
        </p:spPr>
        <p:txBody>
          <a:bodyPr wrap="square" anchor="ctr" lIns="0" rIns="0" tIns="0" bIns="0">
            <a:spAutoFit/>
          </a:bodyPr>
          <a:lstStyle/>
          <a:p>
            <a:pPr algn="l">
              <a:lnSpc>
                <a:spcPct val="106000"/>
              </a:lnSpc>
              <a:spcBef>
                <a:spcPts val="0"/>
              </a:spcBef>
              <a:spcAft>
                <a:spcPts val="0"/>
              </a:spcAft>
            </a:pPr>
            <a:r>
              <a:rPr sz="1150" b="0" i="0">
                <a:solidFill>
                  <a:srgbClr val="202428"/>
                </a:solidFill>
                <a:latin typeface="Calibri"/>
              </a:rPr>
              <a:t>Search in email</a:t>
            </a:r>
          </a:p>
        </p:txBody>
      </p:sp>
      <p:sp>
        <p:nvSpPr>
          <p:cNvPr id="30" name="Rounded Rectangle 29"/>
          <p:cNvSpPr/>
          <p:nvPr/>
        </p:nvSpPr>
        <p:spPr>
          <a:xfrm>
            <a:off x="685800" y="3639312"/>
            <a:ext cx="3291840" cy="438912"/>
          </a:xfrm>
          <a:prstGeom prst="roundRect">
            <a:avLst/>
          </a:prstGeom>
          <a:solidFill>
            <a:srgbClr val="F7F7F8"/>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13816" y="3712463"/>
            <a:ext cx="292608" cy="292608"/>
          </a:xfrm>
          <a:prstGeom prst="ellipse">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3816" y="3712463"/>
            <a:ext cx="292608" cy="292608"/>
          </a:xfrm>
          <a:prstGeom prst="rect">
            <a:avLst/>
          </a:prstGeom>
          <a:noFill/>
        </p:spPr>
        <p:txBody>
          <a:bodyPr wrap="square" anchor="ctr" lIns="0" rIns="0" tIns="0" bIns="0">
            <a:spAutoFit/>
          </a:bodyPr>
          <a:lstStyle/>
          <a:p>
            <a:pPr algn="ctr">
              <a:lnSpc>
                <a:spcPct val="106000"/>
              </a:lnSpc>
              <a:spcBef>
                <a:spcPts val="0"/>
              </a:spcBef>
              <a:spcAft>
                <a:spcPts val="0"/>
              </a:spcAft>
            </a:pPr>
            <a:r>
              <a:rPr sz="1100" b="1" i="0">
                <a:solidFill>
                  <a:srgbClr val="FFFFFF"/>
                </a:solidFill>
                <a:latin typeface="Calibri"/>
              </a:rPr>
              <a:t>3</a:t>
            </a:r>
          </a:p>
        </p:txBody>
      </p:sp>
      <p:sp>
        <p:nvSpPr>
          <p:cNvPr id="33" name="TextBox 32"/>
          <p:cNvSpPr txBox="1"/>
          <p:nvPr/>
        </p:nvSpPr>
        <p:spPr>
          <a:xfrm>
            <a:off x="1216152" y="3639312"/>
            <a:ext cx="2633472" cy="438912"/>
          </a:xfrm>
          <a:prstGeom prst="rect">
            <a:avLst/>
          </a:prstGeom>
          <a:noFill/>
        </p:spPr>
        <p:txBody>
          <a:bodyPr wrap="square" anchor="ctr" lIns="0" rIns="0" tIns="0" bIns="0">
            <a:spAutoFit/>
          </a:bodyPr>
          <a:lstStyle/>
          <a:p>
            <a:pPr algn="l">
              <a:lnSpc>
                <a:spcPct val="106000"/>
              </a:lnSpc>
              <a:spcBef>
                <a:spcPts val="0"/>
              </a:spcBef>
              <a:spcAft>
                <a:spcPts val="0"/>
              </a:spcAft>
            </a:pPr>
            <a:r>
              <a:rPr sz="1150" b="0" i="0">
                <a:solidFill>
                  <a:srgbClr val="202428"/>
                </a:solidFill>
                <a:latin typeface="Calibri"/>
              </a:rPr>
              <a:t>Search on the intranet</a:t>
            </a:r>
          </a:p>
        </p:txBody>
      </p:sp>
      <p:sp>
        <p:nvSpPr>
          <p:cNvPr id="34" name="Rounded Rectangle 33"/>
          <p:cNvSpPr/>
          <p:nvPr/>
        </p:nvSpPr>
        <p:spPr>
          <a:xfrm>
            <a:off x="685800" y="4151376"/>
            <a:ext cx="3291840" cy="438912"/>
          </a:xfrm>
          <a:prstGeom prst="roundRect">
            <a:avLst/>
          </a:prstGeom>
          <a:solidFill>
            <a:srgbClr val="FBEEF0"/>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13816" y="4224528"/>
            <a:ext cx="292608" cy="29260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3816" y="4224528"/>
            <a:ext cx="292608" cy="292608"/>
          </a:xfrm>
          <a:prstGeom prst="rect">
            <a:avLst/>
          </a:prstGeom>
          <a:noFill/>
        </p:spPr>
        <p:txBody>
          <a:bodyPr wrap="square" anchor="ctr" lIns="0" rIns="0" tIns="0" bIns="0">
            <a:spAutoFit/>
          </a:bodyPr>
          <a:lstStyle/>
          <a:p>
            <a:pPr algn="ctr">
              <a:lnSpc>
                <a:spcPct val="106000"/>
              </a:lnSpc>
              <a:spcBef>
                <a:spcPts val="0"/>
              </a:spcBef>
              <a:spcAft>
                <a:spcPts val="0"/>
              </a:spcAft>
            </a:pPr>
            <a:r>
              <a:rPr sz="1100" b="1" i="0">
                <a:solidFill>
                  <a:srgbClr val="FFFFFF"/>
                </a:solidFill>
                <a:latin typeface="Calibri"/>
              </a:rPr>
              <a:t>4</a:t>
            </a:r>
          </a:p>
        </p:txBody>
      </p:sp>
      <p:sp>
        <p:nvSpPr>
          <p:cNvPr id="37" name="TextBox 36"/>
          <p:cNvSpPr txBox="1"/>
          <p:nvPr/>
        </p:nvSpPr>
        <p:spPr>
          <a:xfrm>
            <a:off x="1216152" y="4151376"/>
            <a:ext cx="2633472" cy="438912"/>
          </a:xfrm>
          <a:prstGeom prst="rect">
            <a:avLst/>
          </a:prstGeom>
          <a:noFill/>
        </p:spPr>
        <p:txBody>
          <a:bodyPr wrap="square" anchor="ctr" lIns="0" rIns="0" tIns="0" bIns="0">
            <a:spAutoFit/>
          </a:bodyPr>
          <a:lstStyle/>
          <a:p>
            <a:pPr algn="l">
              <a:lnSpc>
                <a:spcPct val="106000"/>
              </a:lnSpc>
              <a:spcBef>
                <a:spcPts val="0"/>
              </a:spcBef>
              <a:spcAft>
                <a:spcPts val="0"/>
              </a:spcAft>
            </a:pPr>
            <a:r>
              <a:rPr sz="1150" b="0" i="0">
                <a:solidFill>
                  <a:srgbClr val="202428"/>
                </a:solidFill>
                <a:latin typeface="Calibri"/>
              </a:rPr>
              <a:t>Find &amp; contact the Product Owner</a:t>
            </a:r>
          </a:p>
        </p:txBody>
      </p:sp>
      <p:sp>
        <p:nvSpPr>
          <p:cNvPr id="38" name="Rounded Rectangle 37"/>
          <p:cNvSpPr/>
          <p:nvPr/>
        </p:nvSpPr>
        <p:spPr>
          <a:xfrm>
            <a:off x="685800" y="4663440"/>
            <a:ext cx="3291840" cy="438912"/>
          </a:xfrm>
          <a:prstGeom prst="roundRect">
            <a:avLst/>
          </a:prstGeom>
          <a:solidFill>
            <a:srgbClr val="FBEEF0"/>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13816" y="4736592"/>
            <a:ext cx="292608" cy="29260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3816" y="4736592"/>
            <a:ext cx="292608" cy="292608"/>
          </a:xfrm>
          <a:prstGeom prst="rect">
            <a:avLst/>
          </a:prstGeom>
          <a:noFill/>
        </p:spPr>
        <p:txBody>
          <a:bodyPr wrap="square" anchor="ctr" lIns="0" rIns="0" tIns="0" bIns="0">
            <a:spAutoFit/>
          </a:bodyPr>
          <a:lstStyle/>
          <a:p>
            <a:pPr algn="ctr">
              <a:lnSpc>
                <a:spcPct val="106000"/>
              </a:lnSpc>
              <a:spcBef>
                <a:spcPts val="0"/>
              </a:spcBef>
              <a:spcAft>
                <a:spcPts val="0"/>
              </a:spcAft>
            </a:pPr>
            <a:r>
              <a:rPr sz="1100" b="1" i="0">
                <a:solidFill>
                  <a:srgbClr val="FFFFFF"/>
                </a:solidFill>
                <a:latin typeface="Calibri"/>
              </a:rPr>
              <a:t>5</a:t>
            </a:r>
          </a:p>
        </p:txBody>
      </p:sp>
      <p:sp>
        <p:nvSpPr>
          <p:cNvPr id="41" name="TextBox 40"/>
          <p:cNvSpPr txBox="1"/>
          <p:nvPr/>
        </p:nvSpPr>
        <p:spPr>
          <a:xfrm>
            <a:off x="1216152" y="4663440"/>
            <a:ext cx="2633472" cy="438912"/>
          </a:xfrm>
          <a:prstGeom prst="rect">
            <a:avLst/>
          </a:prstGeom>
          <a:noFill/>
        </p:spPr>
        <p:txBody>
          <a:bodyPr wrap="square" anchor="ctr" lIns="0" rIns="0" tIns="0" bIns="0">
            <a:spAutoFit/>
          </a:bodyPr>
          <a:lstStyle/>
          <a:p>
            <a:pPr algn="l">
              <a:lnSpc>
                <a:spcPct val="106000"/>
              </a:lnSpc>
              <a:spcBef>
                <a:spcPts val="0"/>
              </a:spcBef>
              <a:spcAft>
                <a:spcPts val="0"/>
              </a:spcAft>
            </a:pPr>
            <a:r>
              <a:rPr sz="1150" b="0" i="0">
                <a:solidFill>
                  <a:srgbClr val="202428"/>
                </a:solidFill>
                <a:latin typeface="Calibri"/>
              </a:rPr>
              <a:t>Wait for a reply</a:t>
            </a:r>
          </a:p>
        </p:txBody>
      </p:sp>
      <p:sp>
        <p:nvSpPr>
          <p:cNvPr id="42" name="Rounded Rectangle 41"/>
          <p:cNvSpPr/>
          <p:nvPr/>
        </p:nvSpPr>
        <p:spPr>
          <a:xfrm>
            <a:off x="685800" y="5175504"/>
            <a:ext cx="3291840" cy="438912"/>
          </a:xfrm>
          <a:prstGeom prst="roundRect">
            <a:avLst/>
          </a:prstGeom>
          <a:solidFill>
            <a:srgbClr val="F7F7F8"/>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13816" y="5248656"/>
            <a:ext cx="292608" cy="292608"/>
          </a:xfrm>
          <a:prstGeom prst="ellipse">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3816" y="5248656"/>
            <a:ext cx="292608" cy="292608"/>
          </a:xfrm>
          <a:prstGeom prst="rect">
            <a:avLst/>
          </a:prstGeom>
          <a:noFill/>
        </p:spPr>
        <p:txBody>
          <a:bodyPr wrap="square" anchor="ctr" lIns="0" rIns="0" tIns="0" bIns="0">
            <a:spAutoFit/>
          </a:bodyPr>
          <a:lstStyle/>
          <a:p>
            <a:pPr algn="ctr">
              <a:lnSpc>
                <a:spcPct val="106000"/>
              </a:lnSpc>
              <a:spcBef>
                <a:spcPts val="0"/>
              </a:spcBef>
              <a:spcAft>
                <a:spcPts val="0"/>
              </a:spcAft>
            </a:pPr>
            <a:r>
              <a:rPr sz="1100" b="1" i="0">
                <a:solidFill>
                  <a:srgbClr val="FFFFFF"/>
                </a:solidFill>
                <a:latin typeface="Calibri"/>
              </a:rPr>
              <a:t>6</a:t>
            </a:r>
          </a:p>
        </p:txBody>
      </p:sp>
      <p:sp>
        <p:nvSpPr>
          <p:cNvPr id="45" name="TextBox 44"/>
          <p:cNvSpPr txBox="1"/>
          <p:nvPr/>
        </p:nvSpPr>
        <p:spPr>
          <a:xfrm>
            <a:off x="1216152" y="5175504"/>
            <a:ext cx="2633472" cy="438912"/>
          </a:xfrm>
          <a:prstGeom prst="rect">
            <a:avLst/>
          </a:prstGeom>
          <a:noFill/>
        </p:spPr>
        <p:txBody>
          <a:bodyPr wrap="square" anchor="ctr" lIns="0" rIns="0" tIns="0" bIns="0">
            <a:spAutoFit/>
          </a:bodyPr>
          <a:lstStyle/>
          <a:p>
            <a:pPr algn="l">
              <a:lnSpc>
                <a:spcPct val="106000"/>
              </a:lnSpc>
              <a:spcBef>
                <a:spcPts val="0"/>
              </a:spcBef>
              <a:spcAft>
                <a:spcPts val="0"/>
              </a:spcAft>
            </a:pPr>
            <a:r>
              <a:rPr sz="1150" b="0" i="0">
                <a:solidFill>
                  <a:srgbClr val="202428"/>
                </a:solidFill>
                <a:latin typeface="Calibri"/>
              </a:rPr>
              <a:t>Answer received</a:t>
            </a:r>
          </a:p>
        </p:txBody>
      </p:sp>
      <p:sp>
        <p:nvSpPr>
          <p:cNvPr id="46" name="Rectangle 45"/>
          <p:cNvSpPr/>
          <p:nvPr/>
        </p:nvSpPr>
        <p:spPr>
          <a:xfrm>
            <a:off x="4467860" y="2834639"/>
            <a:ext cx="20320" cy="1536192"/>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4206240" y="2615184"/>
            <a:ext cx="2697480" cy="438912"/>
          </a:xfrm>
          <a:prstGeom prst="roundRect">
            <a:avLst/>
          </a:prstGeom>
          <a:solidFill>
            <a:srgbClr val="FBEEF0"/>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4334256" y="2688336"/>
            <a:ext cx="292608" cy="29260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2688336"/>
            <a:ext cx="292608" cy="292608"/>
          </a:xfrm>
          <a:prstGeom prst="rect">
            <a:avLst/>
          </a:prstGeom>
          <a:noFill/>
        </p:spPr>
        <p:txBody>
          <a:bodyPr wrap="square" anchor="ctr" lIns="0" rIns="0" tIns="0" bIns="0">
            <a:spAutoFit/>
          </a:bodyPr>
          <a:lstStyle/>
          <a:p>
            <a:pPr algn="ctr">
              <a:lnSpc>
                <a:spcPct val="106000"/>
              </a:lnSpc>
              <a:spcBef>
                <a:spcPts val="0"/>
              </a:spcBef>
              <a:spcAft>
                <a:spcPts val="0"/>
              </a:spcAft>
            </a:pPr>
            <a:r>
              <a:rPr sz="1100" b="1" i="0">
                <a:solidFill>
                  <a:srgbClr val="FFFFFF"/>
                </a:solidFill>
                <a:latin typeface="Calibri"/>
              </a:rPr>
              <a:t>1</a:t>
            </a:r>
          </a:p>
        </p:txBody>
      </p:sp>
      <p:sp>
        <p:nvSpPr>
          <p:cNvPr id="50" name="TextBox 49"/>
          <p:cNvSpPr txBox="1"/>
          <p:nvPr/>
        </p:nvSpPr>
        <p:spPr>
          <a:xfrm>
            <a:off x="4736592" y="2615184"/>
            <a:ext cx="2039112" cy="438912"/>
          </a:xfrm>
          <a:prstGeom prst="rect">
            <a:avLst/>
          </a:prstGeom>
          <a:noFill/>
        </p:spPr>
        <p:txBody>
          <a:bodyPr wrap="square" anchor="ctr" lIns="0" rIns="0" tIns="0" bIns="0">
            <a:spAutoFit/>
          </a:bodyPr>
          <a:lstStyle/>
          <a:p>
            <a:pPr algn="l">
              <a:lnSpc>
                <a:spcPct val="106000"/>
              </a:lnSpc>
              <a:spcBef>
                <a:spcPts val="0"/>
              </a:spcBef>
              <a:spcAft>
                <a:spcPts val="0"/>
              </a:spcAft>
            </a:pPr>
            <a:r>
              <a:rPr sz="1150" b="0" i="0">
                <a:solidFill>
                  <a:srgbClr val="202428"/>
                </a:solidFill>
                <a:latin typeface="Calibri"/>
              </a:rPr>
              <a:t>Customer asks</a:t>
            </a:r>
          </a:p>
        </p:txBody>
      </p:sp>
      <p:sp>
        <p:nvSpPr>
          <p:cNvPr id="51" name="Rounded Rectangle 50"/>
          <p:cNvSpPr/>
          <p:nvPr/>
        </p:nvSpPr>
        <p:spPr>
          <a:xfrm>
            <a:off x="4206240" y="3127248"/>
            <a:ext cx="2697480" cy="438912"/>
          </a:xfrm>
          <a:prstGeom prst="roundRect">
            <a:avLst/>
          </a:prstGeom>
          <a:solidFill>
            <a:srgbClr val="FBEEF0"/>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4334256" y="3200400"/>
            <a:ext cx="292608" cy="29260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34256" y="3200400"/>
            <a:ext cx="292608" cy="292608"/>
          </a:xfrm>
          <a:prstGeom prst="rect">
            <a:avLst/>
          </a:prstGeom>
          <a:noFill/>
        </p:spPr>
        <p:txBody>
          <a:bodyPr wrap="square" anchor="ctr" lIns="0" rIns="0" tIns="0" bIns="0">
            <a:spAutoFit/>
          </a:bodyPr>
          <a:lstStyle/>
          <a:p>
            <a:pPr algn="ctr">
              <a:lnSpc>
                <a:spcPct val="106000"/>
              </a:lnSpc>
              <a:spcBef>
                <a:spcPts val="0"/>
              </a:spcBef>
              <a:spcAft>
                <a:spcPts val="0"/>
              </a:spcAft>
            </a:pPr>
            <a:r>
              <a:rPr sz="1100" b="1" i="0">
                <a:solidFill>
                  <a:srgbClr val="FFFFFF"/>
                </a:solidFill>
                <a:latin typeface="Calibri"/>
              </a:rPr>
              <a:t>2</a:t>
            </a:r>
          </a:p>
        </p:txBody>
      </p:sp>
      <p:sp>
        <p:nvSpPr>
          <p:cNvPr id="54" name="TextBox 53"/>
          <p:cNvSpPr txBox="1"/>
          <p:nvPr/>
        </p:nvSpPr>
        <p:spPr>
          <a:xfrm>
            <a:off x="4736592" y="3127248"/>
            <a:ext cx="2039112" cy="438912"/>
          </a:xfrm>
          <a:prstGeom prst="rect">
            <a:avLst/>
          </a:prstGeom>
          <a:noFill/>
        </p:spPr>
        <p:txBody>
          <a:bodyPr wrap="square" anchor="ctr" lIns="0" rIns="0" tIns="0" bIns="0">
            <a:spAutoFit/>
          </a:bodyPr>
          <a:lstStyle/>
          <a:p>
            <a:pPr algn="l">
              <a:lnSpc>
                <a:spcPct val="106000"/>
              </a:lnSpc>
              <a:spcBef>
                <a:spcPts val="0"/>
              </a:spcBef>
              <a:spcAft>
                <a:spcPts val="0"/>
              </a:spcAft>
            </a:pPr>
            <a:r>
              <a:rPr sz="1150" b="0" i="0">
                <a:solidFill>
                  <a:srgbClr val="202428"/>
                </a:solidFill>
                <a:latin typeface="Calibri"/>
              </a:rPr>
              <a:t>Ask Smart Guide</a:t>
            </a:r>
          </a:p>
        </p:txBody>
      </p:sp>
      <p:sp>
        <p:nvSpPr>
          <p:cNvPr id="55" name="Rounded Rectangle 54"/>
          <p:cNvSpPr/>
          <p:nvPr/>
        </p:nvSpPr>
        <p:spPr>
          <a:xfrm>
            <a:off x="4206240" y="3639312"/>
            <a:ext cx="2697480" cy="438912"/>
          </a:xfrm>
          <a:prstGeom prst="roundRect">
            <a:avLst/>
          </a:prstGeom>
          <a:solidFill>
            <a:srgbClr val="FBEEF0"/>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334256" y="3712463"/>
            <a:ext cx="292608" cy="29260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334256" y="3712463"/>
            <a:ext cx="292608" cy="292608"/>
          </a:xfrm>
          <a:prstGeom prst="rect">
            <a:avLst/>
          </a:prstGeom>
          <a:noFill/>
        </p:spPr>
        <p:txBody>
          <a:bodyPr wrap="square" anchor="ctr" lIns="0" rIns="0" tIns="0" bIns="0">
            <a:spAutoFit/>
          </a:bodyPr>
          <a:lstStyle/>
          <a:p>
            <a:pPr algn="ctr">
              <a:lnSpc>
                <a:spcPct val="106000"/>
              </a:lnSpc>
              <a:spcBef>
                <a:spcPts val="0"/>
              </a:spcBef>
              <a:spcAft>
                <a:spcPts val="0"/>
              </a:spcAft>
            </a:pPr>
            <a:r>
              <a:rPr sz="1100" b="1" i="0">
                <a:solidFill>
                  <a:srgbClr val="FFFFFF"/>
                </a:solidFill>
                <a:latin typeface="Calibri"/>
              </a:rPr>
              <a:t>3</a:t>
            </a:r>
          </a:p>
        </p:txBody>
      </p:sp>
      <p:sp>
        <p:nvSpPr>
          <p:cNvPr id="58" name="TextBox 57"/>
          <p:cNvSpPr txBox="1"/>
          <p:nvPr/>
        </p:nvSpPr>
        <p:spPr>
          <a:xfrm>
            <a:off x="4736592" y="3639312"/>
            <a:ext cx="2039112" cy="438912"/>
          </a:xfrm>
          <a:prstGeom prst="rect">
            <a:avLst/>
          </a:prstGeom>
          <a:noFill/>
        </p:spPr>
        <p:txBody>
          <a:bodyPr wrap="square" anchor="ctr" lIns="0" rIns="0" tIns="0" bIns="0">
            <a:spAutoFit/>
          </a:bodyPr>
          <a:lstStyle/>
          <a:p>
            <a:pPr algn="l">
              <a:lnSpc>
                <a:spcPct val="106000"/>
              </a:lnSpc>
              <a:spcBef>
                <a:spcPts val="0"/>
              </a:spcBef>
              <a:spcAft>
                <a:spcPts val="0"/>
              </a:spcAft>
            </a:pPr>
            <a:r>
              <a:rPr sz="1150" b="0" i="0">
                <a:solidFill>
                  <a:srgbClr val="202428"/>
                </a:solidFill>
                <a:latin typeface="Calibri"/>
              </a:rPr>
              <a:t>The system finds the answer</a:t>
            </a:r>
          </a:p>
        </p:txBody>
      </p:sp>
      <p:sp>
        <p:nvSpPr>
          <p:cNvPr id="59" name="Rounded Rectangle 58"/>
          <p:cNvSpPr/>
          <p:nvPr/>
        </p:nvSpPr>
        <p:spPr>
          <a:xfrm>
            <a:off x="4206240" y="4151376"/>
            <a:ext cx="2697480" cy="438912"/>
          </a:xfrm>
          <a:prstGeom prst="roundRect">
            <a:avLst/>
          </a:prstGeom>
          <a:solidFill>
            <a:srgbClr val="FBEEF0"/>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4334256" y="4224528"/>
            <a:ext cx="292608" cy="29260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334256" y="4224528"/>
            <a:ext cx="292608" cy="292608"/>
          </a:xfrm>
          <a:prstGeom prst="rect">
            <a:avLst/>
          </a:prstGeom>
          <a:noFill/>
        </p:spPr>
        <p:txBody>
          <a:bodyPr wrap="square" anchor="ctr" lIns="0" rIns="0" tIns="0" bIns="0">
            <a:spAutoFit/>
          </a:bodyPr>
          <a:lstStyle/>
          <a:p>
            <a:pPr algn="ctr">
              <a:lnSpc>
                <a:spcPct val="106000"/>
              </a:lnSpc>
              <a:spcBef>
                <a:spcPts val="0"/>
              </a:spcBef>
              <a:spcAft>
                <a:spcPts val="0"/>
              </a:spcAft>
            </a:pPr>
            <a:r>
              <a:rPr sz="1100" b="1" i="0">
                <a:solidFill>
                  <a:srgbClr val="FFFFFF"/>
                </a:solidFill>
                <a:latin typeface="Calibri"/>
              </a:rPr>
              <a:t>4</a:t>
            </a:r>
          </a:p>
        </p:txBody>
      </p:sp>
      <p:sp>
        <p:nvSpPr>
          <p:cNvPr id="62" name="TextBox 61"/>
          <p:cNvSpPr txBox="1"/>
          <p:nvPr/>
        </p:nvSpPr>
        <p:spPr>
          <a:xfrm>
            <a:off x="4736592" y="4151376"/>
            <a:ext cx="2039112" cy="438912"/>
          </a:xfrm>
          <a:prstGeom prst="rect">
            <a:avLst/>
          </a:prstGeom>
          <a:noFill/>
        </p:spPr>
        <p:txBody>
          <a:bodyPr wrap="square" anchor="ctr" lIns="0" rIns="0" tIns="0" bIns="0">
            <a:spAutoFit/>
          </a:bodyPr>
          <a:lstStyle/>
          <a:p>
            <a:pPr algn="l">
              <a:lnSpc>
                <a:spcPct val="106000"/>
              </a:lnSpc>
              <a:spcBef>
                <a:spcPts val="0"/>
              </a:spcBef>
              <a:spcAft>
                <a:spcPts val="0"/>
              </a:spcAft>
            </a:pPr>
            <a:r>
              <a:rPr sz="1150" b="0" i="0">
                <a:solidFill>
                  <a:srgbClr val="202428"/>
                </a:solidFill>
                <a:latin typeface="Calibri"/>
              </a:rPr>
              <a:t>Answer received</a:t>
            </a:r>
          </a:p>
        </p:txBody>
      </p:sp>
      <p:sp>
        <p:nvSpPr>
          <p:cNvPr id="63" name="Rounded Rectangle 62"/>
          <p:cNvSpPr/>
          <p:nvPr/>
        </p:nvSpPr>
        <p:spPr>
          <a:xfrm>
            <a:off x="4206240" y="4681728"/>
            <a:ext cx="2697480" cy="1042415"/>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06240" y="4818888"/>
            <a:ext cx="2697480" cy="566928"/>
          </a:xfrm>
          <a:prstGeom prst="rect">
            <a:avLst/>
          </a:prstGeom>
          <a:noFill/>
        </p:spPr>
        <p:txBody>
          <a:bodyPr wrap="square" anchor="t" lIns="0" rIns="0" tIns="0" bIns="0">
            <a:spAutoFit/>
          </a:bodyPr>
          <a:lstStyle/>
          <a:p>
            <a:pPr algn="ctr">
              <a:lnSpc>
                <a:spcPct val="106000"/>
              </a:lnSpc>
              <a:spcBef>
                <a:spcPts val="0"/>
              </a:spcBef>
              <a:spcAft>
                <a:spcPts val="0"/>
              </a:spcAft>
            </a:pPr>
            <a:r>
              <a:rPr sz="3400" b="1" i="0">
                <a:solidFill>
                  <a:srgbClr val="FFFFFF"/>
                </a:solidFill>
                <a:latin typeface="Calibri"/>
              </a:rPr>
              <a:t>5 seconds</a:t>
            </a:r>
          </a:p>
        </p:txBody>
      </p:sp>
      <p:sp>
        <p:nvSpPr>
          <p:cNvPr id="65" name="TextBox 64"/>
          <p:cNvSpPr txBox="1"/>
          <p:nvPr/>
        </p:nvSpPr>
        <p:spPr>
          <a:xfrm>
            <a:off x="4206240" y="5394960"/>
            <a:ext cx="2697480" cy="274320"/>
          </a:xfrm>
          <a:prstGeom prst="rect">
            <a:avLst/>
          </a:prstGeom>
          <a:noFill/>
        </p:spPr>
        <p:txBody>
          <a:bodyPr wrap="square" anchor="t" lIns="0" rIns="0" tIns="0" bIns="0">
            <a:spAutoFit/>
          </a:bodyPr>
          <a:lstStyle/>
          <a:p>
            <a:pPr algn="ctr">
              <a:lnSpc>
                <a:spcPct val="106000"/>
              </a:lnSpc>
              <a:spcBef>
                <a:spcPts val="0"/>
              </a:spcBef>
              <a:spcAft>
                <a:spcPts val="0"/>
              </a:spcAft>
            </a:pPr>
            <a:r>
              <a:rPr sz="1050" b="0" i="0">
                <a:solidFill>
                  <a:srgbClr val="FFE6E9"/>
                </a:solidFill>
                <a:latin typeface="Calibri"/>
              </a:rPr>
              <a:t>from question to a cited answer</a:t>
            </a:r>
          </a:p>
        </p:txBody>
      </p:sp>
      <p:sp>
        <p:nvSpPr>
          <p:cNvPr id="66" name="Rectangle 65"/>
          <p:cNvSpPr/>
          <p:nvPr/>
        </p:nvSpPr>
        <p:spPr>
          <a:xfrm>
            <a:off x="7150608" y="2615184"/>
            <a:ext cx="4352544" cy="731520"/>
          </a:xfrm>
          <a:prstGeom prst="rect">
            <a:avLst/>
          </a:prstGeom>
          <a:solidFill>
            <a:srgbClr val="FBEEF0"/>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150608" y="2615184"/>
            <a:ext cx="91440" cy="73152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406640" y="2734056"/>
            <a:ext cx="3950208" cy="365760"/>
          </a:xfrm>
          <a:prstGeom prst="rect">
            <a:avLst/>
          </a:prstGeom>
          <a:noFill/>
        </p:spPr>
        <p:txBody>
          <a:bodyPr wrap="square" anchor="t" lIns="0" rIns="0" tIns="0" bIns="0">
            <a:spAutoFit/>
          </a:bodyPr>
          <a:lstStyle/>
          <a:p>
            <a:pPr algn="l">
              <a:lnSpc>
                <a:spcPct val="106000"/>
              </a:lnSpc>
              <a:spcBef>
                <a:spcPts val="0"/>
              </a:spcBef>
              <a:spcAft>
                <a:spcPts val="0"/>
              </a:spcAft>
            </a:pPr>
            <a:r>
              <a:rPr sz="1400" b="1" i="0">
                <a:solidFill>
                  <a:srgbClr val="E4002B"/>
                </a:solidFill>
                <a:latin typeface="Calibri"/>
              </a:rPr>
              <a:t>50 minutes to 2.5 hours saved</a:t>
            </a:r>
          </a:p>
        </p:txBody>
      </p:sp>
      <p:sp>
        <p:nvSpPr>
          <p:cNvPr id="69" name="TextBox 68"/>
          <p:cNvSpPr txBox="1"/>
          <p:nvPr/>
        </p:nvSpPr>
        <p:spPr>
          <a:xfrm>
            <a:off x="7406640" y="3035808"/>
            <a:ext cx="3950208" cy="365760"/>
          </a:xfrm>
          <a:prstGeom prst="rect">
            <a:avLst/>
          </a:prstGeom>
          <a:noFill/>
        </p:spPr>
        <p:txBody>
          <a:bodyPr wrap="square" anchor="t" lIns="0" rIns="0" tIns="0" bIns="0">
            <a:spAutoFit/>
          </a:bodyPr>
          <a:lstStyle/>
          <a:p>
            <a:pPr algn="l">
              <a:lnSpc>
                <a:spcPct val="108000"/>
              </a:lnSpc>
              <a:spcBef>
                <a:spcPts val="0"/>
              </a:spcBef>
              <a:spcAft>
                <a:spcPts val="0"/>
              </a:spcAft>
            </a:pPr>
            <a:r>
              <a:rPr sz="1050" b="0" i="0">
                <a:solidFill>
                  <a:srgbClr val="6A7177"/>
                </a:solidFill>
                <a:latin typeface="Calibri"/>
              </a:rPr>
              <a:t>per frontliner, every working day</a:t>
            </a:r>
          </a:p>
        </p:txBody>
      </p:sp>
      <p:sp>
        <p:nvSpPr>
          <p:cNvPr id="70" name="Rectangle 69"/>
          <p:cNvSpPr/>
          <p:nvPr/>
        </p:nvSpPr>
        <p:spPr>
          <a:xfrm>
            <a:off x="7150608" y="3419856"/>
            <a:ext cx="4352544" cy="731520"/>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7150608" y="3419856"/>
            <a:ext cx="91440" cy="731520"/>
          </a:xfrm>
          <a:prstGeom prst="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406640" y="3538728"/>
            <a:ext cx="3950208" cy="365760"/>
          </a:xfrm>
          <a:prstGeom prst="rect">
            <a:avLst/>
          </a:prstGeom>
          <a:noFill/>
        </p:spPr>
        <p:txBody>
          <a:bodyPr wrap="square" anchor="t" lIns="0" rIns="0" tIns="0" bIns="0">
            <a:spAutoFit/>
          </a:bodyPr>
          <a:lstStyle/>
          <a:p>
            <a:pPr algn="l">
              <a:lnSpc>
                <a:spcPct val="106000"/>
              </a:lnSpc>
              <a:spcBef>
                <a:spcPts val="0"/>
              </a:spcBef>
              <a:spcAft>
                <a:spcPts val="0"/>
              </a:spcAft>
            </a:pPr>
            <a:r>
              <a:rPr sz="1300" b="1" i="0">
                <a:solidFill>
                  <a:srgbClr val="24282C"/>
                </a:solidFill>
                <a:latin typeface="Calibri"/>
              </a:rPr>
              <a:t>Higher productivity</a:t>
            </a:r>
          </a:p>
        </p:txBody>
      </p:sp>
      <p:sp>
        <p:nvSpPr>
          <p:cNvPr id="73" name="TextBox 72"/>
          <p:cNvSpPr txBox="1"/>
          <p:nvPr/>
        </p:nvSpPr>
        <p:spPr>
          <a:xfrm>
            <a:off x="7406640" y="3840480"/>
            <a:ext cx="3950208" cy="365760"/>
          </a:xfrm>
          <a:prstGeom prst="rect">
            <a:avLst/>
          </a:prstGeom>
          <a:noFill/>
        </p:spPr>
        <p:txBody>
          <a:bodyPr wrap="square" anchor="t" lIns="0" rIns="0" tIns="0" bIns="0">
            <a:spAutoFit/>
          </a:bodyPr>
          <a:lstStyle/>
          <a:p>
            <a:pPr algn="l">
              <a:lnSpc>
                <a:spcPct val="108000"/>
              </a:lnSpc>
              <a:spcBef>
                <a:spcPts val="0"/>
              </a:spcBef>
              <a:spcAft>
                <a:spcPts val="0"/>
              </a:spcAft>
            </a:pPr>
            <a:r>
              <a:rPr sz="1050" b="0" i="0">
                <a:solidFill>
                  <a:srgbClr val="6A7177"/>
                </a:solidFill>
                <a:latin typeface="Calibri"/>
              </a:rPr>
              <a:t>staff stay with the customer, not searching</a:t>
            </a:r>
          </a:p>
        </p:txBody>
      </p:sp>
      <p:sp>
        <p:nvSpPr>
          <p:cNvPr id="74" name="Rectangle 73"/>
          <p:cNvSpPr/>
          <p:nvPr/>
        </p:nvSpPr>
        <p:spPr>
          <a:xfrm>
            <a:off x="7150608" y="4224528"/>
            <a:ext cx="4352544" cy="731520"/>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150608" y="4224528"/>
            <a:ext cx="91440" cy="731520"/>
          </a:xfrm>
          <a:prstGeom prst="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406640" y="4343400"/>
            <a:ext cx="3950208" cy="365760"/>
          </a:xfrm>
          <a:prstGeom prst="rect">
            <a:avLst/>
          </a:prstGeom>
          <a:noFill/>
        </p:spPr>
        <p:txBody>
          <a:bodyPr wrap="square" anchor="t" lIns="0" rIns="0" tIns="0" bIns="0">
            <a:spAutoFit/>
          </a:bodyPr>
          <a:lstStyle/>
          <a:p>
            <a:pPr algn="l">
              <a:lnSpc>
                <a:spcPct val="106000"/>
              </a:lnSpc>
              <a:spcBef>
                <a:spcPts val="0"/>
              </a:spcBef>
              <a:spcAft>
                <a:spcPts val="0"/>
              </a:spcAft>
            </a:pPr>
            <a:r>
              <a:rPr sz="1300" b="1" i="0">
                <a:solidFill>
                  <a:srgbClr val="24282C"/>
                </a:solidFill>
                <a:latin typeface="Calibri"/>
              </a:rPr>
              <a:t>More cross-sell opportunities</a:t>
            </a:r>
          </a:p>
        </p:txBody>
      </p:sp>
      <p:sp>
        <p:nvSpPr>
          <p:cNvPr id="77" name="TextBox 76"/>
          <p:cNvSpPr txBox="1"/>
          <p:nvPr/>
        </p:nvSpPr>
        <p:spPr>
          <a:xfrm>
            <a:off x="7406640" y="4645152"/>
            <a:ext cx="3950208" cy="365760"/>
          </a:xfrm>
          <a:prstGeom prst="rect">
            <a:avLst/>
          </a:prstGeom>
          <a:noFill/>
        </p:spPr>
        <p:txBody>
          <a:bodyPr wrap="square" anchor="t" lIns="0" rIns="0" tIns="0" bIns="0">
            <a:spAutoFit/>
          </a:bodyPr>
          <a:lstStyle/>
          <a:p>
            <a:pPr algn="l">
              <a:lnSpc>
                <a:spcPct val="108000"/>
              </a:lnSpc>
              <a:spcBef>
                <a:spcPts val="0"/>
              </a:spcBef>
              <a:spcAft>
                <a:spcPts val="0"/>
              </a:spcAft>
            </a:pPr>
            <a:r>
              <a:rPr sz="1050" b="0" i="0">
                <a:solidFill>
                  <a:srgbClr val="6A7177"/>
                </a:solidFill>
                <a:latin typeface="Calibri"/>
              </a:rPr>
              <a:t>fast, confident answers open the conversation</a:t>
            </a:r>
          </a:p>
        </p:txBody>
      </p:sp>
      <p:sp>
        <p:nvSpPr>
          <p:cNvPr id="78" name="Rectangle 77"/>
          <p:cNvSpPr/>
          <p:nvPr/>
        </p:nvSpPr>
        <p:spPr>
          <a:xfrm>
            <a:off x="7150608" y="5029200"/>
            <a:ext cx="4352544" cy="731520"/>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150608" y="5029200"/>
            <a:ext cx="91440" cy="731520"/>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406640" y="5148072"/>
            <a:ext cx="3950208" cy="365760"/>
          </a:xfrm>
          <a:prstGeom prst="rect">
            <a:avLst/>
          </a:prstGeom>
          <a:noFill/>
        </p:spPr>
        <p:txBody>
          <a:bodyPr wrap="square" anchor="t" lIns="0" rIns="0" tIns="0" bIns="0">
            <a:spAutoFit/>
          </a:bodyPr>
          <a:lstStyle/>
          <a:p>
            <a:pPr algn="l">
              <a:lnSpc>
                <a:spcPct val="106000"/>
              </a:lnSpc>
              <a:spcBef>
                <a:spcPts val="0"/>
              </a:spcBef>
              <a:spcAft>
                <a:spcPts val="0"/>
              </a:spcAft>
            </a:pPr>
            <a:r>
              <a:rPr sz="1300" b="1" i="0">
                <a:solidFill>
                  <a:srgbClr val="24282C"/>
                </a:solidFill>
                <a:latin typeface="Calibri"/>
              </a:rPr>
              <a:t>Higher customer satisfaction</a:t>
            </a:r>
          </a:p>
        </p:txBody>
      </p:sp>
      <p:sp>
        <p:nvSpPr>
          <p:cNvPr id="81" name="TextBox 80"/>
          <p:cNvSpPr txBox="1"/>
          <p:nvPr/>
        </p:nvSpPr>
        <p:spPr>
          <a:xfrm>
            <a:off x="7406640" y="5449824"/>
            <a:ext cx="3950208" cy="365760"/>
          </a:xfrm>
          <a:prstGeom prst="rect">
            <a:avLst/>
          </a:prstGeom>
          <a:noFill/>
        </p:spPr>
        <p:txBody>
          <a:bodyPr wrap="square" anchor="t" lIns="0" rIns="0" tIns="0" bIns="0">
            <a:spAutoFit/>
          </a:bodyPr>
          <a:lstStyle/>
          <a:p>
            <a:pPr algn="l">
              <a:lnSpc>
                <a:spcPct val="108000"/>
              </a:lnSpc>
              <a:spcBef>
                <a:spcPts val="0"/>
              </a:spcBef>
              <a:spcAft>
                <a:spcPts val="0"/>
              </a:spcAft>
            </a:pPr>
            <a:r>
              <a:rPr sz="1050" b="0" i="0">
                <a:solidFill>
                  <a:srgbClr val="6A7177"/>
                </a:solidFill>
                <a:latin typeface="Calibri"/>
              </a:rPr>
              <a:t>accurate, source-cited answers, first time</a:t>
            </a:r>
          </a:p>
        </p:txBody>
      </p:sp>
      <p:sp>
        <p:nvSpPr>
          <p:cNvPr id="82" name="TextBox 81"/>
          <p:cNvSpPr txBox="1"/>
          <p:nvPr/>
        </p:nvSpPr>
        <p:spPr>
          <a:xfrm>
            <a:off x="685800" y="6016752"/>
            <a:ext cx="10820095" cy="219456"/>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 5 product / promo questions per frontliner each day  ·  1,207 frontliners as of 26 May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COST &amp; BENEFIT ANALYSIS</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A lean ~Rp 206 Mio a year to run, set against an estimated productivity and service benefit many times larger</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10</a:t>
            </a:r>
          </a:p>
        </p:txBody>
      </p:sp>
      <p:sp>
        <p:nvSpPr>
          <p:cNvPr id="10" name="Rectangle 9"/>
          <p:cNvSpPr/>
          <p:nvPr/>
        </p:nvSpPr>
        <p:spPr>
          <a:xfrm>
            <a:off x="685800" y="1737360"/>
            <a:ext cx="10820095" cy="329184"/>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 y="1737360"/>
            <a:ext cx="3136392" cy="329184"/>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FFFFFF"/>
                </a:solidFill>
                <a:latin typeface="Calibri"/>
              </a:rPr>
              <a:t>Cost item</a:t>
            </a:r>
          </a:p>
        </p:txBody>
      </p:sp>
      <p:sp>
        <p:nvSpPr>
          <p:cNvPr id="12" name="TextBox 11"/>
          <p:cNvSpPr txBox="1"/>
          <p:nvPr/>
        </p:nvSpPr>
        <p:spPr>
          <a:xfrm>
            <a:off x="3931920" y="1737360"/>
            <a:ext cx="566928"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Qty</a:t>
            </a:r>
          </a:p>
        </p:txBody>
      </p:sp>
      <p:sp>
        <p:nvSpPr>
          <p:cNvPr id="13" name="TextBox 12"/>
          <p:cNvSpPr txBox="1"/>
          <p:nvPr/>
        </p:nvSpPr>
        <p:spPr>
          <a:xfrm>
            <a:off x="4553712" y="1737360"/>
            <a:ext cx="1188720"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Price (Mio)</a:t>
            </a:r>
          </a:p>
        </p:txBody>
      </p:sp>
      <p:sp>
        <p:nvSpPr>
          <p:cNvPr id="14" name="TextBox 13"/>
          <p:cNvSpPr txBox="1"/>
          <p:nvPr/>
        </p:nvSpPr>
        <p:spPr>
          <a:xfrm>
            <a:off x="5870448" y="1737360"/>
            <a:ext cx="932688"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Y1</a:t>
            </a:r>
          </a:p>
        </p:txBody>
      </p:sp>
      <p:sp>
        <p:nvSpPr>
          <p:cNvPr id="15" name="TextBox 14"/>
          <p:cNvSpPr txBox="1"/>
          <p:nvPr/>
        </p:nvSpPr>
        <p:spPr>
          <a:xfrm>
            <a:off x="6839712" y="1737360"/>
            <a:ext cx="932688"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Y2</a:t>
            </a:r>
          </a:p>
        </p:txBody>
      </p:sp>
      <p:sp>
        <p:nvSpPr>
          <p:cNvPr id="16" name="TextBox 15"/>
          <p:cNvSpPr txBox="1"/>
          <p:nvPr/>
        </p:nvSpPr>
        <p:spPr>
          <a:xfrm>
            <a:off x="7808976" y="1737360"/>
            <a:ext cx="932688"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Y3</a:t>
            </a:r>
          </a:p>
        </p:txBody>
      </p:sp>
      <p:sp>
        <p:nvSpPr>
          <p:cNvPr id="17" name="TextBox 16"/>
          <p:cNvSpPr txBox="1"/>
          <p:nvPr/>
        </p:nvSpPr>
        <p:spPr>
          <a:xfrm>
            <a:off x="8778240" y="1737360"/>
            <a:ext cx="932688"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Y4</a:t>
            </a:r>
          </a:p>
        </p:txBody>
      </p:sp>
      <p:sp>
        <p:nvSpPr>
          <p:cNvPr id="18" name="TextBox 17"/>
          <p:cNvSpPr txBox="1"/>
          <p:nvPr/>
        </p:nvSpPr>
        <p:spPr>
          <a:xfrm>
            <a:off x="9747504" y="1737360"/>
            <a:ext cx="932688"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Y5</a:t>
            </a:r>
          </a:p>
        </p:txBody>
      </p:sp>
      <p:sp>
        <p:nvSpPr>
          <p:cNvPr id="19" name="Rectangle 18"/>
          <p:cNvSpPr/>
          <p:nvPr/>
        </p:nvSpPr>
        <p:spPr>
          <a:xfrm>
            <a:off x="685800" y="2103120"/>
            <a:ext cx="10820095" cy="254203"/>
          </a:xfrm>
          <a:prstGeom prst="rect">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2103120"/>
            <a:ext cx="54864" cy="254203"/>
          </a:xfrm>
          <a:prstGeom prst="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 y="2103120"/>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24282C"/>
                </a:solidFill>
                <a:latin typeface="Calibri"/>
              </a:rPr>
              <a:t>CAPEX  ·  one-time</a:t>
            </a:r>
          </a:p>
        </p:txBody>
      </p:sp>
      <p:sp>
        <p:nvSpPr>
          <p:cNvPr id="22" name="TextBox 21"/>
          <p:cNvSpPr txBox="1"/>
          <p:nvPr/>
        </p:nvSpPr>
        <p:spPr>
          <a:xfrm>
            <a:off x="941832" y="2357323"/>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Database (500 GB)</a:t>
            </a:r>
          </a:p>
        </p:txBody>
      </p:sp>
      <p:sp>
        <p:nvSpPr>
          <p:cNvPr id="23" name="TextBox 22"/>
          <p:cNvSpPr txBox="1"/>
          <p:nvPr/>
        </p:nvSpPr>
        <p:spPr>
          <a:xfrm>
            <a:off x="3931920" y="2357323"/>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1</a:t>
            </a:r>
          </a:p>
        </p:txBody>
      </p:sp>
      <p:sp>
        <p:nvSpPr>
          <p:cNvPr id="24" name="TextBox 23"/>
          <p:cNvSpPr txBox="1"/>
          <p:nvPr/>
        </p:nvSpPr>
        <p:spPr>
          <a:xfrm>
            <a:off x="4553712" y="2357323"/>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61.8</a:t>
            </a:r>
          </a:p>
        </p:txBody>
      </p:sp>
      <p:sp>
        <p:nvSpPr>
          <p:cNvPr id="25" name="TextBox 24"/>
          <p:cNvSpPr txBox="1"/>
          <p:nvPr/>
        </p:nvSpPr>
        <p:spPr>
          <a:xfrm>
            <a:off x="5870448" y="235732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62</a:t>
            </a:r>
          </a:p>
        </p:txBody>
      </p:sp>
      <p:sp>
        <p:nvSpPr>
          <p:cNvPr id="26" name="TextBox 25"/>
          <p:cNvSpPr txBox="1"/>
          <p:nvPr/>
        </p:nvSpPr>
        <p:spPr>
          <a:xfrm>
            <a:off x="6839712" y="235732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27" name="TextBox 26"/>
          <p:cNvSpPr txBox="1"/>
          <p:nvPr/>
        </p:nvSpPr>
        <p:spPr>
          <a:xfrm>
            <a:off x="7808976" y="235732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28" name="TextBox 27"/>
          <p:cNvSpPr txBox="1"/>
          <p:nvPr/>
        </p:nvSpPr>
        <p:spPr>
          <a:xfrm>
            <a:off x="8778240" y="235732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29" name="TextBox 28"/>
          <p:cNvSpPr txBox="1"/>
          <p:nvPr/>
        </p:nvSpPr>
        <p:spPr>
          <a:xfrm>
            <a:off x="9747504" y="235732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30" name="Rectangle 29"/>
          <p:cNvSpPr/>
          <p:nvPr/>
        </p:nvSpPr>
        <p:spPr>
          <a:xfrm>
            <a:off x="685800" y="2611526"/>
            <a:ext cx="10820095" cy="254203"/>
          </a:xfrm>
          <a:prstGeom prst="rect">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85800" y="2611526"/>
            <a:ext cx="54864" cy="254203"/>
          </a:xfrm>
          <a:prstGeom prst="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104" y="2611526"/>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24282C"/>
                </a:solidFill>
                <a:latin typeface="Calibri"/>
              </a:rPr>
              <a:t>OPEX  ·  build &amp; recurring</a:t>
            </a:r>
          </a:p>
        </p:txBody>
      </p:sp>
      <p:sp>
        <p:nvSpPr>
          <p:cNvPr id="33" name="TextBox 32"/>
          <p:cNvSpPr txBox="1"/>
          <p:nvPr/>
        </p:nvSpPr>
        <p:spPr>
          <a:xfrm>
            <a:off x="941832" y="2865729"/>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Database IT direct charge</a:t>
            </a:r>
          </a:p>
        </p:txBody>
      </p:sp>
      <p:sp>
        <p:nvSpPr>
          <p:cNvPr id="34" name="TextBox 33"/>
          <p:cNvSpPr txBox="1"/>
          <p:nvPr/>
        </p:nvSpPr>
        <p:spPr>
          <a:xfrm>
            <a:off x="3931920" y="2865729"/>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3</a:t>
            </a:r>
          </a:p>
        </p:txBody>
      </p:sp>
      <p:sp>
        <p:nvSpPr>
          <p:cNvPr id="35" name="TextBox 34"/>
          <p:cNvSpPr txBox="1"/>
          <p:nvPr/>
        </p:nvSpPr>
        <p:spPr>
          <a:xfrm>
            <a:off x="4553712" y="2865729"/>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3.75</a:t>
            </a:r>
          </a:p>
        </p:txBody>
      </p:sp>
      <p:sp>
        <p:nvSpPr>
          <p:cNvPr id="36" name="TextBox 35"/>
          <p:cNvSpPr txBox="1"/>
          <p:nvPr/>
        </p:nvSpPr>
        <p:spPr>
          <a:xfrm>
            <a:off x="5870448" y="2865729"/>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11</a:t>
            </a:r>
          </a:p>
        </p:txBody>
      </p:sp>
      <p:sp>
        <p:nvSpPr>
          <p:cNvPr id="37" name="TextBox 36"/>
          <p:cNvSpPr txBox="1"/>
          <p:nvPr/>
        </p:nvSpPr>
        <p:spPr>
          <a:xfrm>
            <a:off x="6839712" y="2865729"/>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38" name="TextBox 37"/>
          <p:cNvSpPr txBox="1"/>
          <p:nvPr/>
        </p:nvSpPr>
        <p:spPr>
          <a:xfrm>
            <a:off x="7808976" y="2865729"/>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39" name="TextBox 38"/>
          <p:cNvSpPr txBox="1"/>
          <p:nvPr/>
        </p:nvSpPr>
        <p:spPr>
          <a:xfrm>
            <a:off x="8778240" y="2865729"/>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40" name="TextBox 39"/>
          <p:cNvSpPr txBox="1"/>
          <p:nvPr/>
        </p:nvSpPr>
        <p:spPr>
          <a:xfrm>
            <a:off x="9747504" y="2865729"/>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41" name="TextBox 40"/>
          <p:cNvSpPr txBox="1"/>
          <p:nvPr/>
        </p:nvSpPr>
        <p:spPr>
          <a:xfrm>
            <a:off x="941832" y="3119932"/>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Man-days, develop OSG</a:t>
            </a:r>
          </a:p>
        </p:txBody>
      </p:sp>
      <p:sp>
        <p:nvSpPr>
          <p:cNvPr id="42" name="TextBox 41"/>
          <p:cNvSpPr txBox="1"/>
          <p:nvPr/>
        </p:nvSpPr>
        <p:spPr>
          <a:xfrm>
            <a:off x="3931920" y="3119932"/>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30</a:t>
            </a:r>
          </a:p>
        </p:txBody>
      </p:sp>
      <p:sp>
        <p:nvSpPr>
          <p:cNvPr id="43" name="TextBox 42"/>
          <p:cNvSpPr txBox="1"/>
          <p:nvPr/>
        </p:nvSpPr>
        <p:spPr>
          <a:xfrm>
            <a:off x="4553712" y="3119932"/>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3.75</a:t>
            </a:r>
          </a:p>
        </p:txBody>
      </p:sp>
      <p:sp>
        <p:nvSpPr>
          <p:cNvPr id="44" name="TextBox 43"/>
          <p:cNvSpPr txBox="1"/>
          <p:nvPr/>
        </p:nvSpPr>
        <p:spPr>
          <a:xfrm>
            <a:off x="5870448" y="3119932"/>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113</a:t>
            </a:r>
          </a:p>
        </p:txBody>
      </p:sp>
      <p:sp>
        <p:nvSpPr>
          <p:cNvPr id="45" name="TextBox 44"/>
          <p:cNvSpPr txBox="1"/>
          <p:nvPr/>
        </p:nvSpPr>
        <p:spPr>
          <a:xfrm>
            <a:off x="6839712" y="3119932"/>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46" name="TextBox 45"/>
          <p:cNvSpPr txBox="1"/>
          <p:nvPr/>
        </p:nvSpPr>
        <p:spPr>
          <a:xfrm>
            <a:off x="7808976" y="3119932"/>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47" name="TextBox 46"/>
          <p:cNvSpPr txBox="1"/>
          <p:nvPr/>
        </p:nvSpPr>
        <p:spPr>
          <a:xfrm>
            <a:off x="8778240" y="3119932"/>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48" name="TextBox 47"/>
          <p:cNvSpPr txBox="1"/>
          <p:nvPr/>
        </p:nvSpPr>
        <p:spPr>
          <a:xfrm>
            <a:off x="9747504" y="3119932"/>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49" name="TextBox 48"/>
          <p:cNvSpPr txBox="1"/>
          <p:nvPr/>
        </p:nvSpPr>
        <p:spPr>
          <a:xfrm>
            <a:off x="941832" y="3374135"/>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Man-days, IT deployment</a:t>
            </a:r>
          </a:p>
        </p:txBody>
      </p:sp>
      <p:sp>
        <p:nvSpPr>
          <p:cNvPr id="50" name="TextBox 49"/>
          <p:cNvSpPr txBox="1"/>
          <p:nvPr/>
        </p:nvSpPr>
        <p:spPr>
          <a:xfrm>
            <a:off x="3931920" y="3374135"/>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15</a:t>
            </a:r>
          </a:p>
        </p:txBody>
      </p:sp>
      <p:sp>
        <p:nvSpPr>
          <p:cNvPr id="51" name="TextBox 50"/>
          <p:cNvSpPr txBox="1"/>
          <p:nvPr/>
        </p:nvSpPr>
        <p:spPr>
          <a:xfrm>
            <a:off x="4553712" y="3374135"/>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3.75</a:t>
            </a:r>
          </a:p>
        </p:txBody>
      </p:sp>
      <p:sp>
        <p:nvSpPr>
          <p:cNvPr id="52" name="TextBox 51"/>
          <p:cNvSpPr txBox="1"/>
          <p:nvPr/>
        </p:nvSpPr>
        <p:spPr>
          <a:xfrm>
            <a:off x="5870448" y="3374135"/>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56</a:t>
            </a:r>
          </a:p>
        </p:txBody>
      </p:sp>
      <p:sp>
        <p:nvSpPr>
          <p:cNvPr id="53" name="TextBox 52"/>
          <p:cNvSpPr txBox="1"/>
          <p:nvPr/>
        </p:nvSpPr>
        <p:spPr>
          <a:xfrm>
            <a:off x="6839712" y="3374135"/>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54" name="TextBox 53"/>
          <p:cNvSpPr txBox="1"/>
          <p:nvPr/>
        </p:nvSpPr>
        <p:spPr>
          <a:xfrm>
            <a:off x="7808976" y="3374135"/>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55" name="TextBox 54"/>
          <p:cNvSpPr txBox="1"/>
          <p:nvPr/>
        </p:nvSpPr>
        <p:spPr>
          <a:xfrm>
            <a:off x="8778240" y="3374135"/>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56" name="TextBox 55"/>
          <p:cNvSpPr txBox="1"/>
          <p:nvPr/>
        </p:nvSpPr>
        <p:spPr>
          <a:xfrm>
            <a:off x="9747504" y="3374135"/>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57" name="TextBox 56"/>
          <p:cNvSpPr txBox="1"/>
          <p:nvPr/>
        </p:nvSpPr>
        <p:spPr>
          <a:xfrm>
            <a:off x="941832" y="3628338"/>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Cloudera license</a:t>
            </a:r>
          </a:p>
        </p:txBody>
      </p:sp>
      <p:sp>
        <p:nvSpPr>
          <p:cNvPr id="58" name="TextBox 57"/>
          <p:cNvSpPr txBox="1"/>
          <p:nvPr/>
        </p:nvSpPr>
        <p:spPr>
          <a:xfrm>
            <a:off x="3931920" y="3628338"/>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1</a:t>
            </a:r>
          </a:p>
        </p:txBody>
      </p:sp>
      <p:sp>
        <p:nvSpPr>
          <p:cNvPr id="59" name="TextBox 58"/>
          <p:cNvSpPr txBox="1"/>
          <p:nvPr/>
        </p:nvSpPr>
        <p:spPr>
          <a:xfrm>
            <a:off x="4553712" y="3628338"/>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5,000</a:t>
            </a:r>
          </a:p>
        </p:txBody>
      </p:sp>
      <p:sp>
        <p:nvSpPr>
          <p:cNvPr id="60" name="TextBox 59"/>
          <p:cNvSpPr txBox="1"/>
          <p:nvPr/>
        </p:nvSpPr>
        <p:spPr>
          <a:xfrm>
            <a:off x="5870448" y="3628338"/>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200</a:t>
            </a:r>
          </a:p>
        </p:txBody>
      </p:sp>
      <p:sp>
        <p:nvSpPr>
          <p:cNvPr id="61" name="TextBox 60"/>
          <p:cNvSpPr txBox="1"/>
          <p:nvPr/>
        </p:nvSpPr>
        <p:spPr>
          <a:xfrm>
            <a:off x="6839712" y="3628338"/>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200</a:t>
            </a:r>
          </a:p>
        </p:txBody>
      </p:sp>
      <p:sp>
        <p:nvSpPr>
          <p:cNvPr id="62" name="TextBox 61"/>
          <p:cNvSpPr txBox="1"/>
          <p:nvPr/>
        </p:nvSpPr>
        <p:spPr>
          <a:xfrm>
            <a:off x="7808976" y="3628338"/>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200</a:t>
            </a:r>
          </a:p>
        </p:txBody>
      </p:sp>
      <p:sp>
        <p:nvSpPr>
          <p:cNvPr id="63" name="TextBox 62"/>
          <p:cNvSpPr txBox="1"/>
          <p:nvPr/>
        </p:nvSpPr>
        <p:spPr>
          <a:xfrm>
            <a:off x="8778240" y="3628338"/>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200</a:t>
            </a:r>
          </a:p>
        </p:txBody>
      </p:sp>
      <p:sp>
        <p:nvSpPr>
          <p:cNvPr id="64" name="TextBox 63"/>
          <p:cNvSpPr txBox="1"/>
          <p:nvPr/>
        </p:nvSpPr>
        <p:spPr>
          <a:xfrm>
            <a:off x="9747504" y="3628338"/>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200</a:t>
            </a:r>
          </a:p>
        </p:txBody>
      </p:sp>
      <p:sp>
        <p:nvSpPr>
          <p:cNvPr id="65" name="TextBox 64"/>
          <p:cNvSpPr txBox="1"/>
          <p:nvPr/>
        </p:nvSpPr>
        <p:spPr>
          <a:xfrm>
            <a:off x="941832" y="3882541"/>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Cloudera maintenance</a:t>
            </a:r>
          </a:p>
        </p:txBody>
      </p:sp>
      <p:sp>
        <p:nvSpPr>
          <p:cNvPr id="66" name="TextBox 65"/>
          <p:cNvSpPr txBox="1"/>
          <p:nvPr/>
        </p:nvSpPr>
        <p:spPr>
          <a:xfrm>
            <a:off x="3931920" y="3882541"/>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1</a:t>
            </a:r>
          </a:p>
        </p:txBody>
      </p:sp>
      <p:sp>
        <p:nvSpPr>
          <p:cNvPr id="67" name="TextBox 66"/>
          <p:cNvSpPr txBox="1"/>
          <p:nvPr/>
        </p:nvSpPr>
        <p:spPr>
          <a:xfrm>
            <a:off x="4553712" y="3882541"/>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152</a:t>
            </a:r>
          </a:p>
        </p:txBody>
      </p:sp>
      <p:sp>
        <p:nvSpPr>
          <p:cNvPr id="68" name="TextBox 67"/>
          <p:cNvSpPr txBox="1"/>
          <p:nvPr/>
        </p:nvSpPr>
        <p:spPr>
          <a:xfrm>
            <a:off x="5870448" y="3882541"/>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6</a:t>
            </a:r>
          </a:p>
        </p:txBody>
      </p:sp>
      <p:sp>
        <p:nvSpPr>
          <p:cNvPr id="69" name="TextBox 68"/>
          <p:cNvSpPr txBox="1"/>
          <p:nvPr/>
        </p:nvSpPr>
        <p:spPr>
          <a:xfrm>
            <a:off x="6839712" y="3882541"/>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6</a:t>
            </a:r>
          </a:p>
        </p:txBody>
      </p:sp>
      <p:sp>
        <p:nvSpPr>
          <p:cNvPr id="70" name="TextBox 69"/>
          <p:cNvSpPr txBox="1"/>
          <p:nvPr/>
        </p:nvSpPr>
        <p:spPr>
          <a:xfrm>
            <a:off x="7808976" y="3882541"/>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6</a:t>
            </a:r>
          </a:p>
        </p:txBody>
      </p:sp>
      <p:sp>
        <p:nvSpPr>
          <p:cNvPr id="71" name="TextBox 70"/>
          <p:cNvSpPr txBox="1"/>
          <p:nvPr/>
        </p:nvSpPr>
        <p:spPr>
          <a:xfrm>
            <a:off x="8778240" y="3882541"/>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6</a:t>
            </a:r>
          </a:p>
        </p:txBody>
      </p:sp>
      <p:sp>
        <p:nvSpPr>
          <p:cNvPr id="72" name="TextBox 71"/>
          <p:cNvSpPr txBox="1"/>
          <p:nvPr/>
        </p:nvSpPr>
        <p:spPr>
          <a:xfrm>
            <a:off x="9747504" y="3882541"/>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6</a:t>
            </a:r>
          </a:p>
        </p:txBody>
      </p:sp>
      <p:sp>
        <p:nvSpPr>
          <p:cNvPr id="73" name="Rectangle 72"/>
          <p:cNvSpPr/>
          <p:nvPr/>
        </p:nvSpPr>
        <p:spPr>
          <a:xfrm>
            <a:off x="685800" y="4136744"/>
            <a:ext cx="10820095" cy="12700"/>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85800" y="4136744"/>
            <a:ext cx="10820095" cy="254203"/>
          </a:xfrm>
          <a:prstGeom prst="rect">
            <a:avLst/>
          </a:prstGeom>
          <a:solidFill>
            <a:srgbClr val="F1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41832" y="4136744"/>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24282C"/>
                </a:solidFill>
                <a:latin typeface="Calibri"/>
              </a:rPr>
              <a:t>Total cost per year (Rp Mio)</a:t>
            </a:r>
          </a:p>
        </p:txBody>
      </p:sp>
      <p:sp>
        <p:nvSpPr>
          <p:cNvPr id="76" name="TextBox 75"/>
          <p:cNvSpPr txBox="1"/>
          <p:nvPr/>
        </p:nvSpPr>
        <p:spPr>
          <a:xfrm>
            <a:off x="3931920" y="4136744"/>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77" name="TextBox 76"/>
          <p:cNvSpPr txBox="1"/>
          <p:nvPr/>
        </p:nvSpPr>
        <p:spPr>
          <a:xfrm>
            <a:off x="4553712" y="4136744"/>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78" name="TextBox 77"/>
          <p:cNvSpPr txBox="1"/>
          <p:nvPr/>
        </p:nvSpPr>
        <p:spPr>
          <a:xfrm>
            <a:off x="5870448" y="4136744"/>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E4002B"/>
                </a:solidFill>
                <a:latin typeface="Calibri"/>
              </a:rPr>
              <a:t>448</a:t>
            </a:r>
          </a:p>
        </p:txBody>
      </p:sp>
      <p:sp>
        <p:nvSpPr>
          <p:cNvPr id="79" name="TextBox 78"/>
          <p:cNvSpPr txBox="1"/>
          <p:nvPr/>
        </p:nvSpPr>
        <p:spPr>
          <a:xfrm>
            <a:off x="6839712" y="4136744"/>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E4002B"/>
                </a:solidFill>
                <a:latin typeface="Calibri"/>
              </a:rPr>
              <a:t>206</a:t>
            </a:r>
          </a:p>
        </p:txBody>
      </p:sp>
      <p:sp>
        <p:nvSpPr>
          <p:cNvPr id="80" name="TextBox 79"/>
          <p:cNvSpPr txBox="1"/>
          <p:nvPr/>
        </p:nvSpPr>
        <p:spPr>
          <a:xfrm>
            <a:off x="7808976" y="4136744"/>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E4002B"/>
                </a:solidFill>
                <a:latin typeface="Calibri"/>
              </a:rPr>
              <a:t>206</a:t>
            </a:r>
          </a:p>
        </p:txBody>
      </p:sp>
      <p:sp>
        <p:nvSpPr>
          <p:cNvPr id="81" name="TextBox 80"/>
          <p:cNvSpPr txBox="1"/>
          <p:nvPr/>
        </p:nvSpPr>
        <p:spPr>
          <a:xfrm>
            <a:off x="8778240" y="4136744"/>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E4002B"/>
                </a:solidFill>
                <a:latin typeface="Calibri"/>
              </a:rPr>
              <a:t>206</a:t>
            </a:r>
          </a:p>
        </p:txBody>
      </p:sp>
      <p:sp>
        <p:nvSpPr>
          <p:cNvPr id="82" name="TextBox 81"/>
          <p:cNvSpPr txBox="1"/>
          <p:nvPr/>
        </p:nvSpPr>
        <p:spPr>
          <a:xfrm>
            <a:off x="9747504" y="4136744"/>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E4002B"/>
                </a:solidFill>
                <a:latin typeface="Calibri"/>
              </a:rPr>
              <a:t>206</a:t>
            </a:r>
          </a:p>
        </p:txBody>
      </p:sp>
      <p:sp>
        <p:nvSpPr>
          <p:cNvPr id="83" name="Rectangle 82"/>
          <p:cNvSpPr/>
          <p:nvPr/>
        </p:nvSpPr>
        <p:spPr>
          <a:xfrm>
            <a:off x="685800" y="4390947"/>
            <a:ext cx="10820095" cy="254203"/>
          </a:xfrm>
          <a:prstGeom prst="rect">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85800" y="4390947"/>
            <a:ext cx="54864" cy="254203"/>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32104" y="4390947"/>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24282C"/>
                </a:solidFill>
                <a:latin typeface="Calibri"/>
              </a:rPr>
              <a:t>POTENTIAL BENEFIT  ·  estimate (ramps with adoption)</a:t>
            </a:r>
          </a:p>
        </p:txBody>
      </p:sp>
      <p:sp>
        <p:nvSpPr>
          <p:cNvPr id="86" name="TextBox 85"/>
          <p:cNvSpPr txBox="1"/>
          <p:nvPr/>
        </p:nvSpPr>
        <p:spPr>
          <a:xfrm>
            <a:off x="941832" y="4645150"/>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Productivity &amp; operations (time saved)</a:t>
            </a:r>
          </a:p>
        </p:txBody>
      </p:sp>
      <p:sp>
        <p:nvSpPr>
          <p:cNvPr id="87" name="TextBox 86"/>
          <p:cNvSpPr txBox="1"/>
          <p:nvPr/>
        </p:nvSpPr>
        <p:spPr>
          <a:xfrm>
            <a:off x="3931920" y="4645150"/>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88" name="TextBox 87"/>
          <p:cNvSpPr txBox="1"/>
          <p:nvPr/>
        </p:nvSpPr>
        <p:spPr>
          <a:xfrm>
            <a:off x="4553712" y="4645150"/>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89" name="TextBox 88"/>
          <p:cNvSpPr txBox="1"/>
          <p:nvPr/>
        </p:nvSpPr>
        <p:spPr>
          <a:xfrm>
            <a:off x="5870448" y="4645150"/>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3,500</a:t>
            </a:r>
          </a:p>
        </p:txBody>
      </p:sp>
      <p:sp>
        <p:nvSpPr>
          <p:cNvPr id="90" name="TextBox 89"/>
          <p:cNvSpPr txBox="1"/>
          <p:nvPr/>
        </p:nvSpPr>
        <p:spPr>
          <a:xfrm>
            <a:off x="6839712" y="4645150"/>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5,600</a:t>
            </a:r>
          </a:p>
        </p:txBody>
      </p:sp>
      <p:sp>
        <p:nvSpPr>
          <p:cNvPr id="91" name="TextBox 90"/>
          <p:cNvSpPr txBox="1"/>
          <p:nvPr/>
        </p:nvSpPr>
        <p:spPr>
          <a:xfrm>
            <a:off x="7808976" y="4645150"/>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7,000</a:t>
            </a:r>
          </a:p>
        </p:txBody>
      </p:sp>
      <p:sp>
        <p:nvSpPr>
          <p:cNvPr id="92" name="TextBox 91"/>
          <p:cNvSpPr txBox="1"/>
          <p:nvPr/>
        </p:nvSpPr>
        <p:spPr>
          <a:xfrm>
            <a:off x="8778240" y="4645150"/>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7,000</a:t>
            </a:r>
          </a:p>
        </p:txBody>
      </p:sp>
      <p:sp>
        <p:nvSpPr>
          <p:cNvPr id="93" name="TextBox 92"/>
          <p:cNvSpPr txBox="1"/>
          <p:nvPr/>
        </p:nvSpPr>
        <p:spPr>
          <a:xfrm>
            <a:off x="9747504" y="4645150"/>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7,000</a:t>
            </a:r>
          </a:p>
        </p:txBody>
      </p:sp>
      <p:sp>
        <p:nvSpPr>
          <p:cNvPr id="94" name="TextBox 93"/>
          <p:cNvSpPr txBox="1"/>
          <p:nvPr/>
        </p:nvSpPr>
        <p:spPr>
          <a:xfrm>
            <a:off x="941832" y="4899353"/>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Potential revenue (cross-sell &amp; retention)</a:t>
            </a:r>
          </a:p>
        </p:txBody>
      </p:sp>
      <p:sp>
        <p:nvSpPr>
          <p:cNvPr id="95" name="TextBox 94"/>
          <p:cNvSpPr txBox="1"/>
          <p:nvPr/>
        </p:nvSpPr>
        <p:spPr>
          <a:xfrm>
            <a:off x="3931920" y="4899353"/>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96" name="TextBox 95"/>
          <p:cNvSpPr txBox="1"/>
          <p:nvPr/>
        </p:nvSpPr>
        <p:spPr>
          <a:xfrm>
            <a:off x="4553712" y="4899353"/>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97" name="TextBox 96"/>
          <p:cNvSpPr txBox="1"/>
          <p:nvPr/>
        </p:nvSpPr>
        <p:spPr>
          <a:xfrm>
            <a:off x="5870448" y="489935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1,000</a:t>
            </a:r>
          </a:p>
        </p:txBody>
      </p:sp>
      <p:sp>
        <p:nvSpPr>
          <p:cNvPr id="98" name="TextBox 97"/>
          <p:cNvSpPr txBox="1"/>
          <p:nvPr/>
        </p:nvSpPr>
        <p:spPr>
          <a:xfrm>
            <a:off x="6839712" y="489935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1,800</a:t>
            </a:r>
          </a:p>
        </p:txBody>
      </p:sp>
      <p:sp>
        <p:nvSpPr>
          <p:cNvPr id="99" name="TextBox 98"/>
          <p:cNvSpPr txBox="1"/>
          <p:nvPr/>
        </p:nvSpPr>
        <p:spPr>
          <a:xfrm>
            <a:off x="7808976" y="489935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2,500</a:t>
            </a:r>
          </a:p>
        </p:txBody>
      </p:sp>
      <p:sp>
        <p:nvSpPr>
          <p:cNvPr id="100" name="TextBox 99"/>
          <p:cNvSpPr txBox="1"/>
          <p:nvPr/>
        </p:nvSpPr>
        <p:spPr>
          <a:xfrm>
            <a:off x="8778240" y="489935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2,500</a:t>
            </a:r>
          </a:p>
        </p:txBody>
      </p:sp>
      <p:sp>
        <p:nvSpPr>
          <p:cNvPr id="101" name="TextBox 100"/>
          <p:cNvSpPr txBox="1"/>
          <p:nvPr/>
        </p:nvSpPr>
        <p:spPr>
          <a:xfrm>
            <a:off x="9747504" y="489935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2,500</a:t>
            </a:r>
          </a:p>
        </p:txBody>
      </p:sp>
      <p:sp>
        <p:nvSpPr>
          <p:cNvPr id="102" name="Rectangle 101"/>
          <p:cNvSpPr/>
          <p:nvPr/>
        </p:nvSpPr>
        <p:spPr>
          <a:xfrm>
            <a:off x="685800" y="5153556"/>
            <a:ext cx="10820095" cy="12700"/>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85800" y="5153556"/>
            <a:ext cx="10820095" cy="254203"/>
          </a:xfrm>
          <a:prstGeom prst="rect">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41832" y="5153556"/>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24282C"/>
                </a:solidFill>
                <a:latin typeface="Calibri"/>
              </a:rPr>
              <a:t>Net per year (benefit less cost)</a:t>
            </a:r>
          </a:p>
        </p:txBody>
      </p:sp>
      <p:sp>
        <p:nvSpPr>
          <p:cNvPr id="105" name="TextBox 104"/>
          <p:cNvSpPr txBox="1"/>
          <p:nvPr/>
        </p:nvSpPr>
        <p:spPr>
          <a:xfrm>
            <a:off x="3931920" y="5153556"/>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106" name="TextBox 105"/>
          <p:cNvSpPr txBox="1"/>
          <p:nvPr/>
        </p:nvSpPr>
        <p:spPr>
          <a:xfrm>
            <a:off x="4553712" y="5153556"/>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107" name="TextBox 106"/>
          <p:cNvSpPr txBox="1"/>
          <p:nvPr/>
        </p:nvSpPr>
        <p:spPr>
          <a:xfrm>
            <a:off x="5870448" y="5153556"/>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395268"/>
                </a:solidFill>
                <a:latin typeface="Calibri"/>
              </a:rPr>
              <a:t>4,052</a:t>
            </a:r>
          </a:p>
        </p:txBody>
      </p:sp>
      <p:sp>
        <p:nvSpPr>
          <p:cNvPr id="108" name="TextBox 107"/>
          <p:cNvSpPr txBox="1"/>
          <p:nvPr/>
        </p:nvSpPr>
        <p:spPr>
          <a:xfrm>
            <a:off x="6839712" y="5153556"/>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395268"/>
                </a:solidFill>
                <a:latin typeface="Calibri"/>
              </a:rPr>
              <a:t>7,194</a:t>
            </a:r>
          </a:p>
        </p:txBody>
      </p:sp>
      <p:sp>
        <p:nvSpPr>
          <p:cNvPr id="109" name="TextBox 108"/>
          <p:cNvSpPr txBox="1"/>
          <p:nvPr/>
        </p:nvSpPr>
        <p:spPr>
          <a:xfrm>
            <a:off x="7808976" y="5153556"/>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395268"/>
                </a:solidFill>
                <a:latin typeface="Calibri"/>
              </a:rPr>
              <a:t>9,294</a:t>
            </a:r>
          </a:p>
        </p:txBody>
      </p:sp>
      <p:sp>
        <p:nvSpPr>
          <p:cNvPr id="110" name="TextBox 109"/>
          <p:cNvSpPr txBox="1"/>
          <p:nvPr/>
        </p:nvSpPr>
        <p:spPr>
          <a:xfrm>
            <a:off x="8778240" y="5153556"/>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395268"/>
                </a:solidFill>
                <a:latin typeface="Calibri"/>
              </a:rPr>
              <a:t>9,294</a:t>
            </a:r>
          </a:p>
        </p:txBody>
      </p:sp>
      <p:sp>
        <p:nvSpPr>
          <p:cNvPr id="111" name="TextBox 110"/>
          <p:cNvSpPr txBox="1"/>
          <p:nvPr/>
        </p:nvSpPr>
        <p:spPr>
          <a:xfrm>
            <a:off x="9747504" y="5153556"/>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395268"/>
                </a:solidFill>
                <a:latin typeface="Calibri"/>
              </a:rPr>
              <a:t>9,294</a:t>
            </a:r>
          </a:p>
        </p:txBody>
      </p:sp>
      <p:sp>
        <p:nvSpPr>
          <p:cNvPr id="112" name="TextBox 111"/>
          <p:cNvSpPr txBox="1"/>
          <p:nvPr/>
        </p:nvSpPr>
        <p:spPr>
          <a:xfrm>
            <a:off x="685800" y="5435191"/>
            <a:ext cx="10820095" cy="457200"/>
          </a:xfrm>
          <a:prstGeom prst="rect">
            <a:avLst/>
          </a:prstGeom>
          <a:noFill/>
        </p:spPr>
        <p:txBody>
          <a:bodyPr wrap="square" anchor="t" lIns="0" rIns="0" tIns="0" bIns="0">
            <a:spAutoFit/>
          </a:bodyPr>
          <a:lstStyle/>
          <a:p>
            <a:pPr algn="l">
              <a:lnSpc>
                <a:spcPct val="118000"/>
              </a:lnSpc>
              <a:spcBef>
                <a:spcPts val="0"/>
              </a:spcBef>
              <a:spcAft>
                <a:spcPts val="200"/>
              </a:spcAft>
            </a:pPr>
            <a:r>
              <a:rPr sz="850" b="0" i="1">
                <a:solidFill>
                  <a:srgbClr val="9BA1A7"/>
                </a:solidFill>
                <a:latin typeface="Calibri"/>
              </a:rPr>
              <a:t>Costs are actual estimates (Rp Mio = million); license and maintenance priced as total contract value, with the annual charge in Y1 to Y5. 5-year cost ~Rp 1,272 Mio.</a:t>
            </a:r>
          </a:p>
          <a:p>
            <a:pPr algn="l">
              <a:lnSpc>
                <a:spcPct val="118000"/>
              </a:lnSpc>
              <a:spcBef>
                <a:spcPts val="0"/>
              </a:spcBef>
              <a:spcAft>
                <a:spcPts val="200"/>
              </a:spcAft>
            </a:pPr>
            <a:r>
              <a:rPr sz="850" b="0" i="1">
                <a:solidFill>
                  <a:srgbClr val="9BA1A7"/>
                </a:solidFill>
                <a:latin typeface="Calibri"/>
              </a:rPr>
              <a:t>About 10 minutes saved per frontliner per day (1,200 frontliners, ~240 days) valued at ~Rp 0.15 Mio/hour and ramping with adoption, plus a conservative customer-experience and cross-sell uplift. To be validated in pilot.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RISK, SECURITY &amp; GOVERNANCE</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The risks executives worry about most (accuracy, data security and auditability) are mitigated by design, not bolted on</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11</a:t>
            </a:r>
          </a:p>
        </p:txBody>
      </p:sp>
      <p:sp>
        <p:nvSpPr>
          <p:cNvPr id="10" name="Rectangle 9"/>
          <p:cNvSpPr/>
          <p:nvPr/>
        </p:nvSpPr>
        <p:spPr>
          <a:xfrm>
            <a:off x="685800" y="1847088"/>
            <a:ext cx="3423818" cy="3063240"/>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847088"/>
            <a:ext cx="3423818" cy="77724"/>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084832"/>
            <a:ext cx="2984906" cy="457200"/>
          </a:xfrm>
          <a:prstGeom prst="rect">
            <a:avLst/>
          </a:prstGeom>
          <a:noFill/>
        </p:spPr>
        <p:txBody>
          <a:bodyPr wrap="square" anchor="t" lIns="0" rIns="0" tIns="0" bIns="0">
            <a:spAutoFit/>
          </a:bodyPr>
          <a:lstStyle/>
          <a:p>
            <a:pPr algn="l">
              <a:lnSpc>
                <a:spcPct val="106000"/>
              </a:lnSpc>
              <a:spcBef>
                <a:spcPts val="0"/>
              </a:spcBef>
              <a:spcAft>
                <a:spcPts val="0"/>
              </a:spcAft>
            </a:pPr>
            <a:r>
              <a:rPr sz="1550" b="1" i="0">
                <a:solidFill>
                  <a:srgbClr val="24282C"/>
                </a:solidFill>
                <a:latin typeface="Calibri"/>
              </a:rPr>
              <a:t>Accuracy &amp; trust</a:t>
            </a:r>
          </a:p>
        </p:txBody>
      </p:sp>
      <p:sp>
        <p:nvSpPr>
          <p:cNvPr id="13" name="TextBox 12"/>
          <p:cNvSpPr txBox="1"/>
          <p:nvPr/>
        </p:nvSpPr>
        <p:spPr>
          <a:xfrm>
            <a:off x="905256" y="2633472"/>
            <a:ext cx="3003194" cy="365760"/>
          </a:xfrm>
          <a:prstGeom prst="rect">
            <a:avLst/>
          </a:prstGeom>
          <a:noFill/>
        </p:spPr>
        <p:txBody>
          <a:bodyPr wrap="square" lIns="0" rIns="0" tIns="0" bIns="0">
            <a:spAutoFit/>
          </a:bodyPr>
          <a:lstStyle/>
          <a:p>
            <a:pPr>
              <a:lnSpc>
                <a:spcPct val="108000"/>
              </a:lnSpc>
              <a:spcBef>
                <a:spcPts val="0"/>
              </a:spcBef>
              <a:spcAft>
                <a:spcPts val="1100"/>
              </a:spcAft>
            </a:pPr>
            <a:r>
              <a:rPr sz="1100" b="1">
                <a:solidFill>
                  <a:srgbClr val="E4002B"/>
                </a:solidFill>
              </a:rPr>
              <a:t>▪  </a:t>
            </a:r>
            <a:r>
              <a:rPr sz="1250" b="1">
                <a:solidFill>
                  <a:srgbClr val="202428"/>
                </a:solidFill>
              </a:rPr>
              <a:t>Answers come only from approved bank content</a:t>
            </a:r>
          </a:p>
          <a:p>
            <a:pPr>
              <a:lnSpc>
                <a:spcPct val="108000"/>
              </a:lnSpc>
              <a:spcBef>
                <a:spcPts val="0"/>
              </a:spcBef>
              <a:spcAft>
                <a:spcPts val="1100"/>
              </a:spcAft>
            </a:pPr>
            <a:r>
              <a:rPr sz="1100" b="1">
                <a:solidFill>
                  <a:srgbClr val="E4002B"/>
                </a:solidFill>
              </a:rPr>
              <a:t>▪  </a:t>
            </a:r>
            <a:r>
              <a:rPr sz="1250" b="1">
                <a:solidFill>
                  <a:srgbClr val="202428"/>
                </a:solidFill>
              </a:rPr>
              <a:t>Every answer shows its source, so it can be checked</a:t>
            </a:r>
          </a:p>
          <a:p>
            <a:pPr>
              <a:lnSpc>
                <a:spcPct val="108000"/>
              </a:lnSpc>
              <a:spcBef>
                <a:spcPts val="0"/>
              </a:spcBef>
              <a:spcAft>
                <a:spcPts val="1100"/>
              </a:spcAft>
            </a:pPr>
            <a:r>
              <a:rPr sz="1100" b="1">
                <a:solidFill>
                  <a:srgbClr val="E4002B"/>
                </a:solidFill>
              </a:rPr>
              <a:t>▪  </a:t>
            </a:r>
            <a:r>
              <a:rPr sz="1250" b="1">
                <a:solidFill>
                  <a:srgbClr val="202428"/>
                </a:solidFill>
              </a:rPr>
              <a:t>Expired offers are flagged; if there's no answer, it says so</a:t>
            </a:r>
          </a:p>
        </p:txBody>
      </p:sp>
      <p:sp>
        <p:nvSpPr>
          <p:cNvPr id="14" name="Rectangle 13"/>
          <p:cNvSpPr/>
          <p:nvPr/>
        </p:nvSpPr>
        <p:spPr>
          <a:xfrm>
            <a:off x="4383938" y="1847088"/>
            <a:ext cx="3423818" cy="3063240"/>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3938" y="1847088"/>
            <a:ext cx="3423818" cy="77724"/>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3394" y="2084832"/>
            <a:ext cx="2984906" cy="457200"/>
          </a:xfrm>
          <a:prstGeom prst="rect">
            <a:avLst/>
          </a:prstGeom>
          <a:noFill/>
        </p:spPr>
        <p:txBody>
          <a:bodyPr wrap="square" anchor="t" lIns="0" rIns="0" tIns="0" bIns="0">
            <a:spAutoFit/>
          </a:bodyPr>
          <a:lstStyle/>
          <a:p>
            <a:pPr algn="l">
              <a:lnSpc>
                <a:spcPct val="106000"/>
              </a:lnSpc>
              <a:spcBef>
                <a:spcPts val="0"/>
              </a:spcBef>
              <a:spcAft>
                <a:spcPts val="0"/>
              </a:spcAft>
            </a:pPr>
            <a:r>
              <a:rPr sz="1550" b="1" i="0">
                <a:solidFill>
                  <a:srgbClr val="24282C"/>
                </a:solidFill>
                <a:latin typeface="Calibri"/>
              </a:rPr>
              <a:t>Data security &amp; privacy</a:t>
            </a:r>
          </a:p>
        </p:txBody>
      </p:sp>
      <p:sp>
        <p:nvSpPr>
          <p:cNvPr id="17" name="TextBox 16"/>
          <p:cNvSpPr txBox="1"/>
          <p:nvPr/>
        </p:nvSpPr>
        <p:spPr>
          <a:xfrm>
            <a:off x="4603394" y="2633472"/>
            <a:ext cx="3003194" cy="365760"/>
          </a:xfrm>
          <a:prstGeom prst="rect">
            <a:avLst/>
          </a:prstGeom>
          <a:noFill/>
        </p:spPr>
        <p:txBody>
          <a:bodyPr wrap="square" lIns="0" rIns="0" tIns="0" bIns="0">
            <a:spAutoFit/>
          </a:bodyPr>
          <a:lstStyle/>
          <a:p>
            <a:pPr>
              <a:lnSpc>
                <a:spcPct val="108000"/>
              </a:lnSpc>
              <a:spcBef>
                <a:spcPts val="0"/>
              </a:spcBef>
              <a:spcAft>
                <a:spcPts val="1100"/>
              </a:spcAft>
            </a:pPr>
            <a:r>
              <a:rPr sz="1100" b="1">
                <a:solidFill>
                  <a:srgbClr val="E4002B"/>
                </a:solidFill>
              </a:rPr>
              <a:t>▪  </a:t>
            </a:r>
            <a:r>
              <a:rPr sz="1250" b="1">
                <a:solidFill>
                  <a:srgbClr val="202428"/>
                </a:solidFill>
              </a:rPr>
              <a:t>Runs in a tightly controlled, secure environment</a:t>
            </a:r>
          </a:p>
          <a:p>
            <a:pPr>
              <a:lnSpc>
                <a:spcPct val="108000"/>
              </a:lnSpc>
              <a:spcBef>
                <a:spcPts val="0"/>
              </a:spcBef>
              <a:spcAft>
                <a:spcPts val="1100"/>
              </a:spcAft>
            </a:pPr>
            <a:r>
              <a:rPr sz="1100" b="1">
                <a:solidFill>
                  <a:srgbClr val="E4002B"/>
                </a:solidFill>
              </a:rPr>
              <a:t>▪  </a:t>
            </a:r>
            <a:r>
              <a:rPr sz="1250" b="1">
                <a:solidFill>
                  <a:srgbClr val="202428"/>
                </a:solidFill>
              </a:rPr>
              <a:t>Can run entirely inside the bank, no data leaves</a:t>
            </a:r>
          </a:p>
          <a:p>
            <a:pPr>
              <a:lnSpc>
                <a:spcPct val="108000"/>
              </a:lnSpc>
              <a:spcBef>
                <a:spcPts val="0"/>
              </a:spcBef>
              <a:spcAft>
                <a:spcPts val="1100"/>
              </a:spcAft>
            </a:pPr>
            <a:r>
              <a:rPr sz="1100" b="1">
                <a:solidFill>
                  <a:srgbClr val="E4002B"/>
                </a:solidFill>
              </a:rPr>
              <a:t>▪  </a:t>
            </a:r>
            <a:r>
              <a:rPr sz="1250" b="1">
                <a:solidFill>
                  <a:srgbClr val="202428"/>
                </a:solidFill>
              </a:rPr>
              <a:t>Never handles customer secrets such as PINs or passwords</a:t>
            </a:r>
          </a:p>
        </p:txBody>
      </p:sp>
      <p:sp>
        <p:nvSpPr>
          <p:cNvPr id="18" name="Rectangle 17"/>
          <p:cNvSpPr/>
          <p:nvPr/>
        </p:nvSpPr>
        <p:spPr>
          <a:xfrm>
            <a:off x="8082076" y="1847088"/>
            <a:ext cx="3423818" cy="3063240"/>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2076" y="1847088"/>
            <a:ext cx="3423818" cy="77724"/>
          </a:xfrm>
          <a:prstGeom prst="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1532" y="2084832"/>
            <a:ext cx="2984906" cy="457200"/>
          </a:xfrm>
          <a:prstGeom prst="rect">
            <a:avLst/>
          </a:prstGeom>
          <a:noFill/>
        </p:spPr>
        <p:txBody>
          <a:bodyPr wrap="square" anchor="t" lIns="0" rIns="0" tIns="0" bIns="0">
            <a:spAutoFit/>
          </a:bodyPr>
          <a:lstStyle/>
          <a:p>
            <a:pPr algn="l">
              <a:lnSpc>
                <a:spcPct val="106000"/>
              </a:lnSpc>
              <a:spcBef>
                <a:spcPts val="0"/>
              </a:spcBef>
              <a:spcAft>
                <a:spcPts val="0"/>
              </a:spcAft>
            </a:pPr>
            <a:r>
              <a:rPr sz="1550" b="1" i="0">
                <a:solidFill>
                  <a:srgbClr val="24282C"/>
                </a:solidFill>
                <a:latin typeface="Calibri"/>
              </a:rPr>
              <a:t>Content governance (CMS Hub)</a:t>
            </a:r>
          </a:p>
        </p:txBody>
      </p:sp>
      <p:sp>
        <p:nvSpPr>
          <p:cNvPr id="21" name="TextBox 20"/>
          <p:cNvSpPr txBox="1"/>
          <p:nvPr/>
        </p:nvSpPr>
        <p:spPr>
          <a:xfrm>
            <a:off x="8301532" y="2633472"/>
            <a:ext cx="3003194" cy="365760"/>
          </a:xfrm>
          <a:prstGeom prst="rect">
            <a:avLst/>
          </a:prstGeom>
          <a:noFill/>
        </p:spPr>
        <p:txBody>
          <a:bodyPr wrap="square" lIns="0" rIns="0" tIns="0" bIns="0">
            <a:spAutoFit/>
          </a:bodyPr>
          <a:lstStyle/>
          <a:p>
            <a:pPr>
              <a:lnSpc>
                <a:spcPct val="108000"/>
              </a:lnSpc>
              <a:spcBef>
                <a:spcPts val="0"/>
              </a:spcBef>
              <a:spcAft>
                <a:spcPts val="1100"/>
              </a:spcAft>
            </a:pPr>
            <a:r>
              <a:rPr sz="1100" b="1">
                <a:solidFill>
                  <a:srgbClr val="E4002B"/>
                </a:solidFill>
              </a:rPr>
              <a:t>▪  </a:t>
            </a:r>
            <a:r>
              <a:rPr sz="1250" b="1">
                <a:solidFill>
                  <a:srgbClr val="202428"/>
                </a:solidFill>
              </a:rPr>
              <a:t>Product Owners keep the CMS Hub current, the single source of truth</a:t>
            </a:r>
          </a:p>
          <a:p>
            <a:pPr>
              <a:lnSpc>
                <a:spcPct val="108000"/>
              </a:lnSpc>
              <a:spcBef>
                <a:spcPts val="0"/>
              </a:spcBef>
              <a:spcAft>
                <a:spcPts val="1100"/>
              </a:spcAft>
            </a:pPr>
            <a:r>
              <a:rPr sz="1100" b="1">
                <a:solidFill>
                  <a:srgbClr val="E4002B"/>
                </a:solidFill>
              </a:rPr>
              <a:t>▪  </a:t>
            </a:r>
            <a:r>
              <a:rPr sz="1250" b="1">
                <a:solidFill>
                  <a:srgbClr val="202428"/>
                </a:solidFill>
              </a:rPr>
              <a:t>Start and end dates set at upload, so expired offers are never served</a:t>
            </a:r>
          </a:p>
          <a:p>
            <a:pPr>
              <a:lnSpc>
                <a:spcPct val="108000"/>
              </a:lnSpc>
              <a:spcBef>
                <a:spcPts val="0"/>
              </a:spcBef>
              <a:spcAft>
                <a:spcPts val="1100"/>
              </a:spcAft>
            </a:pPr>
            <a:r>
              <a:rPr sz="1100" b="1">
                <a:solidFill>
                  <a:srgbClr val="E4002B"/>
                </a:solidFill>
              </a:rPr>
              <a:t>▪  </a:t>
            </a:r>
            <a:r>
              <a:rPr sz="1250" b="1">
                <a:solidFill>
                  <a:srgbClr val="202428"/>
                </a:solidFill>
              </a:rPr>
              <a:t>Dual control on uploads; every change is logged and auditable</a:t>
            </a:r>
          </a:p>
        </p:txBody>
      </p:sp>
      <p:sp>
        <p:nvSpPr>
          <p:cNvPr id="22" name="Rectangle 21"/>
          <p:cNvSpPr/>
          <p:nvPr/>
        </p:nvSpPr>
        <p:spPr>
          <a:xfrm>
            <a:off x="685800" y="5257800"/>
            <a:ext cx="10820095" cy="658368"/>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5257800"/>
            <a:ext cx="64008" cy="658368"/>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1832" y="5257800"/>
            <a:ext cx="10362895" cy="658368"/>
          </a:xfrm>
          <a:prstGeom prst="rect">
            <a:avLst/>
          </a:prstGeom>
          <a:noFill/>
        </p:spPr>
        <p:txBody>
          <a:bodyPr wrap="square" anchor="ctr" lIns="0" rIns="0" tIns="0" bIns="0">
            <a:spAutoFit/>
          </a:bodyPr>
          <a:lstStyle/>
          <a:p>
            <a:pPr algn="l">
              <a:lnSpc>
                <a:spcPct val="108000"/>
              </a:lnSpc>
              <a:spcBef>
                <a:spcPts val="0"/>
              </a:spcBef>
              <a:spcAft>
                <a:spcPts val="0"/>
              </a:spcAft>
            </a:pPr>
            <a:r>
              <a:rPr sz="1400" b="1" i="0">
                <a:solidFill>
                  <a:srgbClr val="E4002B"/>
                </a:solidFill>
                <a:latin typeface="Calibri"/>
              </a:rPr>
              <a:t>Bottom line:  </a:t>
            </a:r>
            <a:r>
              <a:rPr sz="1400" b="1" i="0">
                <a:solidFill>
                  <a:srgbClr val="24282C"/>
                </a:solidFill>
                <a:latin typeface="Calibri"/>
              </a:rPr>
              <a:t>the process assigns clear ownership: Product Owners must keep materials and their start/end dates current in the CMS Hub, so OSG always answers from approved, in-force content, with every answer traceable to source.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USER FEEDBACK</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What our users say about OSG</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12</a:t>
            </a:r>
          </a:p>
        </p:txBody>
      </p:sp>
      <p:sp>
        <p:nvSpPr>
          <p:cNvPr id="10" name="Rounded Rectangle 9"/>
          <p:cNvSpPr/>
          <p:nvPr/>
        </p:nvSpPr>
        <p:spPr>
          <a:xfrm>
            <a:off x="685800" y="1874519"/>
            <a:ext cx="3362858" cy="4160520"/>
          </a:xfrm>
          <a:prstGeom prst="round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1874519"/>
            <a:ext cx="73152" cy="4160520"/>
          </a:xfrm>
          <a:prstGeom prst="round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1929383"/>
            <a:ext cx="914400" cy="640080"/>
          </a:xfrm>
          <a:prstGeom prst="rect">
            <a:avLst/>
          </a:prstGeom>
          <a:noFill/>
        </p:spPr>
        <p:txBody>
          <a:bodyPr wrap="square" anchor="t" lIns="0" rIns="0" tIns="0" bIns="0">
            <a:spAutoFit/>
          </a:bodyPr>
          <a:lstStyle/>
          <a:p>
            <a:pPr algn="l">
              <a:lnSpc>
                <a:spcPct val="106000"/>
              </a:lnSpc>
              <a:spcBef>
                <a:spcPts val="0"/>
              </a:spcBef>
              <a:spcAft>
                <a:spcPts val="0"/>
              </a:spcAft>
            </a:pPr>
            <a:r>
              <a:rPr sz="4400" b="1" i="0">
                <a:solidFill>
                  <a:srgbClr val="395268"/>
                </a:solidFill>
                <a:latin typeface="Calibri"/>
              </a:rPr>
              <a:t>“</a:t>
            </a:r>
          </a:p>
        </p:txBody>
      </p:sp>
      <p:sp>
        <p:nvSpPr>
          <p:cNvPr id="13" name="TextBox 12"/>
          <p:cNvSpPr txBox="1"/>
          <p:nvPr/>
        </p:nvSpPr>
        <p:spPr>
          <a:xfrm>
            <a:off x="960120" y="2660903"/>
            <a:ext cx="2832506" cy="2459736"/>
          </a:xfrm>
          <a:prstGeom prst="rect">
            <a:avLst/>
          </a:prstGeom>
          <a:noFill/>
        </p:spPr>
        <p:txBody>
          <a:bodyPr wrap="square" anchor="t" lIns="0" rIns="0" tIns="0" bIns="0">
            <a:spAutoFit/>
          </a:bodyPr>
          <a:lstStyle/>
          <a:p>
            <a:pPr algn="l">
              <a:lnSpc>
                <a:spcPct val="128000"/>
              </a:lnSpc>
              <a:spcBef>
                <a:spcPts val="0"/>
              </a:spcBef>
              <a:spcAft>
                <a:spcPts val="0"/>
              </a:spcAft>
            </a:pPr>
            <a:r>
              <a:rPr sz="1200" b="0" i="1">
                <a:solidFill>
                  <a:srgbClr val="4C5359"/>
                </a:solidFill>
                <a:latin typeface="Calibri"/>
              </a:rPr>
              <a:t>Add the user’s feedback statement here. Share a real quote about how OSG changed their day.</a:t>
            </a:r>
          </a:p>
        </p:txBody>
      </p:sp>
      <p:sp>
        <p:nvSpPr>
          <p:cNvPr id="14" name="Rectangle 13"/>
          <p:cNvSpPr/>
          <p:nvPr/>
        </p:nvSpPr>
        <p:spPr>
          <a:xfrm>
            <a:off x="960120" y="5175503"/>
            <a:ext cx="2832506"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60120" y="5303519"/>
            <a:ext cx="566928" cy="566928"/>
          </a:xfrm>
          <a:prstGeom prst="ellipse">
            <a:avLst/>
          </a:prstGeom>
          <a:solidFill>
            <a:srgbClr val="E6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58545" y="5394227"/>
            <a:ext cx="170078" cy="170078"/>
          </a:xfrm>
          <a:prstGeom prst="ellipse">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73506" y="5609660"/>
            <a:ext cx="340156" cy="260786"/>
          </a:xfrm>
          <a:prstGeom prst="ellipse">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55064" y="5285231"/>
            <a:ext cx="2174138" cy="640080"/>
          </a:xfrm>
          <a:prstGeom prst="rect">
            <a:avLst/>
          </a:prstGeom>
          <a:noFill/>
        </p:spPr>
        <p:txBody>
          <a:bodyPr wrap="square" anchor="ctr" lIns="0" rIns="0" tIns="0" bIns="0">
            <a:spAutoFit/>
          </a:bodyPr>
          <a:lstStyle/>
          <a:p>
            <a:pPr algn="l">
              <a:lnSpc>
                <a:spcPct val="105000"/>
              </a:lnSpc>
              <a:spcBef>
                <a:spcPts val="0"/>
              </a:spcBef>
              <a:spcAft>
                <a:spcPts val="100"/>
              </a:spcAft>
            </a:pPr>
            <a:r>
              <a:rPr sz="1250" b="1" i="0">
                <a:solidFill>
                  <a:srgbClr val="24282C"/>
                </a:solidFill>
                <a:latin typeface="Calibri"/>
              </a:rPr>
              <a:t>Username</a:t>
            </a:r>
          </a:p>
          <a:p>
            <a:pPr algn="l">
              <a:lnSpc>
                <a:spcPct val="105000"/>
              </a:lnSpc>
              <a:spcBef>
                <a:spcPts val="0"/>
              </a:spcBef>
              <a:spcAft>
                <a:spcPts val="100"/>
              </a:spcAft>
            </a:pPr>
            <a:r>
              <a:rPr sz="1000" b="0" i="0">
                <a:solidFill>
                  <a:srgbClr val="6A7177"/>
                </a:solidFill>
                <a:latin typeface="Calibri"/>
              </a:rPr>
              <a:t>Title / Role · Branch</a:t>
            </a:r>
          </a:p>
        </p:txBody>
      </p:sp>
      <p:sp>
        <p:nvSpPr>
          <p:cNvPr id="19" name="Rounded Rectangle 18"/>
          <p:cNvSpPr/>
          <p:nvPr/>
        </p:nvSpPr>
        <p:spPr>
          <a:xfrm>
            <a:off x="4414418" y="1874519"/>
            <a:ext cx="3362858" cy="4160520"/>
          </a:xfrm>
          <a:prstGeom prst="round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4418" y="1874519"/>
            <a:ext cx="73152" cy="4160520"/>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52162" y="1929383"/>
            <a:ext cx="914400" cy="640080"/>
          </a:xfrm>
          <a:prstGeom prst="rect">
            <a:avLst/>
          </a:prstGeom>
          <a:noFill/>
        </p:spPr>
        <p:txBody>
          <a:bodyPr wrap="square" anchor="t" lIns="0" rIns="0" tIns="0" bIns="0">
            <a:spAutoFit/>
          </a:bodyPr>
          <a:lstStyle/>
          <a:p>
            <a:pPr algn="l">
              <a:lnSpc>
                <a:spcPct val="106000"/>
              </a:lnSpc>
              <a:spcBef>
                <a:spcPts val="0"/>
              </a:spcBef>
              <a:spcAft>
                <a:spcPts val="0"/>
              </a:spcAft>
            </a:pPr>
            <a:r>
              <a:rPr sz="4400" b="1" i="0">
                <a:solidFill>
                  <a:srgbClr val="E4002B"/>
                </a:solidFill>
                <a:latin typeface="Calibri"/>
              </a:rPr>
              <a:t>“</a:t>
            </a:r>
          </a:p>
        </p:txBody>
      </p:sp>
      <p:sp>
        <p:nvSpPr>
          <p:cNvPr id="22" name="TextBox 21"/>
          <p:cNvSpPr txBox="1"/>
          <p:nvPr/>
        </p:nvSpPr>
        <p:spPr>
          <a:xfrm>
            <a:off x="4688738" y="2660903"/>
            <a:ext cx="2832506" cy="2459736"/>
          </a:xfrm>
          <a:prstGeom prst="rect">
            <a:avLst/>
          </a:prstGeom>
          <a:noFill/>
        </p:spPr>
        <p:txBody>
          <a:bodyPr wrap="square" anchor="t" lIns="0" rIns="0" tIns="0" bIns="0">
            <a:spAutoFit/>
          </a:bodyPr>
          <a:lstStyle/>
          <a:p>
            <a:pPr algn="l">
              <a:lnSpc>
                <a:spcPct val="128000"/>
              </a:lnSpc>
              <a:spcBef>
                <a:spcPts val="0"/>
              </a:spcBef>
              <a:spcAft>
                <a:spcPts val="0"/>
              </a:spcAft>
            </a:pPr>
            <a:r>
              <a:rPr sz="1200" b="0" i="1">
                <a:solidFill>
                  <a:srgbClr val="4C5359"/>
                </a:solidFill>
                <a:latin typeface="Calibri"/>
              </a:rPr>
              <a:t>Add the user’s feedback statement here. Keep it short, specific and in their own words.</a:t>
            </a:r>
          </a:p>
        </p:txBody>
      </p:sp>
      <p:sp>
        <p:nvSpPr>
          <p:cNvPr id="23" name="Rectangle 22"/>
          <p:cNvSpPr/>
          <p:nvPr/>
        </p:nvSpPr>
        <p:spPr>
          <a:xfrm>
            <a:off x="4688738" y="5175503"/>
            <a:ext cx="2832506"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688738" y="5303519"/>
            <a:ext cx="566928" cy="566928"/>
          </a:xfrm>
          <a:prstGeom prst="ellipse">
            <a:avLst/>
          </a:prstGeom>
          <a:solidFill>
            <a:srgbClr val="E6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87163" y="5394227"/>
            <a:ext cx="170078" cy="17007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802124" y="5609660"/>
            <a:ext cx="340156" cy="260786"/>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83682" y="5285231"/>
            <a:ext cx="2174138" cy="640080"/>
          </a:xfrm>
          <a:prstGeom prst="rect">
            <a:avLst/>
          </a:prstGeom>
          <a:noFill/>
        </p:spPr>
        <p:txBody>
          <a:bodyPr wrap="square" anchor="ctr" lIns="0" rIns="0" tIns="0" bIns="0">
            <a:spAutoFit/>
          </a:bodyPr>
          <a:lstStyle/>
          <a:p>
            <a:pPr algn="l">
              <a:lnSpc>
                <a:spcPct val="105000"/>
              </a:lnSpc>
              <a:spcBef>
                <a:spcPts val="0"/>
              </a:spcBef>
              <a:spcAft>
                <a:spcPts val="100"/>
              </a:spcAft>
            </a:pPr>
            <a:r>
              <a:rPr sz="1250" b="1" i="0">
                <a:solidFill>
                  <a:srgbClr val="24282C"/>
                </a:solidFill>
                <a:latin typeface="Calibri"/>
              </a:rPr>
              <a:t>Username</a:t>
            </a:r>
          </a:p>
          <a:p>
            <a:pPr algn="l">
              <a:lnSpc>
                <a:spcPct val="105000"/>
              </a:lnSpc>
              <a:spcBef>
                <a:spcPts val="0"/>
              </a:spcBef>
              <a:spcAft>
                <a:spcPts val="100"/>
              </a:spcAft>
            </a:pPr>
            <a:r>
              <a:rPr sz="1000" b="0" i="0">
                <a:solidFill>
                  <a:srgbClr val="6A7177"/>
                </a:solidFill>
                <a:latin typeface="Calibri"/>
              </a:rPr>
              <a:t>Title / Role · Branch</a:t>
            </a:r>
          </a:p>
        </p:txBody>
      </p:sp>
      <p:sp>
        <p:nvSpPr>
          <p:cNvPr id="28" name="Rounded Rectangle 27"/>
          <p:cNvSpPr/>
          <p:nvPr/>
        </p:nvSpPr>
        <p:spPr>
          <a:xfrm>
            <a:off x="8143036" y="1874519"/>
            <a:ext cx="3362858" cy="4160520"/>
          </a:xfrm>
          <a:prstGeom prst="round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143036" y="1874519"/>
            <a:ext cx="73152" cy="4160520"/>
          </a:xfrm>
          <a:prstGeom prst="round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0780" y="1929383"/>
            <a:ext cx="914400" cy="640080"/>
          </a:xfrm>
          <a:prstGeom prst="rect">
            <a:avLst/>
          </a:prstGeom>
          <a:noFill/>
        </p:spPr>
        <p:txBody>
          <a:bodyPr wrap="square" anchor="t" lIns="0" rIns="0" tIns="0" bIns="0">
            <a:spAutoFit/>
          </a:bodyPr>
          <a:lstStyle/>
          <a:p>
            <a:pPr algn="l">
              <a:lnSpc>
                <a:spcPct val="106000"/>
              </a:lnSpc>
              <a:spcBef>
                <a:spcPts val="0"/>
              </a:spcBef>
              <a:spcAft>
                <a:spcPts val="0"/>
              </a:spcAft>
            </a:pPr>
            <a:r>
              <a:rPr sz="4400" b="1" i="0">
                <a:solidFill>
                  <a:srgbClr val="B0812C"/>
                </a:solidFill>
                <a:latin typeface="Calibri"/>
              </a:rPr>
              <a:t>“</a:t>
            </a:r>
          </a:p>
        </p:txBody>
      </p:sp>
      <p:sp>
        <p:nvSpPr>
          <p:cNvPr id="31" name="TextBox 30"/>
          <p:cNvSpPr txBox="1"/>
          <p:nvPr/>
        </p:nvSpPr>
        <p:spPr>
          <a:xfrm>
            <a:off x="8417356" y="2660903"/>
            <a:ext cx="2832506" cy="2459736"/>
          </a:xfrm>
          <a:prstGeom prst="rect">
            <a:avLst/>
          </a:prstGeom>
          <a:noFill/>
        </p:spPr>
        <p:txBody>
          <a:bodyPr wrap="square" anchor="t" lIns="0" rIns="0" tIns="0" bIns="0">
            <a:spAutoFit/>
          </a:bodyPr>
          <a:lstStyle/>
          <a:p>
            <a:pPr algn="l">
              <a:lnSpc>
                <a:spcPct val="128000"/>
              </a:lnSpc>
              <a:spcBef>
                <a:spcPts val="0"/>
              </a:spcBef>
              <a:spcAft>
                <a:spcPts val="0"/>
              </a:spcAft>
            </a:pPr>
            <a:r>
              <a:rPr sz="1200" b="0" i="1">
                <a:solidFill>
                  <a:srgbClr val="4C5359"/>
                </a:solidFill>
                <a:latin typeface="Calibri"/>
              </a:rPr>
              <a:t>Add the user’s feedback statement here. A number or a before/after detail makes it land.</a:t>
            </a:r>
          </a:p>
        </p:txBody>
      </p:sp>
      <p:sp>
        <p:nvSpPr>
          <p:cNvPr id="32" name="Rectangle 31"/>
          <p:cNvSpPr/>
          <p:nvPr/>
        </p:nvSpPr>
        <p:spPr>
          <a:xfrm>
            <a:off x="8417356" y="5175503"/>
            <a:ext cx="2832506"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17356" y="5303519"/>
            <a:ext cx="566928" cy="566928"/>
          </a:xfrm>
          <a:prstGeom prst="ellipse">
            <a:avLst/>
          </a:prstGeom>
          <a:solidFill>
            <a:srgbClr val="E6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615781" y="5394227"/>
            <a:ext cx="170078" cy="170078"/>
          </a:xfrm>
          <a:prstGeom prst="ellipse">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530742" y="5609660"/>
            <a:ext cx="340156" cy="260786"/>
          </a:xfrm>
          <a:prstGeom prst="ellipse">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12300" y="5285231"/>
            <a:ext cx="2174138" cy="640080"/>
          </a:xfrm>
          <a:prstGeom prst="rect">
            <a:avLst/>
          </a:prstGeom>
          <a:noFill/>
        </p:spPr>
        <p:txBody>
          <a:bodyPr wrap="square" anchor="ctr" lIns="0" rIns="0" tIns="0" bIns="0">
            <a:spAutoFit/>
          </a:bodyPr>
          <a:lstStyle/>
          <a:p>
            <a:pPr algn="l">
              <a:lnSpc>
                <a:spcPct val="105000"/>
              </a:lnSpc>
              <a:spcBef>
                <a:spcPts val="0"/>
              </a:spcBef>
              <a:spcAft>
                <a:spcPts val="100"/>
              </a:spcAft>
            </a:pPr>
            <a:r>
              <a:rPr sz="1250" b="1" i="0">
                <a:solidFill>
                  <a:srgbClr val="24282C"/>
                </a:solidFill>
                <a:latin typeface="Calibri"/>
              </a:rPr>
              <a:t>Username</a:t>
            </a:r>
          </a:p>
          <a:p>
            <a:pPr algn="l">
              <a:lnSpc>
                <a:spcPct val="105000"/>
              </a:lnSpc>
              <a:spcBef>
                <a:spcPts val="0"/>
              </a:spcBef>
              <a:spcAft>
                <a:spcPts val="100"/>
              </a:spcAft>
            </a:pPr>
            <a:r>
              <a:rPr sz="1000" b="0" i="0">
                <a:solidFill>
                  <a:srgbClr val="6A7177"/>
                </a:solidFill>
                <a:latin typeface="Calibri"/>
              </a:rPr>
              <a:t>Title / Role · Branch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USER FEEDBACK</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More voices from the pilot</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13</a:t>
            </a:r>
          </a:p>
        </p:txBody>
      </p:sp>
      <p:sp>
        <p:nvSpPr>
          <p:cNvPr id="10" name="Rounded Rectangle 9"/>
          <p:cNvSpPr/>
          <p:nvPr/>
        </p:nvSpPr>
        <p:spPr>
          <a:xfrm>
            <a:off x="685800" y="1874519"/>
            <a:ext cx="3362858" cy="4160520"/>
          </a:xfrm>
          <a:prstGeom prst="round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1874519"/>
            <a:ext cx="73152" cy="4160520"/>
          </a:xfrm>
          <a:prstGeom prst="round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1929383"/>
            <a:ext cx="914400" cy="640080"/>
          </a:xfrm>
          <a:prstGeom prst="rect">
            <a:avLst/>
          </a:prstGeom>
          <a:noFill/>
        </p:spPr>
        <p:txBody>
          <a:bodyPr wrap="square" anchor="t" lIns="0" rIns="0" tIns="0" bIns="0">
            <a:spAutoFit/>
          </a:bodyPr>
          <a:lstStyle/>
          <a:p>
            <a:pPr algn="l">
              <a:lnSpc>
                <a:spcPct val="106000"/>
              </a:lnSpc>
              <a:spcBef>
                <a:spcPts val="0"/>
              </a:spcBef>
              <a:spcAft>
                <a:spcPts val="0"/>
              </a:spcAft>
            </a:pPr>
            <a:r>
              <a:rPr sz="4400" b="1" i="0">
                <a:solidFill>
                  <a:srgbClr val="24282C"/>
                </a:solidFill>
                <a:latin typeface="Calibri"/>
              </a:rPr>
              <a:t>“</a:t>
            </a:r>
          </a:p>
        </p:txBody>
      </p:sp>
      <p:sp>
        <p:nvSpPr>
          <p:cNvPr id="13" name="TextBox 12"/>
          <p:cNvSpPr txBox="1"/>
          <p:nvPr/>
        </p:nvSpPr>
        <p:spPr>
          <a:xfrm>
            <a:off x="960120" y="2660903"/>
            <a:ext cx="2832506" cy="2459736"/>
          </a:xfrm>
          <a:prstGeom prst="rect">
            <a:avLst/>
          </a:prstGeom>
          <a:noFill/>
        </p:spPr>
        <p:txBody>
          <a:bodyPr wrap="square" anchor="t" lIns="0" rIns="0" tIns="0" bIns="0">
            <a:spAutoFit/>
          </a:bodyPr>
          <a:lstStyle/>
          <a:p>
            <a:pPr algn="l">
              <a:lnSpc>
                <a:spcPct val="128000"/>
              </a:lnSpc>
              <a:spcBef>
                <a:spcPts val="0"/>
              </a:spcBef>
              <a:spcAft>
                <a:spcPts val="0"/>
              </a:spcAft>
            </a:pPr>
            <a:r>
              <a:rPr sz="1200" b="0" i="1">
                <a:solidFill>
                  <a:srgbClr val="4C5359"/>
                </a:solidFill>
                <a:latin typeface="Calibri"/>
              </a:rPr>
              <a:t>Add the user’s feedback statement here. A Product Owner or branch lead perspective works well on this slide.</a:t>
            </a:r>
          </a:p>
        </p:txBody>
      </p:sp>
      <p:sp>
        <p:nvSpPr>
          <p:cNvPr id="14" name="Rectangle 13"/>
          <p:cNvSpPr/>
          <p:nvPr/>
        </p:nvSpPr>
        <p:spPr>
          <a:xfrm>
            <a:off x="960120" y="5175503"/>
            <a:ext cx="2832506"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60120" y="5303519"/>
            <a:ext cx="566928" cy="566928"/>
          </a:xfrm>
          <a:prstGeom prst="ellipse">
            <a:avLst/>
          </a:prstGeom>
          <a:solidFill>
            <a:srgbClr val="E6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58545" y="5394227"/>
            <a:ext cx="170078" cy="170078"/>
          </a:xfrm>
          <a:prstGeom prst="ellipse">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73506" y="5609660"/>
            <a:ext cx="340156" cy="260786"/>
          </a:xfrm>
          <a:prstGeom prst="ellipse">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55064" y="5285231"/>
            <a:ext cx="2174138" cy="640080"/>
          </a:xfrm>
          <a:prstGeom prst="rect">
            <a:avLst/>
          </a:prstGeom>
          <a:noFill/>
        </p:spPr>
        <p:txBody>
          <a:bodyPr wrap="square" anchor="ctr" lIns="0" rIns="0" tIns="0" bIns="0">
            <a:spAutoFit/>
          </a:bodyPr>
          <a:lstStyle/>
          <a:p>
            <a:pPr algn="l">
              <a:lnSpc>
                <a:spcPct val="105000"/>
              </a:lnSpc>
              <a:spcBef>
                <a:spcPts val="0"/>
              </a:spcBef>
              <a:spcAft>
                <a:spcPts val="100"/>
              </a:spcAft>
            </a:pPr>
            <a:r>
              <a:rPr sz="1250" b="1" i="0">
                <a:solidFill>
                  <a:srgbClr val="24282C"/>
                </a:solidFill>
                <a:latin typeface="Calibri"/>
              </a:rPr>
              <a:t>Username</a:t>
            </a:r>
          </a:p>
          <a:p>
            <a:pPr algn="l">
              <a:lnSpc>
                <a:spcPct val="105000"/>
              </a:lnSpc>
              <a:spcBef>
                <a:spcPts val="0"/>
              </a:spcBef>
              <a:spcAft>
                <a:spcPts val="100"/>
              </a:spcAft>
            </a:pPr>
            <a:r>
              <a:rPr sz="1000" b="0" i="0">
                <a:solidFill>
                  <a:srgbClr val="6A7177"/>
                </a:solidFill>
                <a:latin typeface="Calibri"/>
              </a:rPr>
              <a:t>Title / Role · Team</a:t>
            </a:r>
          </a:p>
        </p:txBody>
      </p:sp>
      <p:sp>
        <p:nvSpPr>
          <p:cNvPr id="19" name="Rounded Rectangle 18"/>
          <p:cNvSpPr/>
          <p:nvPr/>
        </p:nvSpPr>
        <p:spPr>
          <a:xfrm>
            <a:off x="4414418" y="1874519"/>
            <a:ext cx="3362858" cy="4160520"/>
          </a:xfrm>
          <a:prstGeom prst="round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4418" y="1874519"/>
            <a:ext cx="73152" cy="4160520"/>
          </a:xfrm>
          <a:prstGeom prst="round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52162" y="1929383"/>
            <a:ext cx="914400" cy="640080"/>
          </a:xfrm>
          <a:prstGeom prst="rect">
            <a:avLst/>
          </a:prstGeom>
          <a:noFill/>
        </p:spPr>
        <p:txBody>
          <a:bodyPr wrap="square" anchor="t" lIns="0" rIns="0" tIns="0" bIns="0">
            <a:spAutoFit/>
          </a:bodyPr>
          <a:lstStyle/>
          <a:p>
            <a:pPr algn="l">
              <a:lnSpc>
                <a:spcPct val="106000"/>
              </a:lnSpc>
              <a:spcBef>
                <a:spcPts val="0"/>
              </a:spcBef>
              <a:spcAft>
                <a:spcPts val="0"/>
              </a:spcAft>
            </a:pPr>
            <a:r>
              <a:rPr sz="4400" b="1" i="0">
                <a:solidFill>
                  <a:srgbClr val="395268"/>
                </a:solidFill>
                <a:latin typeface="Calibri"/>
              </a:rPr>
              <a:t>“</a:t>
            </a:r>
          </a:p>
        </p:txBody>
      </p:sp>
      <p:sp>
        <p:nvSpPr>
          <p:cNvPr id="22" name="TextBox 21"/>
          <p:cNvSpPr txBox="1"/>
          <p:nvPr/>
        </p:nvSpPr>
        <p:spPr>
          <a:xfrm>
            <a:off x="4688738" y="2660903"/>
            <a:ext cx="2832506" cy="2459736"/>
          </a:xfrm>
          <a:prstGeom prst="rect">
            <a:avLst/>
          </a:prstGeom>
          <a:noFill/>
        </p:spPr>
        <p:txBody>
          <a:bodyPr wrap="square" anchor="t" lIns="0" rIns="0" tIns="0" bIns="0">
            <a:spAutoFit/>
          </a:bodyPr>
          <a:lstStyle/>
          <a:p>
            <a:pPr algn="l">
              <a:lnSpc>
                <a:spcPct val="128000"/>
              </a:lnSpc>
              <a:spcBef>
                <a:spcPts val="0"/>
              </a:spcBef>
              <a:spcAft>
                <a:spcPts val="0"/>
              </a:spcAft>
            </a:pPr>
            <a:r>
              <a:rPr sz="1200" b="0" i="1">
                <a:solidFill>
                  <a:srgbClr val="4C5359"/>
                </a:solidFill>
                <a:latin typeface="Calibri"/>
              </a:rPr>
              <a:t>Add the user’s feedback statement here. Highlight time saved, accuracy, or customer reaction.</a:t>
            </a:r>
          </a:p>
        </p:txBody>
      </p:sp>
      <p:sp>
        <p:nvSpPr>
          <p:cNvPr id="23" name="Rectangle 22"/>
          <p:cNvSpPr/>
          <p:nvPr/>
        </p:nvSpPr>
        <p:spPr>
          <a:xfrm>
            <a:off x="4688738" y="5175503"/>
            <a:ext cx="2832506"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688738" y="5303519"/>
            <a:ext cx="566928" cy="566928"/>
          </a:xfrm>
          <a:prstGeom prst="ellipse">
            <a:avLst/>
          </a:prstGeom>
          <a:solidFill>
            <a:srgbClr val="E6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87163" y="5394227"/>
            <a:ext cx="170078" cy="170078"/>
          </a:xfrm>
          <a:prstGeom prst="ellipse">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802124" y="5609660"/>
            <a:ext cx="340156" cy="260786"/>
          </a:xfrm>
          <a:prstGeom prst="ellipse">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83682" y="5285231"/>
            <a:ext cx="2174138" cy="640080"/>
          </a:xfrm>
          <a:prstGeom prst="rect">
            <a:avLst/>
          </a:prstGeom>
          <a:noFill/>
        </p:spPr>
        <p:txBody>
          <a:bodyPr wrap="square" anchor="ctr" lIns="0" rIns="0" tIns="0" bIns="0">
            <a:spAutoFit/>
          </a:bodyPr>
          <a:lstStyle/>
          <a:p>
            <a:pPr algn="l">
              <a:lnSpc>
                <a:spcPct val="105000"/>
              </a:lnSpc>
              <a:spcBef>
                <a:spcPts val="0"/>
              </a:spcBef>
              <a:spcAft>
                <a:spcPts val="100"/>
              </a:spcAft>
            </a:pPr>
            <a:r>
              <a:rPr sz="1250" b="1" i="0">
                <a:solidFill>
                  <a:srgbClr val="24282C"/>
                </a:solidFill>
                <a:latin typeface="Calibri"/>
              </a:rPr>
              <a:t>Username</a:t>
            </a:r>
          </a:p>
          <a:p>
            <a:pPr algn="l">
              <a:lnSpc>
                <a:spcPct val="105000"/>
              </a:lnSpc>
              <a:spcBef>
                <a:spcPts val="0"/>
              </a:spcBef>
              <a:spcAft>
                <a:spcPts val="100"/>
              </a:spcAft>
            </a:pPr>
            <a:r>
              <a:rPr sz="1000" b="0" i="0">
                <a:solidFill>
                  <a:srgbClr val="6A7177"/>
                </a:solidFill>
                <a:latin typeface="Calibri"/>
              </a:rPr>
              <a:t>Title / Role · Team</a:t>
            </a:r>
          </a:p>
        </p:txBody>
      </p:sp>
      <p:sp>
        <p:nvSpPr>
          <p:cNvPr id="28" name="Rounded Rectangle 27"/>
          <p:cNvSpPr/>
          <p:nvPr/>
        </p:nvSpPr>
        <p:spPr>
          <a:xfrm>
            <a:off x="8143036" y="1874519"/>
            <a:ext cx="3362858" cy="4160520"/>
          </a:xfrm>
          <a:prstGeom prst="round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143036" y="1874519"/>
            <a:ext cx="73152" cy="4160520"/>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0780" y="1929383"/>
            <a:ext cx="914400" cy="640080"/>
          </a:xfrm>
          <a:prstGeom prst="rect">
            <a:avLst/>
          </a:prstGeom>
          <a:noFill/>
        </p:spPr>
        <p:txBody>
          <a:bodyPr wrap="square" anchor="t" lIns="0" rIns="0" tIns="0" bIns="0">
            <a:spAutoFit/>
          </a:bodyPr>
          <a:lstStyle/>
          <a:p>
            <a:pPr algn="l">
              <a:lnSpc>
                <a:spcPct val="106000"/>
              </a:lnSpc>
              <a:spcBef>
                <a:spcPts val="0"/>
              </a:spcBef>
              <a:spcAft>
                <a:spcPts val="0"/>
              </a:spcAft>
            </a:pPr>
            <a:r>
              <a:rPr sz="4400" b="1" i="0">
                <a:solidFill>
                  <a:srgbClr val="E4002B"/>
                </a:solidFill>
                <a:latin typeface="Calibri"/>
              </a:rPr>
              <a:t>“</a:t>
            </a:r>
          </a:p>
        </p:txBody>
      </p:sp>
      <p:sp>
        <p:nvSpPr>
          <p:cNvPr id="31" name="TextBox 30"/>
          <p:cNvSpPr txBox="1"/>
          <p:nvPr/>
        </p:nvSpPr>
        <p:spPr>
          <a:xfrm>
            <a:off x="8417356" y="2660903"/>
            <a:ext cx="2832506" cy="2459736"/>
          </a:xfrm>
          <a:prstGeom prst="rect">
            <a:avLst/>
          </a:prstGeom>
          <a:noFill/>
        </p:spPr>
        <p:txBody>
          <a:bodyPr wrap="square" anchor="t" lIns="0" rIns="0" tIns="0" bIns="0">
            <a:spAutoFit/>
          </a:bodyPr>
          <a:lstStyle/>
          <a:p>
            <a:pPr algn="l">
              <a:lnSpc>
                <a:spcPct val="128000"/>
              </a:lnSpc>
              <a:spcBef>
                <a:spcPts val="0"/>
              </a:spcBef>
              <a:spcAft>
                <a:spcPts val="0"/>
              </a:spcAft>
            </a:pPr>
            <a:r>
              <a:rPr sz="1200" b="0" i="1">
                <a:solidFill>
                  <a:srgbClr val="4C5359"/>
                </a:solidFill>
                <a:latin typeface="Calibri"/>
              </a:rPr>
              <a:t>Add the user’s feedback statement here. Close on the impact for the customer.</a:t>
            </a:r>
          </a:p>
        </p:txBody>
      </p:sp>
      <p:sp>
        <p:nvSpPr>
          <p:cNvPr id="32" name="Rectangle 31"/>
          <p:cNvSpPr/>
          <p:nvPr/>
        </p:nvSpPr>
        <p:spPr>
          <a:xfrm>
            <a:off x="8417356" y="5175503"/>
            <a:ext cx="2832506"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17356" y="5303519"/>
            <a:ext cx="566928" cy="566928"/>
          </a:xfrm>
          <a:prstGeom prst="ellipse">
            <a:avLst/>
          </a:prstGeom>
          <a:solidFill>
            <a:srgbClr val="E6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615781" y="5394227"/>
            <a:ext cx="170078" cy="17007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530742" y="5609660"/>
            <a:ext cx="340156" cy="260786"/>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12300" y="5285231"/>
            <a:ext cx="2174138" cy="640080"/>
          </a:xfrm>
          <a:prstGeom prst="rect">
            <a:avLst/>
          </a:prstGeom>
          <a:noFill/>
        </p:spPr>
        <p:txBody>
          <a:bodyPr wrap="square" anchor="ctr" lIns="0" rIns="0" tIns="0" bIns="0">
            <a:spAutoFit/>
          </a:bodyPr>
          <a:lstStyle/>
          <a:p>
            <a:pPr algn="l">
              <a:lnSpc>
                <a:spcPct val="105000"/>
              </a:lnSpc>
              <a:spcBef>
                <a:spcPts val="0"/>
              </a:spcBef>
              <a:spcAft>
                <a:spcPts val="100"/>
              </a:spcAft>
            </a:pPr>
            <a:r>
              <a:rPr sz="1250" b="1" i="0">
                <a:solidFill>
                  <a:srgbClr val="24282C"/>
                </a:solidFill>
                <a:latin typeface="Calibri"/>
              </a:rPr>
              <a:t>Username</a:t>
            </a:r>
          </a:p>
          <a:p>
            <a:pPr algn="l">
              <a:lnSpc>
                <a:spcPct val="105000"/>
              </a:lnSpc>
              <a:spcBef>
                <a:spcPts val="0"/>
              </a:spcBef>
              <a:spcAft>
                <a:spcPts val="100"/>
              </a:spcAft>
            </a:pPr>
            <a:r>
              <a:rPr sz="1000" b="0" i="0">
                <a:solidFill>
                  <a:srgbClr val="6A7177"/>
                </a:solidFill>
                <a:latin typeface="Calibri"/>
              </a:rPr>
              <a:t>Title / Role · Team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DEMO</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A real question, answered: OSG lists every current card promo with amounts, codes, dates and sources in seconds</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14</a:t>
            </a:r>
          </a:p>
        </p:txBody>
      </p:sp>
      <p:sp>
        <p:nvSpPr>
          <p:cNvPr id="10" name="Rectangle 9"/>
          <p:cNvSpPr/>
          <p:nvPr/>
        </p:nvSpPr>
        <p:spPr>
          <a:xfrm>
            <a:off x="621792" y="2221992"/>
            <a:ext cx="7351776" cy="3602736"/>
          </a:xfrm>
          <a:prstGeom prst="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osg_promo.png"/>
          <p:cNvPicPr>
            <a:picLocks noChangeAspect="1"/>
          </p:cNvPicPr>
          <p:nvPr/>
        </p:nvPicPr>
        <p:blipFill>
          <a:blip r:embed="rId2"/>
          <a:stretch>
            <a:fillRect/>
          </a:stretch>
        </p:blipFill>
        <p:spPr>
          <a:xfrm>
            <a:off x="685800" y="2286000"/>
            <a:ext cx="7223760" cy="3474720"/>
          </a:xfrm>
          <a:prstGeom prst="rect">
            <a:avLst/>
          </a:prstGeom>
          <a:ln w="9525">
            <a:solidFill>
              <a:srgbClr val="CBCDD1"/>
            </a:solidFill>
          </a:ln>
        </p:spPr>
      </p:pic>
      <p:sp>
        <p:nvSpPr>
          <p:cNvPr id="12" name="Oval 11"/>
          <p:cNvSpPr/>
          <p:nvPr/>
        </p:nvSpPr>
        <p:spPr>
          <a:xfrm>
            <a:off x="5505602" y="2590495"/>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05602" y="2590495"/>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1</a:t>
            </a:r>
          </a:p>
        </p:txBody>
      </p:sp>
      <p:sp>
        <p:nvSpPr>
          <p:cNvPr id="14" name="Oval 13"/>
          <p:cNvSpPr/>
          <p:nvPr/>
        </p:nvSpPr>
        <p:spPr>
          <a:xfrm>
            <a:off x="3410712" y="3163824"/>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10712" y="3163824"/>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2</a:t>
            </a:r>
          </a:p>
        </p:txBody>
      </p:sp>
      <p:sp>
        <p:nvSpPr>
          <p:cNvPr id="16" name="Oval 15"/>
          <p:cNvSpPr/>
          <p:nvPr/>
        </p:nvSpPr>
        <p:spPr>
          <a:xfrm>
            <a:off x="3410712" y="4414723"/>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10712" y="4414723"/>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3</a:t>
            </a:r>
          </a:p>
        </p:txBody>
      </p:sp>
      <p:sp>
        <p:nvSpPr>
          <p:cNvPr id="18" name="Oval 17"/>
          <p:cNvSpPr/>
          <p:nvPr/>
        </p:nvSpPr>
        <p:spPr>
          <a:xfrm>
            <a:off x="4277563" y="4901184"/>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77563" y="4901184"/>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4</a:t>
            </a:r>
          </a:p>
        </p:txBody>
      </p:sp>
      <p:sp>
        <p:nvSpPr>
          <p:cNvPr id="20" name="Oval 19"/>
          <p:cNvSpPr/>
          <p:nvPr/>
        </p:nvSpPr>
        <p:spPr>
          <a:xfrm>
            <a:off x="8183879" y="2304288"/>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79" y="2304288"/>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1</a:t>
            </a:r>
          </a:p>
        </p:txBody>
      </p:sp>
      <p:sp>
        <p:nvSpPr>
          <p:cNvPr id="22" name="TextBox 21"/>
          <p:cNvSpPr txBox="1"/>
          <p:nvPr/>
        </p:nvSpPr>
        <p:spPr>
          <a:xfrm>
            <a:off x="8659367" y="2286000"/>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Ask in plain language</a:t>
            </a:r>
          </a:p>
          <a:p>
            <a:pPr algn="l">
              <a:lnSpc>
                <a:spcPct val="110000"/>
              </a:lnSpc>
              <a:spcBef>
                <a:spcPts val="0"/>
              </a:spcBef>
              <a:spcAft>
                <a:spcPts val="200"/>
              </a:spcAft>
            </a:pPr>
            <a:r>
              <a:rPr sz="1100" b="0" i="0">
                <a:solidFill>
                  <a:srgbClr val="6A7177"/>
                </a:solidFill>
                <a:latin typeface="Calibri"/>
              </a:rPr>
              <a:t>A frontliner types an everyday question, no keywords or product codes needed.</a:t>
            </a:r>
          </a:p>
        </p:txBody>
      </p:sp>
      <p:sp>
        <p:nvSpPr>
          <p:cNvPr id="23" name="Oval 22"/>
          <p:cNvSpPr/>
          <p:nvPr/>
        </p:nvSpPr>
        <p:spPr>
          <a:xfrm>
            <a:off x="8183879" y="3200400"/>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83879" y="3200400"/>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2</a:t>
            </a:r>
          </a:p>
        </p:txBody>
      </p:sp>
      <p:sp>
        <p:nvSpPr>
          <p:cNvPr id="25" name="TextBox 24"/>
          <p:cNvSpPr txBox="1"/>
          <p:nvPr/>
        </p:nvSpPr>
        <p:spPr>
          <a:xfrm>
            <a:off x="8659367" y="3182112"/>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A complete, structured answer</a:t>
            </a:r>
          </a:p>
          <a:p>
            <a:pPr algn="l">
              <a:lnSpc>
                <a:spcPct val="110000"/>
              </a:lnSpc>
              <a:spcBef>
                <a:spcPts val="0"/>
              </a:spcBef>
              <a:spcAft>
                <a:spcPts val="200"/>
              </a:spcAft>
            </a:pPr>
            <a:r>
              <a:rPr sz="1100" b="0" i="0">
                <a:solidFill>
                  <a:srgbClr val="6A7177"/>
                </a:solidFill>
                <a:latin typeface="Calibri"/>
              </a:rPr>
              <a:t>Five current card promos with amounts, voucher codes and validity dates.</a:t>
            </a:r>
          </a:p>
        </p:txBody>
      </p:sp>
      <p:sp>
        <p:nvSpPr>
          <p:cNvPr id="26" name="Oval 25"/>
          <p:cNvSpPr/>
          <p:nvPr/>
        </p:nvSpPr>
        <p:spPr>
          <a:xfrm>
            <a:off x="8183879" y="4096512"/>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83879" y="4096512"/>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3</a:t>
            </a:r>
          </a:p>
        </p:txBody>
      </p:sp>
      <p:sp>
        <p:nvSpPr>
          <p:cNvPr id="28" name="TextBox 27"/>
          <p:cNvSpPr txBox="1"/>
          <p:nvPr/>
        </p:nvSpPr>
        <p:spPr>
          <a:xfrm>
            <a:off x="8659367" y="4078224"/>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Every answer cites its source</a:t>
            </a:r>
          </a:p>
          <a:p>
            <a:pPr algn="l">
              <a:lnSpc>
                <a:spcPct val="110000"/>
              </a:lnSpc>
              <a:spcBef>
                <a:spcPts val="0"/>
              </a:spcBef>
              <a:spcAft>
                <a:spcPts val="200"/>
              </a:spcAft>
            </a:pPr>
            <a:r>
              <a:rPr sz="1100" b="0" i="0">
                <a:solidFill>
                  <a:srgbClr val="6A7177"/>
                </a:solidFill>
                <a:latin typeface="Calibri"/>
              </a:rPr>
              <a:t>Zalora, Blibli, Shopee and the bank promo page, one click to verify.</a:t>
            </a:r>
          </a:p>
        </p:txBody>
      </p:sp>
      <p:sp>
        <p:nvSpPr>
          <p:cNvPr id="29" name="Oval 28"/>
          <p:cNvSpPr/>
          <p:nvPr/>
        </p:nvSpPr>
        <p:spPr>
          <a:xfrm>
            <a:off x="8183879" y="4992624"/>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83879" y="4992624"/>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4</a:t>
            </a:r>
          </a:p>
        </p:txBody>
      </p:sp>
      <p:sp>
        <p:nvSpPr>
          <p:cNvPr id="31" name="TextBox 30"/>
          <p:cNvSpPr txBox="1"/>
          <p:nvPr/>
        </p:nvSpPr>
        <p:spPr>
          <a:xfrm>
            <a:off x="8659367" y="4974336"/>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Guided follow-ups</a:t>
            </a:r>
          </a:p>
          <a:p>
            <a:pPr algn="l">
              <a:lnSpc>
                <a:spcPct val="110000"/>
              </a:lnSpc>
              <a:spcBef>
                <a:spcPts val="0"/>
              </a:spcBef>
              <a:spcAft>
                <a:spcPts val="200"/>
              </a:spcAft>
            </a:pPr>
            <a:r>
              <a:rPr sz="1100" b="0" i="0">
                <a:solidFill>
                  <a:srgbClr val="6A7177"/>
                </a:solidFill>
                <a:latin typeface="Calibri"/>
              </a:rPr>
              <a:t>Suggested next questions open terms and how-to-use in a single tap.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DEMO</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See it in action: browse the catalogue, explore the knowledge graph, and ask OSG for a source-cited answer</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15</a:t>
            </a:r>
          </a:p>
        </p:txBody>
      </p:sp>
      <p:sp>
        <p:nvSpPr>
          <p:cNvPr id="10" name="Rectangle 9"/>
          <p:cNvSpPr/>
          <p:nvPr/>
        </p:nvSpPr>
        <p:spPr>
          <a:xfrm>
            <a:off x="621792" y="2267712"/>
            <a:ext cx="7351776" cy="3520440"/>
          </a:xfrm>
          <a:prstGeom prst="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osg_app.png"/>
          <p:cNvPicPr>
            <a:picLocks noChangeAspect="1"/>
          </p:cNvPicPr>
          <p:nvPr/>
        </p:nvPicPr>
        <p:blipFill>
          <a:blip r:embed="rId2"/>
          <a:stretch>
            <a:fillRect/>
          </a:stretch>
        </p:blipFill>
        <p:spPr>
          <a:xfrm>
            <a:off x="685800" y="2331720"/>
            <a:ext cx="7223760" cy="3392424"/>
          </a:xfrm>
          <a:prstGeom prst="rect">
            <a:avLst/>
          </a:prstGeom>
          <a:ln w="9525">
            <a:solidFill>
              <a:srgbClr val="CBCDD1"/>
            </a:solidFill>
          </a:ln>
        </p:spPr>
      </p:pic>
      <p:sp>
        <p:nvSpPr>
          <p:cNvPr id="12" name="Oval 11"/>
          <p:cNvSpPr/>
          <p:nvPr/>
        </p:nvSpPr>
        <p:spPr>
          <a:xfrm>
            <a:off x="1243584" y="3659794"/>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3584" y="3659794"/>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1</a:t>
            </a:r>
          </a:p>
        </p:txBody>
      </p:sp>
      <p:sp>
        <p:nvSpPr>
          <p:cNvPr id="14" name="Oval 13"/>
          <p:cNvSpPr/>
          <p:nvPr/>
        </p:nvSpPr>
        <p:spPr>
          <a:xfrm>
            <a:off x="4494276" y="4032961"/>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4276" y="4032961"/>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2</a:t>
            </a:r>
          </a:p>
        </p:txBody>
      </p:sp>
      <p:sp>
        <p:nvSpPr>
          <p:cNvPr id="16" name="Oval 15"/>
          <p:cNvSpPr/>
          <p:nvPr/>
        </p:nvSpPr>
        <p:spPr>
          <a:xfrm>
            <a:off x="6878116" y="3083082"/>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78116" y="3083082"/>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3</a:t>
            </a:r>
          </a:p>
        </p:txBody>
      </p:sp>
      <p:sp>
        <p:nvSpPr>
          <p:cNvPr id="18" name="Oval 17"/>
          <p:cNvSpPr/>
          <p:nvPr/>
        </p:nvSpPr>
        <p:spPr>
          <a:xfrm>
            <a:off x="6300216" y="3761567"/>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0216" y="3761567"/>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4</a:t>
            </a:r>
          </a:p>
        </p:txBody>
      </p:sp>
      <p:sp>
        <p:nvSpPr>
          <p:cNvPr id="20" name="Oval 19"/>
          <p:cNvSpPr/>
          <p:nvPr/>
        </p:nvSpPr>
        <p:spPr>
          <a:xfrm>
            <a:off x="8183879" y="2350008"/>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79" y="2350008"/>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1</a:t>
            </a:r>
          </a:p>
        </p:txBody>
      </p:sp>
      <p:sp>
        <p:nvSpPr>
          <p:cNvPr id="22" name="TextBox 21"/>
          <p:cNvSpPr txBox="1"/>
          <p:nvPr/>
        </p:nvSpPr>
        <p:spPr>
          <a:xfrm>
            <a:off x="8659367" y="2331720"/>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Browse the catalogue</a:t>
            </a:r>
          </a:p>
          <a:p>
            <a:pPr algn="l">
              <a:lnSpc>
                <a:spcPct val="110000"/>
              </a:lnSpc>
              <a:spcBef>
                <a:spcPts val="0"/>
              </a:spcBef>
              <a:spcAft>
                <a:spcPts val="200"/>
              </a:spcAft>
            </a:pPr>
            <a:r>
              <a:rPr sz="1100" b="0" i="0">
                <a:solidFill>
                  <a:srgbClr val="6A7177"/>
                </a:solidFill>
                <a:latin typeface="Calibri"/>
              </a:rPr>
              <a:t>751 documents across 51 categories, filtered by product or promo.</a:t>
            </a:r>
          </a:p>
        </p:txBody>
      </p:sp>
      <p:sp>
        <p:nvSpPr>
          <p:cNvPr id="23" name="Oval 22"/>
          <p:cNvSpPr/>
          <p:nvPr/>
        </p:nvSpPr>
        <p:spPr>
          <a:xfrm>
            <a:off x="8183879" y="3246120"/>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83879" y="3246120"/>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2</a:t>
            </a:r>
          </a:p>
        </p:txBody>
      </p:sp>
      <p:sp>
        <p:nvSpPr>
          <p:cNvPr id="25" name="TextBox 24"/>
          <p:cNvSpPr txBox="1"/>
          <p:nvPr/>
        </p:nvSpPr>
        <p:spPr>
          <a:xfrm>
            <a:off x="8659367" y="3227832"/>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Explore the knowledge graph</a:t>
            </a:r>
          </a:p>
          <a:p>
            <a:pPr algn="l">
              <a:lnSpc>
                <a:spcPct val="110000"/>
              </a:lnSpc>
              <a:spcBef>
                <a:spcPts val="0"/>
              </a:spcBef>
              <a:spcAft>
                <a:spcPts val="200"/>
              </a:spcAft>
            </a:pPr>
            <a:r>
              <a:rPr sz="1100" b="0" i="0">
                <a:solidFill>
                  <a:srgbClr val="6A7177"/>
                </a:solidFill>
                <a:latin typeface="Calibri"/>
              </a:rPr>
              <a:t>See how a product links to related and duplicate offers.</a:t>
            </a:r>
          </a:p>
        </p:txBody>
      </p:sp>
      <p:sp>
        <p:nvSpPr>
          <p:cNvPr id="26" name="Oval 25"/>
          <p:cNvSpPr/>
          <p:nvPr/>
        </p:nvSpPr>
        <p:spPr>
          <a:xfrm>
            <a:off x="8183879" y="4142232"/>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83879" y="4142232"/>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3</a:t>
            </a:r>
          </a:p>
        </p:txBody>
      </p:sp>
      <p:sp>
        <p:nvSpPr>
          <p:cNvPr id="28" name="TextBox 27"/>
          <p:cNvSpPr txBox="1"/>
          <p:nvPr/>
        </p:nvSpPr>
        <p:spPr>
          <a:xfrm>
            <a:off x="8659367" y="4123944"/>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Ask in plain language</a:t>
            </a:r>
          </a:p>
          <a:p>
            <a:pPr algn="l">
              <a:lnSpc>
                <a:spcPct val="110000"/>
              </a:lnSpc>
              <a:spcBef>
                <a:spcPts val="0"/>
              </a:spcBef>
              <a:spcAft>
                <a:spcPts val="200"/>
              </a:spcAft>
            </a:pPr>
            <a:r>
              <a:rPr sz="1100" b="0" i="0">
                <a:solidFill>
                  <a:srgbClr val="6A7177"/>
                </a:solidFill>
                <a:latin typeface="Calibri"/>
              </a:rPr>
              <a:t>OSG replies in seconds, in Bahasa Indonesia or English.</a:t>
            </a:r>
          </a:p>
        </p:txBody>
      </p:sp>
      <p:sp>
        <p:nvSpPr>
          <p:cNvPr id="29" name="Oval 28"/>
          <p:cNvSpPr/>
          <p:nvPr/>
        </p:nvSpPr>
        <p:spPr>
          <a:xfrm>
            <a:off x="8183879" y="5038344"/>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83879" y="5038344"/>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4</a:t>
            </a:r>
          </a:p>
        </p:txBody>
      </p:sp>
      <p:sp>
        <p:nvSpPr>
          <p:cNvPr id="31" name="TextBox 30"/>
          <p:cNvSpPr txBox="1"/>
          <p:nvPr/>
        </p:nvSpPr>
        <p:spPr>
          <a:xfrm>
            <a:off x="8659367" y="5020056"/>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Every answer cites its source</a:t>
            </a:r>
          </a:p>
          <a:p>
            <a:pPr algn="l">
              <a:lnSpc>
                <a:spcPct val="110000"/>
              </a:lnSpc>
              <a:spcBef>
                <a:spcPts val="0"/>
              </a:spcBef>
              <a:spcAft>
                <a:spcPts val="200"/>
              </a:spcAft>
            </a:pPr>
            <a:r>
              <a:rPr sz="1100" b="0" i="0">
                <a:solidFill>
                  <a:srgbClr val="6A7177"/>
                </a:solidFill>
                <a:latin typeface="Calibri"/>
              </a:rPr>
              <a:t>One click opens the exact document behind the answer.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A7464"/>
              </a:gs>
              <a:gs pos="100000">
                <a:srgbClr val="082C27"/>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2240280"/>
            <a:ext cx="12191695" cy="310896"/>
          </a:xfrm>
          <a:prstGeom prst="rect">
            <a:avLst/>
          </a:prstGeom>
          <a:noFill/>
        </p:spPr>
        <p:txBody>
          <a:bodyPr wrap="square" anchor="t" lIns="0" rIns="0" tIns="0" bIns="0">
            <a:spAutoFit/>
          </a:bodyPr>
          <a:lstStyle/>
          <a:p>
            <a:pPr algn="ctr">
              <a:lnSpc>
                <a:spcPct val="106000"/>
              </a:lnSpc>
              <a:spcBef>
                <a:spcPts val="0"/>
              </a:spcBef>
              <a:spcAft>
                <a:spcPts val="0"/>
              </a:spcAft>
            </a:pPr>
            <a:r>
              <a:rPr sz="1300" b="1" i="0">
                <a:solidFill>
                  <a:srgbClr val="4E6B84"/>
                </a:solidFill>
                <a:latin typeface="Calibri"/>
              </a:rPr>
              <a:t>OSG  ·  SMART GUIDE</a:t>
            </a:r>
          </a:p>
        </p:txBody>
      </p:sp>
      <p:sp>
        <p:nvSpPr>
          <p:cNvPr id="5" name="TextBox 4"/>
          <p:cNvSpPr txBox="1"/>
          <p:nvPr/>
        </p:nvSpPr>
        <p:spPr>
          <a:xfrm>
            <a:off x="0" y="2615184"/>
            <a:ext cx="12191695" cy="1097280"/>
          </a:xfrm>
          <a:prstGeom prst="rect">
            <a:avLst/>
          </a:prstGeom>
          <a:noFill/>
        </p:spPr>
        <p:txBody>
          <a:bodyPr wrap="square" anchor="t" lIns="0" rIns="0" tIns="0" bIns="0">
            <a:spAutoFit/>
          </a:bodyPr>
          <a:lstStyle/>
          <a:p>
            <a:pPr algn="ctr">
              <a:lnSpc>
                <a:spcPct val="106000"/>
              </a:lnSpc>
              <a:spcBef>
                <a:spcPts val="0"/>
              </a:spcBef>
              <a:spcAft>
                <a:spcPts val="0"/>
              </a:spcAft>
            </a:pPr>
            <a:r>
              <a:rPr sz="5400" b="1" i="0">
                <a:solidFill>
                  <a:srgbClr val="FFFFFF"/>
                </a:solidFill>
                <a:latin typeface="Calibri"/>
              </a:rPr>
              <a:t>Thank you</a:t>
            </a:r>
          </a:p>
        </p:txBody>
      </p:sp>
      <p:sp>
        <p:nvSpPr>
          <p:cNvPr id="6" name="Rounded Rectangle 5"/>
          <p:cNvSpPr/>
          <p:nvPr/>
        </p:nvSpPr>
        <p:spPr>
          <a:xfrm>
            <a:off x="5592927" y="3822191"/>
            <a:ext cx="1005840" cy="64008"/>
          </a:xfrm>
          <a:prstGeom prst="round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4096512"/>
            <a:ext cx="12191695" cy="731520"/>
          </a:xfrm>
          <a:prstGeom prst="rect">
            <a:avLst/>
          </a:prstGeom>
          <a:noFill/>
        </p:spPr>
        <p:txBody>
          <a:bodyPr wrap="square" anchor="ctr" lIns="0" rIns="0" tIns="0" bIns="0">
            <a:spAutoFit/>
          </a:bodyPr>
          <a:lstStyle/>
          <a:p>
            <a:pPr algn="ctr">
              <a:lnSpc>
                <a:spcPct val="120000"/>
              </a:lnSpc>
              <a:spcBef>
                <a:spcPts val="0"/>
              </a:spcBef>
              <a:spcAft>
                <a:spcPts val="0"/>
              </a:spcAft>
            </a:pPr>
            <a:r>
              <a:rPr sz="1500" b="0" i="0">
                <a:solidFill>
                  <a:srgbClr val="D8ECE8"/>
                </a:solidFill>
                <a:latin typeface="Calibri"/>
              </a:rPr>
              <a:t>Faster, source-cited answers for every frontliner. Questions and discussion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