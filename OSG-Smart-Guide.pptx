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26480" y="658368"/>
            <a:ext cx="5870448" cy="4681728"/>
          </a:xfrm>
          <a:prstGeom prst="roundRect">
            <a:avLst/>
          </a:prstGeom>
          <a:gradFill rotWithShape="1">
            <a:gsLst>
              <a:gs pos="0">
                <a:srgbClr val="FBDFE4"/>
              </a:gs>
              <a:gs pos="100000">
                <a:srgbClr val="DCF0E9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H="1" flipV="1">
            <a:off x="7178040" y="1234440"/>
            <a:ext cx="1737360" cy="7772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8275320" y="868680"/>
            <a:ext cx="640080" cy="11430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915400" y="1234440"/>
            <a:ext cx="1143000" cy="7772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046720" y="2011680"/>
            <a:ext cx="868680" cy="9144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011680"/>
            <a:ext cx="777240" cy="6858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7726679" y="1965960"/>
            <a:ext cx="1188721" cy="4572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360920" y="2011680"/>
            <a:ext cx="1554480" cy="19202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058400" y="1234440"/>
            <a:ext cx="777240" cy="23774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835640" y="2011680"/>
            <a:ext cx="704088" cy="16002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9692640" y="2697480"/>
            <a:ext cx="1143000" cy="9144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835640" y="3611880"/>
            <a:ext cx="548640" cy="10058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195560" y="3611880"/>
            <a:ext cx="640080" cy="5486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0835640" y="3063240"/>
            <a:ext cx="1097280" cy="5486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784080" y="3611880"/>
            <a:ext cx="1051560" cy="118872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6812280" y="2468880"/>
            <a:ext cx="548640" cy="14630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675120" y="3401568"/>
            <a:ext cx="685800" cy="530352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360920" y="2926080"/>
            <a:ext cx="685800" cy="10058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60920" y="3931920"/>
            <a:ext cx="1097280" cy="6858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903720" y="3931920"/>
            <a:ext cx="457200" cy="96012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0058400" y="1078992"/>
            <a:ext cx="1691640" cy="155448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046720" y="2697480"/>
            <a:ext cx="1645920" cy="22860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58200" y="4617720"/>
            <a:ext cx="1325880" cy="18288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539728" y="2011680"/>
            <a:ext cx="393192" cy="105156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726679" y="1965960"/>
            <a:ext cx="320041" cy="96012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812280" y="1234440"/>
            <a:ext cx="365760" cy="123444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784080" y="4617720"/>
            <a:ext cx="1600200" cy="182880"/>
          </a:xfrm>
          <a:prstGeom prst="line">
            <a:avLst/>
          </a:prstGeom>
          <a:ln w="9525">
            <a:solidFill>
              <a:srgbClr val="D7DC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059168" y="1115568"/>
            <a:ext cx="237744" cy="237744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83880" y="777240"/>
            <a:ext cx="182880" cy="182880"/>
          </a:xfrm>
          <a:prstGeom prst="ellipse">
            <a:avLst/>
          </a:prstGeom>
          <a:solidFill>
            <a:srgbClr val="E4002B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21240" y="1097280"/>
            <a:ext cx="274320" cy="274320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30000" y="1901952"/>
            <a:ext cx="219456" cy="219456"/>
          </a:xfrm>
          <a:prstGeom prst="ellipse">
            <a:avLst/>
          </a:prstGeom>
          <a:solidFill>
            <a:srgbClr val="1FA87E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67744" y="996695"/>
            <a:ext cx="164592" cy="164592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02552" y="2359152"/>
            <a:ext cx="219456" cy="219456"/>
          </a:xfrm>
          <a:prstGeom prst="ellipse">
            <a:avLst/>
          </a:prstGeom>
          <a:solidFill>
            <a:srgbClr val="1FA87E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0" y="3310128"/>
            <a:ext cx="182880" cy="182880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918704" y="2798064"/>
            <a:ext cx="256032" cy="256032"/>
          </a:xfrm>
          <a:prstGeom prst="ellipse">
            <a:avLst/>
          </a:prstGeom>
          <a:solidFill>
            <a:srgbClr val="E4002B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592056" y="2596896"/>
            <a:ext cx="201168" cy="201168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74552" y="4507992"/>
            <a:ext cx="219456" cy="219456"/>
          </a:xfrm>
          <a:prstGeom prst="ellipse">
            <a:avLst/>
          </a:prstGeom>
          <a:solidFill>
            <a:srgbClr val="1FA87E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683496" y="4700016"/>
            <a:ext cx="201168" cy="201168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330183" y="4489704"/>
            <a:ext cx="256032" cy="256032"/>
          </a:xfrm>
          <a:prstGeom prst="ellipse">
            <a:avLst/>
          </a:prstGeom>
          <a:solidFill>
            <a:srgbClr val="E4002B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2280" y="4800600"/>
            <a:ext cx="182880" cy="182880"/>
          </a:xfrm>
          <a:prstGeom prst="ellipse">
            <a:avLst/>
          </a:prstGeom>
          <a:solidFill>
            <a:srgbClr val="1FA87E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13264" y="4078224"/>
            <a:ext cx="164592" cy="164592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41480" y="2971800"/>
            <a:ext cx="182880" cy="182880"/>
          </a:xfrm>
          <a:prstGeom prst="ellipse">
            <a:avLst/>
          </a:prstGeom>
          <a:solidFill>
            <a:srgbClr val="E4002B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644383" y="1883664"/>
            <a:ext cx="164592" cy="164592"/>
          </a:xfrm>
          <a:prstGeom prst="ellipse">
            <a:avLst/>
          </a:prstGeom>
          <a:solidFill>
            <a:srgbClr val="CFD6DC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92824" y="3163824"/>
            <a:ext cx="1536192" cy="1536192"/>
          </a:xfrm>
          <a:prstGeom prst="ellipse">
            <a:avLst/>
          </a:prstGeom>
          <a:solidFill>
            <a:srgbClr val="FB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23252" y="3394252"/>
            <a:ext cx="1075334" cy="1075334"/>
          </a:xfrm>
          <a:prstGeom prst="ellipse">
            <a:avLst/>
          </a:prstGeom>
          <a:solidFill>
            <a:srgbClr val="F3B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976872" y="3547872"/>
            <a:ext cx="768096" cy="768096"/>
          </a:xfrm>
          <a:prstGeom prst="ellipse">
            <a:avLst/>
          </a:prstGeom>
          <a:solidFill>
            <a:srgbClr val="EC7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104888" y="3675887"/>
            <a:ext cx="512064" cy="512064"/>
          </a:xfrm>
          <a:prstGeom prst="ellipse">
            <a:avLst/>
          </a:prstGeom>
          <a:solidFill>
            <a:srgbClr val="E4002B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258507" y="3829507"/>
            <a:ext cx="204825" cy="20482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30384" y="2706624"/>
            <a:ext cx="1810512" cy="1810512"/>
          </a:xfrm>
          <a:prstGeom prst="ellipse">
            <a:avLst/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201960" y="2978200"/>
            <a:ext cx="1267358" cy="1267358"/>
          </a:xfrm>
          <a:prstGeom prst="ellipse">
            <a:avLst/>
          </a:prstGeom>
          <a:solidFill>
            <a:srgbClr val="A6D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383012" y="3159252"/>
            <a:ext cx="905256" cy="905256"/>
          </a:xfrm>
          <a:prstGeom prst="ellipse">
            <a:avLst/>
          </a:prstGeom>
          <a:solidFill>
            <a:srgbClr val="54C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33888" y="3310128"/>
            <a:ext cx="603504" cy="603504"/>
          </a:xfrm>
          <a:prstGeom prst="ellipse">
            <a:avLst/>
          </a:prstGeom>
          <a:solidFill>
            <a:srgbClr val="1FA87E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14939" y="3491179"/>
            <a:ext cx="241401" cy="24140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18120" y="914400"/>
            <a:ext cx="2194560" cy="2194560"/>
          </a:xfrm>
          <a:prstGeom prst="ellipse">
            <a:avLst/>
          </a:prstGeom>
          <a:solidFill>
            <a:srgbClr val="FB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47304" y="1243584"/>
            <a:ext cx="1536192" cy="1536192"/>
          </a:xfrm>
          <a:prstGeom prst="ellipse">
            <a:avLst/>
          </a:prstGeom>
          <a:solidFill>
            <a:srgbClr val="F3B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366760" y="1463040"/>
            <a:ext cx="1097280" cy="1097280"/>
          </a:xfrm>
          <a:prstGeom prst="ellipse">
            <a:avLst/>
          </a:prstGeom>
          <a:solidFill>
            <a:srgbClr val="EC7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49640" y="1645920"/>
            <a:ext cx="731520" cy="731520"/>
          </a:xfrm>
          <a:prstGeom prst="ellipse">
            <a:avLst/>
          </a:prstGeom>
          <a:solidFill>
            <a:srgbClr val="E4002B"/>
          </a:solidFill>
          <a:ln w="9525">
            <a:solidFill>
              <a:srgbClr val="BDC4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769096" y="186537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" y="60350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002B"/>
                </a:solidFill>
                <a:latin typeface="Calibri"/>
              </a:rPr>
              <a:t>OSG</a:t>
            </a:r>
            <a:r>
              <a:rPr sz="1150" b="1" i="0">
                <a:solidFill>
                  <a:srgbClr val="9AA3AB"/>
                </a:solidFill>
                <a:latin typeface="Calibri"/>
              </a:rPr>
              <a:t>      EXECUTIVE  BRIEFING  ·  BANK  LEADERSHIP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9875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E2933"/>
                </a:solidFill>
                <a:latin typeface="Calibri"/>
              </a:rPr>
              <a:t>OSG Smart Guide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1938528"/>
            <a:ext cx="960120" cy="64008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" y="2212848"/>
            <a:ext cx="4754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B6670"/>
                </a:solidFill>
                <a:latin typeface="Calibri"/>
              </a:rPr>
              <a:t>A secure AI assistant that gives frontliners instant, source-cited answers on products, promotions and services, grounded only in the bank's own content.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1248" y="5504688"/>
            <a:ext cx="10509199" cy="12700"/>
          </a:xfrm>
          <a:prstGeom prst="rect">
            <a:avLst/>
          </a:prstGeom>
          <a:solidFill>
            <a:srgbClr val="DDE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0" y="5614416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002B"/>
                </a:solidFill>
                <a:latin typeface="Calibri"/>
              </a:rPr>
              <a:t>PROJECT TEAM</a:t>
            </a:r>
          </a:p>
        </p:txBody>
      </p:sp>
      <p:sp>
        <p:nvSpPr>
          <p:cNvPr id="68" name="Oval 67"/>
          <p:cNvSpPr/>
          <p:nvPr/>
        </p:nvSpPr>
        <p:spPr>
          <a:xfrm>
            <a:off x="1938528" y="5843016"/>
            <a:ext cx="786384" cy="786384"/>
          </a:xfrm>
          <a:prstGeom prst="ellipse">
            <a:avLst/>
          </a:prstGeom>
          <a:solidFill>
            <a:srgbClr val="EDF0F2"/>
          </a:solidFill>
          <a:ln w="19050">
            <a:solidFill>
              <a:srgbClr val="C7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13763" y="5968837"/>
            <a:ext cx="235915" cy="235915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095805" y="6267663"/>
            <a:ext cx="471830" cy="361736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00200" y="669340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0"/>
                </a:solidFill>
                <a:latin typeface="Calibri"/>
              </a:rPr>
              <a:t>Name</a:t>
            </a:r>
          </a:p>
        </p:txBody>
      </p:sp>
      <p:sp>
        <p:nvSpPr>
          <p:cNvPr id="72" name="Oval 71"/>
          <p:cNvSpPr/>
          <p:nvPr/>
        </p:nvSpPr>
        <p:spPr>
          <a:xfrm>
            <a:off x="3950208" y="5843016"/>
            <a:ext cx="786384" cy="786384"/>
          </a:xfrm>
          <a:prstGeom prst="ellipse">
            <a:avLst/>
          </a:prstGeom>
          <a:solidFill>
            <a:srgbClr val="EDF0F2"/>
          </a:solidFill>
          <a:ln w="19050">
            <a:solidFill>
              <a:srgbClr val="C7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225443" y="5968837"/>
            <a:ext cx="235915" cy="235915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107485" y="6267663"/>
            <a:ext cx="471830" cy="361736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11880" y="669340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0"/>
                </a:solidFill>
                <a:latin typeface="Calibri"/>
              </a:rPr>
              <a:t>Name</a:t>
            </a:r>
          </a:p>
        </p:txBody>
      </p:sp>
      <p:sp>
        <p:nvSpPr>
          <p:cNvPr id="76" name="Oval 75"/>
          <p:cNvSpPr/>
          <p:nvPr/>
        </p:nvSpPr>
        <p:spPr>
          <a:xfrm>
            <a:off x="5961888" y="5843016"/>
            <a:ext cx="786384" cy="786384"/>
          </a:xfrm>
          <a:prstGeom prst="ellipse">
            <a:avLst/>
          </a:prstGeom>
          <a:solidFill>
            <a:srgbClr val="EDF0F2"/>
          </a:solidFill>
          <a:ln w="19050">
            <a:solidFill>
              <a:srgbClr val="C7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237123" y="5968837"/>
            <a:ext cx="235915" cy="235915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119165" y="6267663"/>
            <a:ext cx="471830" cy="361736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23560" y="669340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0"/>
                </a:solidFill>
                <a:latin typeface="Calibri"/>
              </a:rPr>
              <a:t>Name</a:t>
            </a:r>
          </a:p>
        </p:txBody>
      </p:sp>
      <p:sp>
        <p:nvSpPr>
          <p:cNvPr id="80" name="Oval 79"/>
          <p:cNvSpPr/>
          <p:nvPr/>
        </p:nvSpPr>
        <p:spPr>
          <a:xfrm>
            <a:off x="7973568" y="5843016"/>
            <a:ext cx="786384" cy="786384"/>
          </a:xfrm>
          <a:prstGeom prst="ellipse">
            <a:avLst/>
          </a:prstGeom>
          <a:solidFill>
            <a:srgbClr val="EDF0F2"/>
          </a:solidFill>
          <a:ln w="19050">
            <a:solidFill>
              <a:srgbClr val="C7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248803" y="5968837"/>
            <a:ext cx="235915" cy="235915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130845" y="6267663"/>
            <a:ext cx="471830" cy="361736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35240" y="669340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0"/>
                </a:solidFill>
                <a:latin typeface="Calibri"/>
              </a:rPr>
              <a:t>Name</a:t>
            </a:r>
          </a:p>
        </p:txBody>
      </p:sp>
      <p:sp>
        <p:nvSpPr>
          <p:cNvPr id="84" name="Oval 83"/>
          <p:cNvSpPr/>
          <p:nvPr/>
        </p:nvSpPr>
        <p:spPr>
          <a:xfrm>
            <a:off x="9985248" y="5843016"/>
            <a:ext cx="786384" cy="786384"/>
          </a:xfrm>
          <a:prstGeom prst="ellipse">
            <a:avLst/>
          </a:prstGeom>
          <a:solidFill>
            <a:srgbClr val="EDF0F2"/>
          </a:solidFill>
          <a:ln w="19050">
            <a:solidFill>
              <a:srgbClr val="C7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0260483" y="5968837"/>
            <a:ext cx="235915" cy="235915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142525" y="6267663"/>
            <a:ext cx="471830" cy="361736"/>
          </a:xfrm>
          <a:prstGeom prst="ellipse">
            <a:avLst/>
          </a:prstGeom>
          <a:solidFill>
            <a:srgbClr val="333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646920" y="669340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0"/>
                </a:solidFill>
                <a:latin typeface="Calibri"/>
              </a:rPr>
              <a:t>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From the problem to the solution to the business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65376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Executive summary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The problem, the AI solution, and the projected impact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624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61488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761488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Project charter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Scope, strategic alignment, high-level timeline, and executive sponsorship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02736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57600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Background, problem &amp; proposed solution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The cost of inefficiency today, the AI-driven enabler, and the proof it is built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498848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53712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53712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Cross-functional process map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As-Is vs To-Be workflow, time saved, and risk mitigated by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94960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9824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449824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Cost &amp; benefit analysis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CAPEX vs OPEX, projected payback, and the recommended pilot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291072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secure AI assistant already saves frontliners time and prevents errors today, and it is low cost and low risk to scale bank-wide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10820095" cy="749808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37360"/>
            <a:ext cx="64008" cy="74980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737360"/>
            <a:ext cx="10362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82C"/>
                </a:solidFill>
                <a:latin typeface="Calibri"/>
              </a:rPr>
              <a:t>Frontliners ask in plain language and get a source-cited answer in seconds, taken only from the bank's own approved content. Speed no longer trades off against accuracy or compliance.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3423818" cy="7772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problem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Product and promo details sit across many portals and PDFs and change often. Looking them up is slow, and a wrong or expired answer is a compliance and trust risk.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3938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670048"/>
            <a:ext cx="3423818" cy="77724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3394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solution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One secure assistant answers only from approved bank content and shows the source for every answer. Expired offers are flagged. It works in Bahasa Indonesia and English.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2076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2076" y="2670048"/>
            <a:ext cx="3423818" cy="7772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1532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prize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Faster service, higher first-contact resolution, fewer errors, and new cross-sell moments, all at a low running cost.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0001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C5359"/>
                </a:solidFill>
                <a:latin typeface="Calibri"/>
              </a:rPr>
              <a:t>Impact snapshot · projected from the cost-benefit case, with live proof in 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6B84"/>
                </a:solidFill>
                <a:latin typeface="Calibri"/>
              </a:rPr>
              <a:t>~5 sec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answer per query, vs up to 493 min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9403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&lt; 3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403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projected payback on ~Rp 206 Mio a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6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0812C"/>
                </a:solidFill>
                <a:latin typeface="Calibri"/>
              </a:rPr>
              <a:t>~Rp 4.1 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6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estimated Year-1 net benefit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609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0812C"/>
                </a:solidFill>
                <a:latin typeface="Calibri"/>
              </a:rPr>
              <a:t>326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609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products &amp; promos live · 51 categories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PROJECT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One AI-based single source of truth, targeting ≤ 5-second lookups, 95% answer accuracy and cutting customer complaints to &lt; 10%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645920"/>
            <a:ext cx="5272887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45920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645920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Situational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2194560"/>
            <a:ext cx="47973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4002B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EES 2025:  </a:t>
            </a:r>
            <a:r>
              <a:rPr sz="1050" b="1" i="0">
                <a:solidFill>
                  <a:srgbClr val="E4002B"/>
                </a:solidFill>
                <a:latin typeface="Calibri"/>
              </a:rPr>
              <a:t>36%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 of frontliners (</a:t>
            </a:r>
            <a:r>
              <a:rPr sz="1050" b="1" i="0">
                <a:solidFill>
                  <a:srgbClr val="E4002B"/>
                </a:solidFill>
                <a:latin typeface="Calibri"/>
              </a:rPr>
              <a:t>1,200+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) cannot easily find current product, promo and procedure information; it is scattered across email, intranet and other channels, and mixed with expired material.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4002B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No single source of truth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, frontliners search manually or ask Product Owners directly, who then field hundreds to thousands of repeat questions, cutting productivity at branches and Head Office.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645920"/>
            <a:ext cx="5272887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645920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0751" y="1645920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Objective &amp; key 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194560"/>
            <a:ext cx="47973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282C"/>
                </a:solidFill>
                <a:latin typeface="Calibri"/>
              </a:rPr>
              <a:t>Objective   </a:t>
            </a:r>
            <a:r>
              <a:rPr sz="1100" b="0" i="0">
                <a:solidFill>
                  <a:srgbClr val="6A7177"/>
                </a:solidFill>
                <a:latin typeface="Calibri"/>
              </a:rPr>
              <a:t>one AI single source of truth for product &amp; promo information.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48716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9663" y="2487168"/>
            <a:ext cx="896112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9663" y="2487168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≤ 5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791" y="2487168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 lookup (from &gt;30 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0751" y="273405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9663" y="2734056"/>
            <a:ext cx="896112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9663" y="2734056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791" y="2734056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accuracy of frontliner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0751" y="298094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9663" y="2980944"/>
            <a:ext cx="896112" cy="256032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9663" y="2980944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&lt; 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3791" y="2980944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NPS: weak frontliner advisory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751" y="3227832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9663" y="3227832"/>
            <a:ext cx="896112" cy="256032"/>
          </a:xfrm>
          <a:prstGeom prst="round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9663" y="3227832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3791" y="3227832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 reliance on 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675887"/>
            <a:ext cx="5272887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3675887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" y="3675887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" y="4224527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E6B84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Productivity: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frontliners wait up to next-day (H+1) for answers, from manual search and Head-Office bottlenecks.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" y="4626863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812C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Accuracy: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answers to customers vary and can be biased, with no single source of truth.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" y="5029199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Experience: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NPS H1 2025:  38% of customers complained about frontliner answer quality.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3007" y="3675887"/>
            <a:ext cx="5272887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3675887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0751" y="3675887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Scope &amp; constraints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0751" y="4224527"/>
            <a:ext cx="47973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282C"/>
                </a:solidFill>
                <a:latin typeface="Calibri"/>
              </a:rPr>
              <a:t>Scope   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Central platform · Content management · Training · Monitoring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70751" y="4590287"/>
            <a:ext cx="4797399" cy="1016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0751" y="4681727"/>
            <a:ext cx="47973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PO uploads verified before publishing.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Dual control on every upload to the content hub.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Start/end dates prevent use of expired content.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22976"/>
            <a:ext cx="108200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HIGH-LEVEL TIMELINE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   ·  content upload from Nov 2025, live by Apr 2026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742432"/>
            <a:ext cx="2526715" cy="43891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PO content upload to CMS Hub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W4 Nov 2025 to W2 Feb 2026</a:t>
            </a:r>
          </a:p>
        </p:txBody>
      </p:sp>
      <p:sp>
        <p:nvSpPr>
          <p:cNvPr id="49" name="Chevron 48"/>
          <p:cNvSpPr/>
          <p:nvPr/>
        </p:nvSpPr>
        <p:spPr>
          <a:xfrm>
            <a:off x="3249091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450259" y="5742432"/>
            <a:ext cx="2526715" cy="438912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1699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UAT: OSG Admin &amp; SQM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W3 Feb 2026</a:t>
            </a:r>
          </a:p>
        </p:txBody>
      </p:sp>
      <p:sp>
        <p:nvSpPr>
          <p:cNvPr id="52" name="Chevron 51"/>
          <p:cNvSpPr/>
          <p:nvPr/>
        </p:nvSpPr>
        <p:spPr>
          <a:xfrm>
            <a:off x="6013550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214718" y="5742432"/>
            <a:ext cx="2526715" cy="438912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6158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UAT: OSG by Product Owners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W3 Mar 2026</a:t>
            </a:r>
          </a:p>
        </p:txBody>
      </p:sp>
      <p:sp>
        <p:nvSpPr>
          <p:cNvPr id="55" name="Chevron 54"/>
          <p:cNvSpPr/>
          <p:nvPr/>
        </p:nvSpPr>
        <p:spPr>
          <a:xfrm>
            <a:off x="8778009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79177" y="5742432"/>
            <a:ext cx="2526715" cy="43891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70617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Launch OSG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W2 Apr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BACKGROUND,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About 6,000 customer questions a day take ~49,300 hours to answer today; OSG returns a cited answer in seconds, ~8 hours in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55648"/>
            <a:ext cx="10820095" cy="841248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68580" cy="841248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603504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55648"/>
            <a:ext cx="14630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BACKGROUND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The bank's front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1755648"/>
            <a:ext cx="24688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4282C"/>
                </a:solidFill>
                <a:latin typeface="Calibri"/>
              </a:rPr>
              <a:t>1,200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frontliners, the bank's front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938528"/>
            <a:ext cx="12700" cy="47548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755648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4282C"/>
                </a:solidFill>
                <a:latin typeface="Calibri"/>
              </a:rPr>
              <a:t>~6,000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customer questions every 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938528"/>
            <a:ext cx="12700" cy="47548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755648"/>
            <a:ext cx="24688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C5359"/>
                </a:solidFill>
                <a:latin typeface="Calibri"/>
              </a:rPr>
              <a:t>Every question needs a fast, correct and trusted answer, on first contact.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734056"/>
            <a:ext cx="10820095" cy="1591056"/>
          </a:xfrm>
          <a:prstGeom prst="rect">
            <a:avLst/>
          </a:prstGeom>
          <a:solidFill>
            <a:srgbClr val="FBF1F2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734056"/>
            <a:ext cx="68580" cy="1591056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734056"/>
            <a:ext cx="603504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34056"/>
            <a:ext cx="1463040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PROBLEM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Scattered knowledge, slow answers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17520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82112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493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>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elapsed per 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escalate to a Product Owner, wait to H+1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80761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80761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5353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49,300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> hrs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5353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per day, all frontliners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5353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493 min x 1,200 x 5 cases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4002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44002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08594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36%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8594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cannot find the 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4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email, intranet, old PDFs · EES 2025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7243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07243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71835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38%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71835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of customers complain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1835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late, inconsistent answers · NPS H1 2025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490472" y="4206240"/>
            <a:ext cx="292608" cy="237744"/>
          </a:xfrm>
          <a:prstGeom prst="downArrow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4462272"/>
            <a:ext cx="10820095" cy="1591056"/>
          </a:xfrm>
          <a:prstGeom prst="rect">
            <a:avLst/>
          </a:prstGeom>
          <a:solidFill>
            <a:srgbClr val="EDF4F2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5800" y="4462272"/>
            <a:ext cx="68580" cy="1591056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462272"/>
            <a:ext cx="603504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462272"/>
            <a:ext cx="1463040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SOLUTION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OSG: one AI source of truth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017520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17520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~5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 sec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cited answer per case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82112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ask in plain words, get the source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80761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180761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45353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~8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 hrs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5353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per day, all frontliners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5353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5 sec x 1,200 x 5 cases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44002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4002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08594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100%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8594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source-cited &amp; current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08594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one approved single source of truth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7243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07243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71835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1st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-contact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71835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resolved &amp; traceable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1835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confident, correct, auditable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PROOF · BUILT &amp;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Live since April 2026: 1,313 users have asked 12,944 questions, with 86% answered correctly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73936"/>
            <a:ext cx="10820095" cy="118872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1,313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6B84"/>
                </a:solidFill>
                <a:latin typeface="Calibri"/>
              </a:rPr>
              <a:t>12,944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questions asked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0812C"/>
                </a:solidFill>
                <a:latin typeface="Calibri"/>
              </a:rPr>
              <a:t>326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6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products &amp; promos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09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86%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09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answered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2243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5846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49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17520"/>
            <a:ext cx="108200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7177"/>
                </a:solidFill>
                <a:latin typeface="Calibri"/>
              </a:rPr>
              <a:t>Live pilot · 6 Apr to 6 Jul 2026 · adoption and accuracy climbing toward the 95%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383280"/>
            <a:ext cx="527288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WHAT USERS 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767328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Product &amp; promo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3803904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80360" y="3803904"/>
            <a:ext cx="1957309" cy="18288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10631" y="376732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002B"/>
                </a:solidFill>
                <a:latin typeface="Calibri"/>
              </a:rPr>
              <a:t>76%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4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Operational terms &amp; policy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80360" y="4206240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80360" y="4206240"/>
            <a:ext cx="386311" cy="182880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0631" y="416966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812C"/>
                </a:solidFill>
                <a:latin typeface="Calibri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72000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Greetings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360" y="4608576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0360" y="4608576"/>
            <a:ext cx="206032" cy="18288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10631" y="4572000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6B84"/>
                </a:solidFill>
                <a:latin typeface="Calibri"/>
              </a:rPr>
              <a:t>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084064"/>
            <a:ext cx="5272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Most questions are exactly what OSG is built for, product and promo answers, and it handles them in seconds.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3383280"/>
            <a:ext cx="527288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ANSWER QUALITY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3767328"/>
            <a:ext cx="4534682" cy="292608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7689" y="3767328"/>
            <a:ext cx="738205" cy="29260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2735" y="3767328"/>
            <a:ext cx="453468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86% answered correctly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67689" y="3767328"/>
            <a:ext cx="73820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3007" y="4187952"/>
            <a:ext cx="5272887" cy="65836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3007" y="4187952"/>
            <a:ext cx="64008" cy="65836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5887" y="4187952"/>
            <a:ext cx="1280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4002B"/>
                </a:solidFill>
                <a:latin typeface="Calibri"/>
              </a:rPr>
              <a:t>14%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50911" y="4187952"/>
            <a:ext cx="3608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are not wrong answers, they are questions OSG deliberately does not guess 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3007" y="4992624"/>
            <a:ext cx="52728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Internal data or policy questions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Internal procedures and authorization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Real-time data, such as currency rates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Data outside the current period, e.g. a future-month promo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CROSS-FUNCTIONAL PROCESS MAP · BEFORE (WITHOUT OSG)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Today, a manual chain from Product Owner to branch, with an H+1 escalation whenever the answer is not on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1810512"/>
            <a:ext cx="9887407" cy="14630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810512"/>
            <a:ext cx="932688" cy="146304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420624" y="207568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8488" y="3273552"/>
            <a:ext cx="9887407" cy="1463040"/>
          </a:xfrm>
          <a:prstGeom prst="rect">
            <a:avLst/>
          </a:prstGeom>
          <a:solidFill>
            <a:srgbClr val="F1F1F3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273552"/>
            <a:ext cx="932688" cy="1463040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420624" y="353872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FRONTLINER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18488" y="4736592"/>
            <a:ext cx="9887407" cy="1463040"/>
          </a:xfrm>
          <a:prstGeom prst="rect">
            <a:avLst/>
          </a:prstGeom>
          <a:solidFill>
            <a:srgbClr val="FBEEF0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736592"/>
            <a:ext cx="932688" cy="1463040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16200000">
            <a:off x="420624" y="500176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PRODUCT OWNER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195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asks a question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0195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Search the materials the PO uploaded</a:t>
            </a:r>
          </a:p>
        </p:txBody>
      </p:sp>
      <p:sp>
        <p:nvSpPr>
          <p:cNvPr id="23" name="Diamond 22"/>
          <p:cNvSpPr/>
          <p:nvPr/>
        </p:nvSpPr>
        <p:spPr>
          <a:xfrm>
            <a:off x="3803904" y="3547872"/>
            <a:ext cx="1627632" cy="914400"/>
          </a:xfrm>
          <a:prstGeom prst="diamond">
            <a:avLst/>
          </a:prstGeom>
          <a:solidFill>
            <a:srgbClr val="EAF2F0"/>
          </a:solidFill>
          <a:ln w="15240">
            <a:solidFill>
              <a:srgbClr val="395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3547872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282C"/>
                </a:solidFill>
                <a:latin typeface="Calibri"/>
              </a:rPr>
              <a:t>Material found?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4243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the customer, same day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243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same 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22192" y="515721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515721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Escalate to the PIC PO; PO replies (H+1)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692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Follow up and answer the customer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291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next day (H+1)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69748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93008" y="4005072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431536" y="4005072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358384" y="3877056"/>
            <a:ext cx="457200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8384" y="387705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653796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617720" y="4462272"/>
            <a:ext cx="0" cy="69494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389120" y="4681728"/>
            <a:ext cx="457200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68172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5413248" y="4005072"/>
            <a:ext cx="4169664" cy="146304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37844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CROSS-FUNCTIONAL PROCESS MAP · AFTER (WITH OSG)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With OSG, one centralized CMS Hub feeds the AI, and the frontliner answers from the source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1792224"/>
            <a:ext cx="9887407" cy="112471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92224"/>
            <a:ext cx="932688" cy="1124712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589788" y="1888236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8488" y="2916936"/>
            <a:ext cx="9887407" cy="1124712"/>
          </a:xfrm>
          <a:prstGeom prst="rect">
            <a:avLst/>
          </a:prstGeom>
          <a:solidFill>
            <a:srgbClr val="F1F1F3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916936"/>
            <a:ext cx="932688" cy="1124712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589788" y="3012948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FRONTLINER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18488" y="4041648"/>
            <a:ext cx="9887407" cy="1124712"/>
          </a:xfrm>
          <a:prstGeom prst="rect">
            <a:avLst/>
          </a:prstGeom>
          <a:solidFill>
            <a:srgbClr val="FBEEF0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041648"/>
            <a:ext cx="932688" cy="1124712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16200000">
            <a:off x="589788" y="4137660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OSG ·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" y="5166360"/>
            <a:ext cx="9887407" cy="112471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166360"/>
            <a:ext cx="932688" cy="1124712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 rot="16200000">
            <a:off x="589788" y="5262372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CMS HUB · 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0512" y="5445252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20" y="544525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Upload materials to the CMS Hub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10512" y="4320540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20" y="432054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OSG pulls from CMS Hub; KB updates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0752" y="2071116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207111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asks a question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30752" y="3195828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4760" y="319582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Log in to OSG and search</a:t>
            </a:r>
          </a:p>
        </p:txBody>
      </p:sp>
      <p:sp>
        <p:nvSpPr>
          <p:cNvPr id="30" name="Diamond 29"/>
          <p:cNvSpPr/>
          <p:nvPr/>
        </p:nvSpPr>
        <p:spPr>
          <a:xfrm>
            <a:off x="5632704" y="4174236"/>
            <a:ext cx="1627632" cy="859536"/>
          </a:xfrm>
          <a:prstGeom prst="diamond">
            <a:avLst/>
          </a:prstGeom>
          <a:solidFill>
            <a:srgbClr val="EAF2F0"/>
          </a:solidFill>
          <a:ln w="15240">
            <a:solidFill>
              <a:srgbClr val="395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4174236"/>
            <a:ext cx="13716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282C"/>
                </a:solidFill>
                <a:latin typeface="Calibri"/>
              </a:rPr>
              <a:t>Answer found?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71232" y="4320540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432054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with source and full detail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71232" y="3195828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319582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the customer, in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71232" y="2071116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207111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in seconds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50992" y="5445252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544525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PIC PO updates the CMS Hub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2606040" y="4887468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401568" y="4604004"/>
            <a:ext cx="223113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526280" y="2638044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321808" y="3479292"/>
            <a:ext cx="310896" cy="1124712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60336" y="4604004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187184" y="4475988"/>
            <a:ext cx="457200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87184" y="447598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8366760" y="3762756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66760" y="2638044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46520" y="5033772"/>
            <a:ext cx="0" cy="41148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217920" y="5111496"/>
            <a:ext cx="457200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511149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COST &amp; BENEFIT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lean ~Rp 206 Mio a year to run, set against an estimated productivity and service benefit many times larger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10820095" cy="32918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37360"/>
            <a:ext cx="31363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Cost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37360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Qty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737360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Price (Mio)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47504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103120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103120"/>
            <a:ext cx="54864" cy="254203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2103120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CAPEX  ·  one-time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2357323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Database (500 GB)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357323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57323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61.8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0448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611526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2611526"/>
            <a:ext cx="54864" cy="254203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" y="2611526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OPEX  ·  build &amp; recurring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2865729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Database IT direct charge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2865729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865729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448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08976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7504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3119932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Man-days, develop OSG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3119932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19932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70448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113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9712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08976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47504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" y="3374135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Man-days, IT deployment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3374135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53712" y="3374135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70448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9712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08976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1832" y="3628338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Cloudera license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1920" y="3628338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3628338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5,000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0448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39712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08976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7504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1832" y="3882541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Cloudera maintenance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3882541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53712" y="3882541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152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39712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6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78240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47504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" y="4136744"/>
            <a:ext cx="10820095" cy="12700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85800" y="4136744"/>
            <a:ext cx="10820095" cy="254203"/>
          </a:xfrm>
          <a:prstGeom prst="rect">
            <a:avLst/>
          </a:prstGeom>
          <a:solidFill>
            <a:srgbClr val="F1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1832" y="4136744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Total cost per year (Rp Mio)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0" y="4136744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53712" y="4136744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70448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448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9712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08976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78240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4390947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5800" y="4390947"/>
            <a:ext cx="54864" cy="254203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2104" y="4390947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POTENTIAL BENEFIT  ·  estimate (ramps with adoption)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832" y="4645150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Productivity &amp; operations (time saved)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31920" y="4645150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53712" y="4645150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70448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3,500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39712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5,600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6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78240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47504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41832" y="4899353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Potential revenue (cross-sell &amp; retention)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31920" y="4899353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53712" y="4899353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70448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1,000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39712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1,800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08976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78240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747504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153556"/>
            <a:ext cx="10820095" cy="12700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85800" y="5153556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41832" y="5153556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Net per year (benefit less cost)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31920" y="5153556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53712" y="5153556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870448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4,052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39712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7,194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08976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78240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5435191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9BA1A7"/>
                </a:solidFill>
                <a:latin typeface="Calibri"/>
              </a:rPr>
              <a:t>Costs are actual estimates (Rp Mio = million); license and maintenance priced as total contract value, with the annual charge in Y1 to Y5. 5-year cost ~Rp 1,272 Mio.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9BA1A7"/>
                </a:solidFill>
                <a:latin typeface="Calibri"/>
              </a:rPr>
              <a:t>About 10 minutes saved per frontliner per day (1,200 frontliners, ~240 days) valued at ~Rp 0.15 Mio/hour and ramping with adoption, plus a conservative customer-experience and cross-sell uplift. To be validated in pilot.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RISK, SECURITY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The risks executives worry about most (accuracy, data security and auditability) are mitigated by design, not bolted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847088"/>
            <a:ext cx="3423818" cy="7772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Accuracy &amp;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Answers come only from approved bank content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Every answer shows its source, so it can be checked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Expired offers are flagged; if there's no answer, it says 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3938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847088"/>
            <a:ext cx="3423818" cy="7772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3394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Data security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3394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Runs in a tightly controlled, secure environment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Can run entirely inside the bank, no data leaves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Never handles customer secrets such as PINs or passwords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2076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2076" y="1847088"/>
            <a:ext cx="3423818" cy="77724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1532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Content governance (CMS Hub)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1532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Product Owners keep the CMS Hub current, the single source of truth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Start and end dates set at upload, so expired offers are never served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Dual control on uploads; every change is logged and auditable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257800"/>
            <a:ext cx="10820095" cy="658368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5257800"/>
            <a:ext cx="64008" cy="65836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25780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002B"/>
                </a:solidFill>
                <a:latin typeface="Calibri"/>
              </a:rPr>
              <a:t>Bottom line:  </a:t>
            </a:r>
            <a:r>
              <a:rPr sz="1400" b="1" i="0">
                <a:solidFill>
                  <a:srgbClr val="24282C"/>
                </a:solidFill>
                <a:latin typeface="Calibri"/>
              </a:rPr>
              <a:t>the process assigns clear ownership: Product Owners must keep materials and their start/end dates current in the CMS Hub, so OSG always answers from approved, in-force content, with every answer traceable to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What our users say about OSG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73152" cy="4160520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95268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Share a real quote about how OSG changed their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8545" y="5394227"/>
            <a:ext cx="170078" cy="170078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3506" y="5609660"/>
            <a:ext cx="340156" cy="260786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55064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4418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4418" y="1874519"/>
            <a:ext cx="73152" cy="4160520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2162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4002B"/>
                </a:solidFill>
                <a:latin typeface="Calibri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8738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Keep it short, specific and in their own words.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8738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8738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7163" y="5394227"/>
            <a:ext cx="170078" cy="17007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02124" y="5609660"/>
            <a:ext cx="340156" cy="260786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3682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3036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43036" y="1874519"/>
            <a:ext cx="73152" cy="4160520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0780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0812C"/>
                </a:solidFill>
                <a:latin typeface="Calibri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7356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A number or a before/after detail makes it land.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7356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7356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5781" y="5394227"/>
            <a:ext cx="170078" cy="170078"/>
          </a:xfrm>
          <a:prstGeom prst="ellipse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30742" y="5609660"/>
            <a:ext cx="340156" cy="260786"/>
          </a:xfrm>
          <a:prstGeom prst="ellipse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2300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More voices from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73152" cy="4160520"/>
          </a:xfrm>
          <a:prstGeom prst="round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24282C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A Product Owner or branch lead perspective works well on this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8545" y="5394227"/>
            <a:ext cx="170078" cy="170078"/>
          </a:xfrm>
          <a:prstGeom prst="ellipse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3506" y="5609660"/>
            <a:ext cx="340156" cy="260786"/>
          </a:xfrm>
          <a:prstGeom prst="ellipse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55064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4418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4418" y="1874519"/>
            <a:ext cx="73152" cy="4160520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2162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95268"/>
                </a:solidFill>
                <a:latin typeface="Calibri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8738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Highlight time saved, accuracy, or customer reaction.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8738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8738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7163" y="5394227"/>
            <a:ext cx="170078" cy="170078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02124" y="5609660"/>
            <a:ext cx="340156" cy="260786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3682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3036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43036" y="1874519"/>
            <a:ext cx="73152" cy="4160520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0780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4002B"/>
                </a:solidFill>
                <a:latin typeface="Calibri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7356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Close on the impact for the customer.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7356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7356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5781" y="5394227"/>
            <a:ext cx="170078" cy="17007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30742" y="5609660"/>
            <a:ext cx="340156" cy="260786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2300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real question, answered: OSG lists every current card promo with amounts, codes, dates and sources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21992"/>
            <a:ext cx="7351776" cy="36027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g_pr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7223760" cy="3474720"/>
          </a:xfrm>
          <a:prstGeom prst="rect">
            <a:avLst/>
          </a:prstGeom>
          <a:ln w="9525">
            <a:solidFill>
              <a:srgbClr val="CBCDD1"/>
            </a:solidFill>
          </a:ln>
        </p:spPr>
      </p:pic>
      <p:sp>
        <p:nvSpPr>
          <p:cNvPr id="12" name="Oval 11"/>
          <p:cNvSpPr/>
          <p:nvPr/>
        </p:nvSpPr>
        <p:spPr>
          <a:xfrm>
            <a:off x="5505602" y="2590495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5602" y="2590495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3410712" y="316382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3163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3410712" y="4414723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4414723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4277563" y="490118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7563" y="490118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2304288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0428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7" y="2286000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Ask in plain language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A frontliner types an everyday question, no keywords or product codes needed.</a:t>
            </a:r>
          </a:p>
        </p:txBody>
      </p:sp>
      <p:sp>
        <p:nvSpPr>
          <p:cNvPr id="23" name="Oval 22"/>
          <p:cNvSpPr/>
          <p:nvPr/>
        </p:nvSpPr>
        <p:spPr>
          <a:xfrm>
            <a:off x="8183879" y="3200400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004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7" y="3182112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 complete, structured answer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Five current card promos with amounts, voucher codes and validity dates.</a:t>
            </a:r>
          </a:p>
        </p:txBody>
      </p:sp>
      <p:sp>
        <p:nvSpPr>
          <p:cNvPr id="26" name="Oval 25"/>
          <p:cNvSpPr/>
          <p:nvPr/>
        </p:nvSpPr>
        <p:spPr>
          <a:xfrm>
            <a:off x="8183879" y="409651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409651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4078224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Every answer cites its source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Zalora, Blibli, Shopee and the bank promo page, one click to verify.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499262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49926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7" y="4974336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Guided follow-ups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Suggested next questions open terms and how-to-use in a single tap.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See it in action: browse the catalogue, explore the knowledge graph, and ask OSG for a source-cited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67712"/>
            <a:ext cx="735177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g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7223760" cy="3392424"/>
          </a:xfrm>
          <a:prstGeom prst="rect">
            <a:avLst/>
          </a:prstGeom>
          <a:ln w="9525">
            <a:solidFill>
              <a:srgbClr val="CBCDD1"/>
            </a:solidFill>
          </a:ln>
        </p:spPr>
      </p:pic>
      <p:sp>
        <p:nvSpPr>
          <p:cNvPr id="12" name="Oval 11"/>
          <p:cNvSpPr/>
          <p:nvPr/>
        </p:nvSpPr>
        <p:spPr>
          <a:xfrm>
            <a:off x="1243584" y="365979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65979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4494276" y="4032961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4276" y="4032961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878116" y="308308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116" y="308308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300216" y="3761567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761567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2350008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5000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7" y="2331720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Browse the catalogue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751 documents across 51 categories, filtered by product or promo.</a:t>
            </a:r>
          </a:p>
        </p:txBody>
      </p:sp>
      <p:sp>
        <p:nvSpPr>
          <p:cNvPr id="23" name="Oval 22"/>
          <p:cNvSpPr/>
          <p:nvPr/>
        </p:nvSpPr>
        <p:spPr>
          <a:xfrm>
            <a:off x="8183879" y="3246120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461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7" y="3227832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Explore the knowledge graph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See how a product links to related and duplicate offers.</a:t>
            </a:r>
          </a:p>
        </p:txBody>
      </p:sp>
      <p:sp>
        <p:nvSpPr>
          <p:cNvPr id="26" name="Oval 25"/>
          <p:cNvSpPr/>
          <p:nvPr/>
        </p:nvSpPr>
        <p:spPr>
          <a:xfrm>
            <a:off x="8183879" y="414223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414223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4123944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Ask in plain language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OSG replies in seconds, in Bahasa Indonesia or English.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503834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3834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7" y="5020056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Every answer cites its source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One click opens the exact document behind the answer.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A7464"/>
              </a:gs>
              <a:gs pos="100000">
                <a:srgbClr val="082C2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40280"/>
            <a:ext cx="12191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E6B84"/>
                </a:solidFill>
                <a:latin typeface="Calibri"/>
              </a:rPr>
              <a:t>OSG  ·  SMART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15184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3822191"/>
            <a:ext cx="1005840" cy="64008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096512"/>
            <a:ext cx="121916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CE8"/>
                </a:solidFill>
                <a:latin typeface="Calibri"/>
              </a:rPr>
              <a:t>Faster, source-cited answers for every frontliner. Questions and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