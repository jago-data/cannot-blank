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H="1" flipV="1">
            <a:off x="7178040" y="1234440"/>
            <a:ext cx="1737360" cy="777240"/>
          </a:xfrm>
          <a:prstGeom prst="line">
            <a:avLst/>
          </a:prstGeom>
          <a:ln w="9525">
            <a:solidFill>
              <a:srgbClr val="D7DC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 flipV="1">
            <a:off x="8275320" y="868680"/>
            <a:ext cx="640080" cy="1143000"/>
          </a:xfrm>
          <a:prstGeom prst="line">
            <a:avLst/>
          </a:prstGeom>
          <a:ln w="9525">
            <a:solidFill>
              <a:srgbClr val="D7DC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8915400" y="1234440"/>
            <a:ext cx="1143000" cy="777240"/>
          </a:xfrm>
          <a:prstGeom prst="line">
            <a:avLst/>
          </a:prstGeom>
          <a:ln w="9525">
            <a:solidFill>
              <a:srgbClr val="D7DC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8046720" y="2011680"/>
            <a:ext cx="868680" cy="914400"/>
          </a:xfrm>
          <a:prstGeom prst="line">
            <a:avLst/>
          </a:prstGeom>
          <a:ln w="9525">
            <a:solidFill>
              <a:srgbClr val="D7DC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915400" y="2011680"/>
            <a:ext cx="777240" cy="685800"/>
          </a:xfrm>
          <a:prstGeom prst="line">
            <a:avLst/>
          </a:prstGeom>
          <a:ln w="9525">
            <a:solidFill>
              <a:srgbClr val="D7DC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7726679" y="1965960"/>
            <a:ext cx="1188721" cy="45720"/>
          </a:xfrm>
          <a:prstGeom prst="line">
            <a:avLst/>
          </a:prstGeom>
          <a:ln w="9525">
            <a:solidFill>
              <a:srgbClr val="D7DC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7360920" y="2011680"/>
            <a:ext cx="1554480" cy="1920240"/>
          </a:xfrm>
          <a:prstGeom prst="line">
            <a:avLst/>
          </a:prstGeom>
          <a:ln w="9525">
            <a:solidFill>
              <a:srgbClr val="D7DC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10058400" y="1234440"/>
            <a:ext cx="777240" cy="2377440"/>
          </a:xfrm>
          <a:prstGeom prst="line">
            <a:avLst/>
          </a:prstGeom>
          <a:ln w="9525">
            <a:solidFill>
              <a:srgbClr val="D7DC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835640" y="2011680"/>
            <a:ext cx="704088" cy="1600200"/>
          </a:xfrm>
          <a:prstGeom prst="line">
            <a:avLst/>
          </a:prstGeom>
          <a:ln w="9525">
            <a:solidFill>
              <a:srgbClr val="D7DC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9692640" y="2697480"/>
            <a:ext cx="1143000" cy="914400"/>
          </a:xfrm>
          <a:prstGeom prst="line">
            <a:avLst/>
          </a:prstGeom>
          <a:ln w="9525">
            <a:solidFill>
              <a:srgbClr val="D7DC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835640" y="3611880"/>
            <a:ext cx="548640" cy="1005840"/>
          </a:xfrm>
          <a:prstGeom prst="line">
            <a:avLst/>
          </a:prstGeom>
          <a:ln w="9525">
            <a:solidFill>
              <a:srgbClr val="D7DC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10195560" y="3611880"/>
            <a:ext cx="640080" cy="548640"/>
          </a:xfrm>
          <a:prstGeom prst="line">
            <a:avLst/>
          </a:prstGeom>
          <a:ln w="9525">
            <a:solidFill>
              <a:srgbClr val="D7DC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0835640" y="3063240"/>
            <a:ext cx="1097280" cy="548640"/>
          </a:xfrm>
          <a:prstGeom prst="line">
            <a:avLst/>
          </a:prstGeom>
          <a:ln w="9525">
            <a:solidFill>
              <a:srgbClr val="D7DC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9784080" y="3611880"/>
            <a:ext cx="1051560" cy="1188720"/>
          </a:xfrm>
          <a:prstGeom prst="line">
            <a:avLst/>
          </a:prstGeom>
          <a:ln w="9525">
            <a:solidFill>
              <a:srgbClr val="D7DC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6812280" y="2468880"/>
            <a:ext cx="548640" cy="1463040"/>
          </a:xfrm>
          <a:prstGeom prst="line">
            <a:avLst/>
          </a:prstGeom>
          <a:ln w="9525">
            <a:solidFill>
              <a:srgbClr val="D7DC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6675120" y="3401568"/>
            <a:ext cx="685800" cy="530352"/>
          </a:xfrm>
          <a:prstGeom prst="line">
            <a:avLst/>
          </a:prstGeom>
          <a:ln w="9525">
            <a:solidFill>
              <a:srgbClr val="D7DC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360920" y="2926080"/>
            <a:ext cx="685800" cy="1005840"/>
          </a:xfrm>
          <a:prstGeom prst="line">
            <a:avLst/>
          </a:prstGeom>
          <a:ln w="9525">
            <a:solidFill>
              <a:srgbClr val="D7DC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360920" y="3931920"/>
            <a:ext cx="1097280" cy="685800"/>
          </a:xfrm>
          <a:prstGeom prst="line">
            <a:avLst/>
          </a:prstGeom>
          <a:ln w="9525">
            <a:solidFill>
              <a:srgbClr val="D7DC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6903720" y="3931920"/>
            <a:ext cx="457200" cy="960120"/>
          </a:xfrm>
          <a:prstGeom prst="line">
            <a:avLst/>
          </a:prstGeom>
          <a:ln w="9525">
            <a:solidFill>
              <a:srgbClr val="D7DC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058400" y="1078992"/>
            <a:ext cx="1691640" cy="155448"/>
          </a:xfrm>
          <a:prstGeom prst="line">
            <a:avLst/>
          </a:prstGeom>
          <a:ln w="9525">
            <a:solidFill>
              <a:srgbClr val="D7DC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8046720" y="2697480"/>
            <a:ext cx="1645920" cy="228600"/>
          </a:xfrm>
          <a:prstGeom prst="line">
            <a:avLst/>
          </a:prstGeom>
          <a:ln w="9525">
            <a:solidFill>
              <a:srgbClr val="D7DC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458200" y="4617720"/>
            <a:ext cx="1325880" cy="182880"/>
          </a:xfrm>
          <a:prstGeom prst="line">
            <a:avLst/>
          </a:prstGeom>
          <a:ln w="9525">
            <a:solidFill>
              <a:srgbClr val="D7DC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539728" y="2011680"/>
            <a:ext cx="393192" cy="1051560"/>
          </a:xfrm>
          <a:prstGeom prst="line">
            <a:avLst/>
          </a:prstGeom>
          <a:ln w="9525">
            <a:solidFill>
              <a:srgbClr val="D7DC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7726679" y="1965960"/>
            <a:ext cx="320041" cy="960120"/>
          </a:xfrm>
          <a:prstGeom prst="line">
            <a:avLst/>
          </a:prstGeom>
          <a:ln w="9525">
            <a:solidFill>
              <a:srgbClr val="D7DC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6812280" y="1234440"/>
            <a:ext cx="365760" cy="1234440"/>
          </a:xfrm>
          <a:prstGeom prst="line">
            <a:avLst/>
          </a:prstGeom>
          <a:ln w="9525">
            <a:solidFill>
              <a:srgbClr val="D7DC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9784080" y="4617720"/>
            <a:ext cx="1600200" cy="182880"/>
          </a:xfrm>
          <a:prstGeom prst="line">
            <a:avLst/>
          </a:prstGeom>
          <a:ln w="9525">
            <a:solidFill>
              <a:srgbClr val="D7DC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7059168" y="1115568"/>
            <a:ext cx="237744" cy="237744"/>
          </a:xfrm>
          <a:prstGeom prst="ellipse">
            <a:avLst/>
          </a:prstGeom>
          <a:solidFill>
            <a:srgbClr val="CFD6DC"/>
          </a:solidFill>
          <a:ln w="9525">
            <a:solidFill>
              <a:srgbClr val="BDC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183880" y="777240"/>
            <a:ext cx="182880" cy="182880"/>
          </a:xfrm>
          <a:prstGeom prst="ellipse">
            <a:avLst/>
          </a:prstGeom>
          <a:solidFill>
            <a:srgbClr val="E4002B"/>
          </a:solidFill>
          <a:ln w="9525">
            <a:solidFill>
              <a:srgbClr val="BDC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921240" y="1097280"/>
            <a:ext cx="274320" cy="274320"/>
          </a:xfrm>
          <a:prstGeom prst="ellipse">
            <a:avLst/>
          </a:prstGeom>
          <a:solidFill>
            <a:srgbClr val="CFD6DC"/>
          </a:solidFill>
          <a:ln w="9525">
            <a:solidFill>
              <a:srgbClr val="BDC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430000" y="1901952"/>
            <a:ext cx="219456" cy="219456"/>
          </a:xfrm>
          <a:prstGeom prst="ellipse">
            <a:avLst/>
          </a:prstGeom>
          <a:solidFill>
            <a:srgbClr val="1FA87E"/>
          </a:solidFill>
          <a:ln w="9525">
            <a:solidFill>
              <a:srgbClr val="BDC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667744" y="996695"/>
            <a:ext cx="164592" cy="164592"/>
          </a:xfrm>
          <a:prstGeom prst="ellipse">
            <a:avLst/>
          </a:prstGeom>
          <a:solidFill>
            <a:srgbClr val="CFD6DC"/>
          </a:solidFill>
          <a:ln w="9525">
            <a:solidFill>
              <a:srgbClr val="BDC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702552" y="2359152"/>
            <a:ext cx="219456" cy="219456"/>
          </a:xfrm>
          <a:prstGeom prst="ellipse">
            <a:avLst/>
          </a:prstGeom>
          <a:solidFill>
            <a:srgbClr val="1FA87E"/>
          </a:solidFill>
          <a:ln w="9525">
            <a:solidFill>
              <a:srgbClr val="BDC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583680" y="3310128"/>
            <a:ext cx="182880" cy="182880"/>
          </a:xfrm>
          <a:prstGeom prst="ellipse">
            <a:avLst/>
          </a:prstGeom>
          <a:solidFill>
            <a:srgbClr val="CFD6DC"/>
          </a:solidFill>
          <a:ln w="9525">
            <a:solidFill>
              <a:srgbClr val="BDC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918704" y="2798064"/>
            <a:ext cx="256032" cy="256032"/>
          </a:xfrm>
          <a:prstGeom prst="ellipse">
            <a:avLst/>
          </a:prstGeom>
          <a:solidFill>
            <a:srgbClr val="E4002B"/>
          </a:solidFill>
          <a:ln w="9525">
            <a:solidFill>
              <a:srgbClr val="BDC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592056" y="2596896"/>
            <a:ext cx="201168" cy="201168"/>
          </a:xfrm>
          <a:prstGeom prst="ellipse">
            <a:avLst/>
          </a:prstGeom>
          <a:solidFill>
            <a:srgbClr val="CFD6DC"/>
          </a:solidFill>
          <a:ln w="9525">
            <a:solidFill>
              <a:srgbClr val="BDC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274552" y="4507992"/>
            <a:ext cx="219456" cy="219456"/>
          </a:xfrm>
          <a:prstGeom prst="ellipse">
            <a:avLst/>
          </a:prstGeom>
          <a:solidFill>
            <a:srgbClr val="1FA87E"/>
          </a:solidFill>
          <a:ln w="9525">
            <a:solidFill>
              <a:srgbClr val="BDC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683496" y="4700016"/>
            <a:ext cx="201168" cy="201168"/>
          </a:xfrm>
          <a:prstGeom prst="ellipse">
            <a:avLst/>
          </a:prstGeom>
          <a:solidFill>
            <a:srgbClr val="CFD6DC"/>
          </a:solidFill>
          <a:ln w="9525">
            <a:solidFill>
              <a:srgbClr val="BDC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330183" y="4489704"/>
            <a:ext cx="256032" cy="256032"/>
          </a:xfrm>
          <a:prstGeom prst="ellipse">
            <a:avLst/>
          </a:prstGeom>
          <a:solidFill>
            <a:srgbClr val="E4002B"/>
          </a:solidFill>
          <a:ln w="9525">
            <a:solidFill>
              <a:srgbClr val="BDC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12280" y="4800600"/>
            <a:ext cx="182880" cy="182880"/>
          </a:xfrm>
          <a:prstGeom prst="ellipse">
            <a:avLst/>
          </a:prstGeom>
          <a:solidFill>
            <a:srgbClr val="1FA87E"/>
          </a:solidFill>
          <a:ln w="9525">
            <a:solidFill>
              <a:srgbClr val="BDC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113264" y="4078224"/>
            <a:ext cx="164592" cy="164592"/>
          </a:xfrm>
          <a:prstGeom prst="ellipse">
            <a:avLst/>
          </a:prstGeom>
          <a:solidFill>
            <a:srgbClr val="CFD6DC"/>
          </a:solidFill>
          <a:ln w="9525">
            <a:solidFill>
              <a:srgbClr val="BDC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841480" y="2971800"/>
            <a:ext cx="182880" cy="182880"/>
          </a:xfrm>
          <a:prstGeom prst="ellipse">
            <a:avLst/>
          </a:prstGeom>
          <a:solidFill>
            <a:srgbClr val="E4002B"/>
          </a:solidFill>
          <a:ln w="9525">
            <a:solidFill>
              <a:srgbClr val="BDC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644383" y="1883664"/>
            <a:ext cx="164592" cy="164592"/>
          </a:xfrm>
          <a:prstGeom prst="ellipse">
            <a:avLst/>
          </a:prstGeom>
          <a:solidFill>
            <a:srgbClr val="CFD6DC"/>
          </a:solidFill>
          <a:ln w="9525">
            <a:solidFill>
              <a:srgbClr val="BDC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592824" y="3163824"/>
            <a:ext cx="1536192" cy="1536192"/>
          </a:xfrm>
          <a:prstGeom prst="ellipse">
            <a:avLst/>
          </a:prstGeom>
          <a:solidFill>
            <a:srgbClr val="FB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823252" y="3394252"/>
            <a:ext cx="1075334" cy="1075334"/>
          </a:xfrm>
          <a:prstGeom prst="ellipse">
            <a:avLst/>
          </a:prstGeom>
          <a:solidFill>
            <a:srgbClr val="F3B3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976872" y="3547872"/>
            <a:ext cx="768096" cy="768096"/>
          </a:xfrm>
          <a:prstGeom prst="ellipse">
            <a:avLst/>
          </a:prstGeom>
          <a:solidFill>
            <a:srgbClr val="EC7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104888" y="3675887"/>
            <a:ext cx="512064" cy="512064"/>
          </a:xfrm>
          <a:prstGeom prst="ellipse">
            <a:avLst/>
          </a:prstGeom>
          <a:solidFill>
            <a:srgbClr val="E4002B"/>
          </a:solidFill>
          <a:ln w="9525">
            <a:solidFill>
              <a:srgbClr val="BDC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258507" y="3829507"/>
            <a:ext cx="204825" cy="20482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930384" y="2706624"/>
            <a:ext cx="1810512" cy="1810512"/>
          </a:xfrm>
          <a:prstGeom prst="ellipse">
            <a:avLst/>
          </a:prstGeom>
          <a:solidFill>
            <a:srgbClr val="DD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201960" y="2978200"/>
            <a:ext cx="1267358" cy="1267358"/>
          </a:xfrm>
          <a:prstGeom prst="ellipse">
            <a:avLst/>
          </a:prstGeom>
          <a:solidFill>
            <a:srgbClr val="A6D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383012" y="3159252"/>
            <a:ext cx="905256" cy="905256"/>
          </a:xfrm>
          <a:prstGeom prst="ellipse">
            <a:avLst/>
          </a:prstGeom>
          <a:solidFill>
            <a:srgbClr val="54C1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533888" y="3310128"/>
            <a:ext cx="603504" cy="603504"/>
          </a:xfrm>
          <a:prstGeom prst="ellipse">
            <a:avLst/>
          </a:prstGeom>
          <a:solidFill>
            <a:srgbClr val="1FA87E"/>
          </a:solidFill>
          <a:ln w="9525">
            <a:solidFill>
              <a:srgbClr val="BDC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714939" y="3491179"/>
            <a:ext cx="241401" cy="24140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818120" y="914400"/>
            <a:ext cx="2194560" cy="2194560"/>
          </a:xfrm>
          <a:prstGeom prst="ellipse">
            <a:avLst/>
          </a:prstGeom>
          <a:solidFill>
            <a:srgbClr val="FB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147304" y="1243584"/>
            <a:ext cx="1536192" cy="1536192"/>
          </a:xfrm>
          <a:prstGeom prst="ellipse">
            <a:avLst/>
          </a:prstGeom>
          <a:solidFill>
            <a:srgbClr val="F3B3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366760" y="1463040"/>
            <a:ext cx="1097280" cy="1097280"/>
          </a:xfrm>
          <a:prstGeom prst="ellipse">
            <a:avLst/>
          </a:prstGeom>
          <a:solidFill>
            <a:srgbClr val="EC7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549640" y="1645920"/>
            <a:ext cx="731520" cy="731520"/>
          </a:xfrm>
          <a:prstGeom prst="ellipse">
            <a:avLst/>
          </a:prstGeom>
          <a:solidFill>
            <a:srgbClr val="E4002B"/>
          </a:solidFill>
          <a:ln w="9525">
            <a:solidFill>
              <a:srgbClr val="BDC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769096" y="1865376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1248" y="603504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4002B"/>
                </a:solidFill>
                <a:latin typeface="Calibri"/>
              </a:rPr>
              <a:t>OSG</a:t>
            </a:r>
            <a:r>
              <a:rPr sz="1150" b="1" i="0">
                <a:solidFill>
                  <a:srgbClr val="9AA3AB"/>
                </a:solidFill>
                <a:latin typeface="Calibri"/>
              </a:rPr>
              <a:t>      EXECUTIVE  BRIEFING  ·  BANK  LEADERSHIP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60" y="987552"/>
            <a:ext cx="5120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E2933"/>
                </a:solidFill>
                <a:latin typeface="Calibri"/>
              </a:rPr>
              <a:t>OSG Smart Guide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41248" y="1938528"/>
            <a:ext cx="960120" cy="64008"/>
          </a:xfrm>
          <a:prstGeom prst="round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1248" y="2212848"/>
            <a:ext cx="47548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670"/>
                </a:solidFill>
                <a:latin typeface="Calibri"/>
              </a:rPr>
              <a:t>A secure AI assistant that gives frontliners instant, source-cited answers on products, promotions and services, grounded only in the bank's own content.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41248" y="5504688"/>
            <a:ext cx="10509199" cy="12700"/>
          </a:xfrm>
          <a:prstGeom prst="rect">
            <a:avLst/>
          </a:prstGeom>
          <a:solidFill>
            <a:srgbClr val="DD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0" y="5614416"/>
            <a:ext cx="121916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4002B"/>
                </a:solidFill>
                <a:latin typeface="Calibri"/>
              </a:rPr>
              <a:t>PROJECT TEAM</a:t>
            </a:r>
          </a:p>
        </p:txBody>
      </p:sp>
      <p:sp>
        <p:nvSpPr>
          <p:cNvPr id="67" name="Oval 66"/>
          <p:cNvSpPr/>
          <p:nvPr/>
        </p:nvSpPr>
        <p:spPr>
          <a:xfrm>
            <a:off x="1938528" y="5843016"/>
            <a:ext cx="786384" cy="786384"/>
          </a:xfrm>
          <a:prstGeom prst="ellipse">
            <a:avLst/>
          </a:prstGeom>
          <a:solidFill>
            <a:srgbClr val="EDF0F2"/>
          </a:solidFill>
          <a:ln w="19050">
            <a:solidFill>
              <a:srgbClr val="C7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213763" y="5968837"/>
            <a:ext cx="235915" cy="235915"/>
          </a:xfrm>
          <a:prstGeom prst="ellipse">
            <a:avLst/>
          </a:prstGeom>
          <a:solidFill>
            <a:srgbClr val="333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2095805" y="6267663"/>
            <a:ext cx="471830" cy="361736"/>
          </a:xfrm>
          <a:prstGeom prst="ellipse">
            <a:avLst/>
          </a:prstGeom>
          <a:solidFill>
            <a:srgbClr val="333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0200" y="6693408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Name</a:t>
            </a:r>
          </a:p>
        </p:txBody>
      </p:sp>
      <p:sp>
        <p:nvSpPr>
          <p:cNvPr id="71" name="Oval 70"/>
          <p:cNvSpPr/>
          <p:nvPr/>
        </p:nvSpPr>
        <p:spPr>
          <a:xfrm>
            <a:off x="3950208" y="5843016"/>
            <a:ext cx="786384" cy="786384"/>
          </a:xfrm>
          <a:prstGeom prst="ellipse">
            <a:avLst/>
          </a:prstGeom>
          <a:solidFill>
            <a:srgbClr val="EDF0F2"/>
          </a:solidFill>
          <a:ln w="19050">
            <a:solidFill>
              <a:srgbClr val="C7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225443" y="5968837"/>
            <a:ext cx="235915" cy="235915"/>
          </a:xfrm>
          <a:prstGeom prst="ellipse">
            <a:avLst/>
          </a:prstGeom>
          <a:solidFill>
            <a:srgbClr val="333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4107485" y="6267663"/>
            <a:ext cx="471830" cy="361736"/>
          </a:xfrm>
          <a:prstGeom prst="ellipse">
            <a:avLst/>
          </a:prstGeom>
          <a:solidFill>
            <a:srgbClr val="333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611880" y="6693408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Name</a:t>
            </a:r>
          </a:p>
        </p:txBody>
      </p:sp>
      <p:sp>
        <p:nvSpPr>
          <p:cNvPr id="75" name="Oval 74"/>
          <p:cNvSpPr/>
          <p:nvPr/>
        </p:nvSpPr>
        <p:spPr>
          <a:xfrm>
            <a:off x="5961888" y="5843016"/>
            <a:ext cx="786384" cy="786384"/>
          </a:xfrm>
          <a:prstGeom prst="ellipse">
            <a:avLst/>
          </a:prstGeom>
          <a:solidFill>
            <a:srgbClr val="EDF0F2"/>
          </a:solidFill>
          <a:ln w="19050">
            <a:solidFill>
              <a:srgbClr val="C7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6237123" y="5968837"/>
            <a:ext cx="235915" cy="235915"/>
          </a:xfrm>
          <a:prstGeom prst="ellipse">
            <a:avLst/>
          </a:prstGeom>
          <a:solidFill>
            <a:srgbClr val="333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6119165" y="6267663"/>
            <a:ext cx="471830" cy="361736"/>
          </a:xfrm>
          <a:prstGeom prst="ellipse">
            <a:avLst/>
          </a:prstGeom>
          <a:solidFill>
            <a:srgbClr val="333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623560" y="6693408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Name</a:t>
            </a:r>
          </a:p>
        </p:txBody>
      </p:sp>
      <p:sp>
        <p:nvSpPr>
          <p:cNvPr id="79" name="Oval 78"/>
          <p:cNvSpPr/>
          <p:nvPr/>
        </p:nvSpPr>
        <p:spPr>
          <a:xfrm>
            <a:off x="7973568" y="5843016"/>
            <a:ext cx="786384" cy="786384"/>
          </a:xfrm>
          <a:prstGeom prst="ellipse">
            <a:avLst/>
          </a:prstGeom>
          <a:solidFill>
            <a:srgbClr val="EDF0F2"/>
          </a:solidFill>
          <a:ln w="19050">
            <a:solidFill>
              <a:srgbClr val="C7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248803" y="5968837"/>
            <a:ext cx="235915" cy="235915"/>
          </a:xfrm>
          <a:prstGeom prst="ellipse">
            <a:avLst/>
          </a:prstGeom>
          <a:solidFill>
            <a:srgbClr val="333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130845" y="6267663"/>
            <a:ext cx="471830" cy="361736"/>
          </a:xfrm>
          <a:prstGeom prst="ellipse">
            <a:avLst/>
          </a:prstGeom>
          <a:solidFill>
            <a:srgbClr val="333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635240" y="6693408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Name</a:t>
            </a:r>
          </a:p>
        </p:txBody>
      </p:sp>
      <p:sp>
        <p:nvSpPr>
          <p:cNvPr id="83" name="Oval 82"/>
          <p:cNvSpPr/>
          <p:nvPr/>
        </p:nvSpPr>
        <p:spPr>
          <a:xfrm>
            <a:off x="9985248" y="5843016"/>
            <a:ext cx="786384" cy="786384"/>
          </a:xfrm>
          <a:prstGeom prst="ellipse">
            <a:avLst/>
          </a:prstGeom>
          <a:solidFill>
            <a:srgbClr val="EDF0F2"/>
          </a:solidFill>
          <a:ln w="19050">
            <a:solidFill>
              <a:srgbClr val="C7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260483" y="5968837"/>
            <a:ext cx="235915" cy="235915"/>
          </a:xfrm>
          <a:prstGeom prst="ellipse">
            <a:avLst/>
          </a:prstGeom>
          <a:solidFill>
            <a:srgbClr val="333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142525" y="6267663"/>
            <a:ext cx="471830" cy="361736"/>
          </a:xfrm>
          <a:prstGeom prst="ellipse">
            <a:avLst/>
          </a:prstGeom>
          <a:solidFill>
            <a:srgbClr val="333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646920" y="6693408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4002B"/>
                </a:solidFill>
                <a:latin typeface="Calibri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1082009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4282C"/>
                </a:solidFill>
                <a:latin typeface="Calibri"/>
              </a:rPr>
              <a:t>From the problem to the solution to the business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17904"/>
            <a:ext cx="10820095" cy="21590"/>
          </a:xfrm>
          <a:prstGeom prst="rect">
            <a:avLst/>
          </a:prstGeom>
          <a:solidFill>
            <a:srgbClr val="24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17904"/>
            <a:ext cx="822960" cy="2159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419088"/>
            <a:ext cx="10820095" cy="9525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7395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A1A7"/>
                </a:solidFill>
                <a:latin typeface="Calibri"/>
              </a:rPr>
              <a:t>OSG AI Assistant Banking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A7177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65376"/>
            <a:ext cx="9601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4002B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65376"/>
            <a:ext cx="985997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24282C"/>
                </a:solidFill>
                <a:latin typeface="Calibri"/>
              </a:rPr>
              <a:t>Executive summary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6A7177"/>
                </a:solidFill>
                <a:latin typeface="Calibri"/>
              </a:rPr>
              <a:t>The problem, the AI solution, and the projected impact at a glance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706624"/>
            <a:ext cx="10820095" cy="11430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61488"/>
            <a:ext cx="9601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4002B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761488"/>
            <a:ext cx="985997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24282C"/>
                </a:solidFill>
                <a:latin typeface="Calibri"/>
              </a:rPr>
              <a:t>Project charter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6A7177"/>
                </a:solidFill>
                <a:latin typeface="Calibri"/>
              </a:rPr>
              <a:t>Scope, strategic alignment, high-level timeline, and executive sponsorship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602736"/>
            <a:ext cx="10820095" cy="11430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657600"/>
            <a:ext cx="9601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4002B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657600"/>
            <a:ext cx="985997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24282C"/>
                </a:solidFill>
                <a:latin typeface="Calibri"/>
              </a:rPr>
              <a:t>Background, problem &amp; proposed solution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6A7177"/>
                </a:solidFill>
                <a:latin typeface="Calibri"/>
              </a:rPr>
              <a:t>The cost of inefficiency today, the AI-driven enabler, and the proof it is built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498848"/>
            <a:ext cx="10820095" cy="11430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553712"/>
            <a:ext cx="9601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4002B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553712"/>
            <a:ext cx="985997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24282C"/>
                </a:solidFill>
                <a:latin typeface="Calibri"/>
              </a:rPr>
              <a:t>Cross-functional process map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6A7177"/>
                </a:solidFill>
                <a:latin typeface="Calibri"/>
              </a:rPr>
              <a:t>As-Is vs To-Be workflow, time saved, and risk mitigated by design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394960"/>
            <a:ext cx="10820095" cy="11430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449824"/>
            <a:ext cx="9601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4002B"/>
                </a:solidFill>
                <a:latin typeface="Calibr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449824"/>
            <a:ext cx="985997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24282C"/>
                </a:solidFill>
                <a:latin typeface="Calibri"/>
              </a:rPr>
              <a:t>Cost &amp; benefit analysis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6A7177"/>
                </a:solidFill>
                <a:latin typeface="Calibri"/>
              </a:rPr>
              <a:t>CAPEX vs OPEX, projected payback, and the recommended pilot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6291072"/>
            <a:ext cx="10820095" cy="11430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4002B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1082009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4282C"/>
                </a:solidFill>
                <a:latin typeface="Calibri"/>
              </a:rPr>
              <a:t>A secure AI assistant already saves frontliners time and prevents errors today, and it is low cost and low risk to scale bank-wide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17904"/>
            <a:ext cx="10820095" cy="21590"/>
          </a:xfrm>
          <a:prstGeom prst="rect">
            <a:avLst/>
          </a:prstGeom>
          <a:solidFill>
            <a:srgbClr val="24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17904"/>
            <a:ext cx="822960" cy="2159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419088"/>
            <a:ext cx="10820095" cy="9525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7395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A1A7"/>
                </a:solidFill>
                <a:latin typeface="Calibri"/>
              </a:rPr>
              <a:t>OSG AI Assistant Banking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A7177"/>
                </a:solidFill>
                <a:latin typeface="Calibri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737360"/>
            <a:ext cx="10820095" cy="749808"/>
          </a:xfrm>
          <a:prstGeom prst="rect">
            <a:avLst/>
          </a:prstGeom>
          <a:solidFill>
            <a:srgbClr val="F4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37360"/>
            <a:ext cx="64008" cy="749808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1737360"/>
            <a:ext cx="10362895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4282C"/>
                </a:solidFill>
                <a:latin typeface="Calibri"/>
              </a:rPr>
              <a:t>Frontliners ask in plain language and get a source-cited answer in seconds, taken only from the bank's own approved content. Speed no longer trades off against accuracy or compliance.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670048"/>
            <a:ext cx="3423818" cy="1901952"/>
          </a:xfrm>
          <a:prstGeom prst="rect">
            <a:avLst/>
          </a:prstGeom>
          <a:solidFill>
            <a:srgbClr val="F7F7F8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670048"/>
            <a:ext cx="3423818" cy="77724"/>
          </a:xfrm>
          <a:prstGeom prst="rect">
            <a:avLst/>
          </a:prstGeom>
          <a:solidFill>
            <a:srgbClr val="24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2852928"/>
            <a:ext cx="2984906" cy="1581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9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24282C"/>
                </a:solidFill>
                <a:latin typeface="Calibri"/>
              </a:rPr>
              <a:t>The problem</a:t>
            </a:r>
          </a:p>
          <a:p>
            <a:pPr algn="l">
              <a:lnSpc>
                <a:spcPct val="109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6A7177"/>
                </a:solidFill>
                <a:latin typeface="Calibri"/>
              </a:rPr>
              <a:t>Product and promo details sit across many portals and PDFs and change often. Looking them up is slow, and a wrong or expired answer is a compliance and trust risk.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3938" y="2670048"/>
            <a:ext cx="3423818" cy="1901952"/>
          </a:xfrm>
          <a:prstGeom prst="rect">
            <a:avLst/>
          </a:prstGeom>
          <a:solidFill>
            <a:srgbClr val="F7F7F8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3938" y="2670048"/>
            <a:ext cx="3423818" cy="77724"/>
          </a:xfrm>
          <a:prstGeom prst="rect">
            <a:avLst/>
          </a:prstGeom>
          <a:solidFill>
            <a:srgbClr val="4E6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3394" y="2852928"/>
            <a:ext cx="2984906" cy="1581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9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24282C"/>
                </a:solidFill>
                <a:latin typeface="Calibri"/>
              </a:rPr>
              <a:t>The solution</a:t>
            </a:r>
          </a:p>
          <a:p>
            <a:pPr algn="l">
              <a:lnSpc>
                <a:spcPct val="109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6A7177"/>
                </a:solidFill>
                <a:latin typeface="Calibri"/>
              </a:rPr>
              <a:t>One secure assistant answers only from approved bank content and shows the source for every answer. Expired offers are flagged. It works in Bahasa Indonesia and English.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82076" y="2670048"/>
            <a:ext cx="3423818" cy="1901952"/>
          </a:xfrm>
          <a:prstGeom prst="rect">
            <a:avLst/>
          </a:prstGeom>
          <a:solidFill>
            <a:srgbClr val="F7F7F8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2076" y="2670048"/>
            <a:ext cx="3423818" cy="77724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1532" y="2852928"/>
            <a:ext cx="2984906" cy="1581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9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24282C"/>
                </a:solidFill>
                <a:latin typeface="Calibri"/>
              </a:rPr>
              <a:t>The prize</a:t>
            </a:r>
          </a:p>
          <a:p>
            <a:pPr algn="l">
              <a:lnSpc>
                <a:spcPct val="109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6A7177"/>
                </a:solidFill>
                <a:latin typeface="Calibri"/>
              </a:rPr>
              <a:t>Faster service, higher first-contact resolution, fewer errors, and new cross-sell moments, all at a low running cost.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700016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C5359"/>
                </a:solidFill>
                <a:latin typeface="Calibri"/>
              </a:rPr>
              <a:t>Impact snapshot · projected from the cost-benefit case, with live proof in gold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047488"/>
            <a:ext cx="249928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4E6B84"/>
                </a:solidFill>
                <a:latin typeface="Calibri"/>
              </a:rPr>
              <a:t>~5 sec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614416"/>
            <a:ext cx="24992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C5359"/>
                </a:solidFill>
                <a:latin typeface="Calibri"/>
              </a:rPr>
              <a:t>answer per query, vs up to 493 min today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59403" y="5047488"/>
            <a:ext cx="249928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4002B"/>
                </a:solidFill>
                <a:latin typeface="Calibri"/>
              </a:rPr>
              <a:t>&lt; 3 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59403" y="5614416"/>
            <a:ext cx="24992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C5359"/>
                </a:solidFill>
                <a:latin typeface="Calibri"/>
              </a:rPr>
              <a:t>projected payback on ~Rp 206 Mio a year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3006" y="5047488"/>
            <a:ext cx="249928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B0812C"/>
                </a:solidFill>
                <a:latin typeface="Calibri"/>
              </a:rPr>
              <a:t>~Rp 4.1 Bn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3006" y="5614416"/>
            <a:ext cx="24992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C5359"/>
                </a:solidFill>
                <a:latin typeface="Calibri"/>
              </a:rPr>
              <a:t>estimated Year-1 net benefit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609" y="5047488"/>
            <a:ext cx="249928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B0812C"/>
                </a:solidFill>
                <a:latin typeface="Calibri"/>
              </a:rPr>
              <a:t>326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609" y="5614416"/>
            <a:ext cx="24992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C5359"/>
                </a:solidFill>
                <a:latin typeface="Calibri"/>
              </a:rPr>
              <a:t>products &amp; promos live · 51 categories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4002B"/>
                </a:solidFill>
                <a:latin typeface="Calibri"/>
              </a:rPr>
              <a:t>PROJECT CHARTER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1082009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4282C"/>
                </a:solidFill>
                <a:latin typeface="Calibri"/>
              </a:rPr>
              <a:t>One AI-based single source of truth, targeting ≤ 5-second lookups, 95% answer accuracy and cutting customer complaints to &lt; 10%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17904"/>
            <a:ext cx="10820095" cy="21590"/>
          </a:xfrm>
          <a:prstGeom prst="rect">
            <a:avLst/>
          </a:prstGeom>
          <a:solidFill>
            <a:srgbClr val="24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17904"/>
            <a:ext cx="822960" cy="2159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419088"/>
            <a:ext cx="10820095" cy="9525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7395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A1A7"/>
                </a:solidFill>
                <a:latin typeface="Calibri"/>
              </a:rPr>
              <a:t>OSG AI Assistant Banking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A7177"/>
                </a:solidFill>
                <a:latin typeface="Calibri"/>
              </a:rPr>
              <a:t>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645920"/>
            <a:ext cx="5272887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645920"/>
            <a:ext cx="5272887" cy="384048"/>
          </a:xfrm>
          <a:prstGeom prst="rect">
            <a:avLst/>
          </a:prstGeom>
          <a:solidFill>
            <a:srgbClr val="24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1645920"/>
            <a:ext cx="479739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Situational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194560"/>
            <a:ext cx="479739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</a:pPr>
            <a:r>
              <a:rPr sz="1050" b="1" i="0">
                <a:solidFill>
                  <a:srgbClr val="E4002B"/>
                </a:solidFill>
                <a:latin typeface="Calibri"/>
              </a:rPr>
              <a:t>▪  </a:t>
            </a:r>
            <a:r>
              <a:rPr sz="1050" b="1" i="0">
                <a:solidFill>
                  <a:srgbClr val="24282C"/>
                </a:solidFill>
                <a:latin typeface="Calibri"/>
              </a:rPr>
              <a:t>EES 2025:  </a:t>
            </a:r>
            <a:r>
              <a:rPr sz="1050" b="1" i="0">
                <a:solidFill>
                  <a:srgbClr val="E4002B"/>
                </a:solidFill>
                <a:latin typeface="Calibri"/>
              </a:rPr>
              <a:t>36%</a:t>
            </a:r>
            <a:r>
              <a:rPr sz="1050" b="0" i="0">
                <a:solidFill>
                  <a:srgbClr val="4C5359"/>
                </a:solidFill>
                <a:latin typeface="Calibri"/>
              </a:rPr>
              <a:t> of frontliners (</a:t>
            </a:r>
            <a:r>
              <a:rPr sz="1050" b="1" i="0">
                <a:solidFill>
                  <a:srgbClr val="E4002B"/>
                </a:solidFill>
                <a:latin typeface="Calibri"/>
              </a:rPr>
              <a:t>1,200+</a:t>
            </a:r>
            <a:r>
              <a:rPr sz="1050" b="0" i="0">
                <a:solidFill>
                  <a:srgbClr val="4C5359"/>
                </a:solidFill>
                <a:latin typeface="Calibri"/>
              </a:rPr>
              <a:t>) cannot easily find current product, promo and procedure information; it is scattered across email, intranet and other channels, and mixed with expired material.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</a:pPr>
            <a:r>
              <a:rPr sz="1050" b="1" i="0">
                <a:solidFill>
                  <a:srgbClr val="E4002B"/>
                </a:solidFill>
                <a:latin typeface="Calibri"/>
              </a:rPr>
              <a:t>▪  </a:t>
            </a:r>
            <a:r>
              <a:rPr sz="1050" b="1" i="0">
                <a:solidFill>
                  <a:srgbClr val="24282C"/>
                </a:solidFill>
                <a:latin typeface="Calibri"/>
              </a:rPr>
              <a:t>No single source of truth</a:t>
            </a:r>
            <a:r>
              <a:rPr sz="1050" b="0" i="0">
                <a:solidFill>
                  <a:srgbClr val="4C5359"/>
                </a:solidFill>
                <a:latin typeface="Calibri"/>
              </a:rPr>
              <a:t>, frontliners search manually or ask Product Owners directly, who then field hundreds to thousands of repeat questions, cutting productivity at branches and Head Office.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7" y="1645920"/>
            <a:ext cx="5272887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3007" y="1645920"/>
            <a:ext cx="5272887" cy="384048"/>
          </a:xfrm>
          <a:prstGeom prst="rect">
            <a:avLst/>
          </a:prstGeom>
          <a:solidFill>
            <a:srgbClr val="24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0751" y="1645920"/>
            <a:ext cx="479739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Objective &amp; key 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0751" y="2194560"/>
            <a:ext cx="47973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4282C"/>
                </a:solidFill>
                <a:latin typeface="Calibri"/>
              </a:rPr>
              <a:t>Objective   </a:t>
            </a:r>
            <a:r>
              <a:rPr sz="1100" b="0" i="0">
                <a:solidFill>
                  <a:srgbClr val="6A7177"/>
                </a:solidFill>
                <a:latin typeface="Calibri"/>
              </a:rPr>
              <a:t>one AI single source of truth for product &amp; promo information.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0751" y="2487168"/>
            <a:ext cx="457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BA1A7"/>
                </a:solidFill>
                <a:latin typeface="Calibri"/>
              </a:rPr>
              <a:t>KR1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9663" y="2487168"/>
            <a:ext cx="896112" cy="256032"/>
          </a:xfrm>
          <a:prstGeom prst="round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9663" y="2487168"/>
            <a:ext cx="89611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≤ 5 sec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33791" y="2487168"/>
            <a:ext cx="3334359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C5359"/>
                </a:solidFill>
                <a:latin typeface="Calibri"/>
              </a:rPr>
              <a:t>frontliner lookup (from &gt;30 min)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0751" y="2734056"/>
            <a:ext cx="457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BA1A7"/>
                </a:solidFill>
                <a:latin typeface="Calibri"/>
              </a:rPr>
              <a:t>KR2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09663" y="2734056"/>
            <a:ext cx="896112" cy="256032"/>
          </a:xfrm>
          <a:prstGeom prst="roundRect">
            <a:avLst/>
          </a:prstGeom>
          <a:solidFill>
            <a:srgbClr val="4E6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9663" y="2734056"/>
            <a:ext cx="89611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95%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3791" y="2734056"/>
            <a:ext cx="3334359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C5359"/>
                </a:solidFill>
                <a:latin typeface="Calibri"/>
              </a:rPr>
              <a:t>accuracy of frontliner answers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0751" y="2980944"/>
            <a:ext cx="457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BA1A7"/>
                </a:solidFill>
                <a:latin typeface="Calibri"/>
              </a:rPr>
              <a:t>KR3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09663" y="2980944"/>
            <a:ext cx="896112" cy="256032"/>
          </a:xfrm>
          <a:prstGeom prst="roundRect">
            <a:avLst/>
          </a:prstGeom>
          <a:solidFill>
            <a:srgbClr val="B0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09663" y="2980944"/>
            <a:ext cx="89611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&lt; 10%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33791" y="2980944"/>
            <a:ext cx="3334359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C5359"/>
                </a:solidFill>
                <a:latin typeface="Calibri"/>
              </a:rPr>
              <a:t>NPS: weak frontliner advisory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0751" y="3227832"/>
            <a:ext cx="457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BA1A7"/>
                </a:solidFill>
                <a:latin typeface="Calibri"/>
              </a:rPr>
              <a:t>KR4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09663" y="3227832"/>
            <a:ext cx="896112" cy="256032"/>
          </a:xfrm>
          <a:prstGeom prst="roundRect">
            <a:avLst/>
          </a:prstGeom>
          <a:solidFill>
            <a:srgbClr val="24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09663" y="3227832"/>
            <a:ext cx="89611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33791" y="3227832"/>
            <a:ext cx="3334359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C5359"/>
                </a:solidFill>
                <a:latin typeface="Calibri"/>
              </a:rPr>
              <a:t>frontliner reliance on POs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3675887"/>
            <a:ext cx="5272887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85800" y="3675887"/>
            <a:ext cx="5272887" cy="384048"/>
          </a:xfrm>
          <a:prstGeom prst="rect">
            <a:avLst/>
          </a:prstGeom>
          <a:solidFill>
            <a:srgbClr val="24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544" y="3675887"/>
            <a:ext cx="479739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" y="4224527"/>
            <a:ext cx="479739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E6B84"/>
                </a:solidFill>
                <a:latin typeface="Calibri"/>
              </a:rPr>
              <a:t>● </a:t>
            </a:r>
            <a:r>
              <a:rPr sz="1050" b="1" i="0">
                <a:solidFill>
                  <a:srgbClr val="24282C"/>
                </a:solidFill>
                <a:latin typeface="Calibri"/>
              </a:rPr>
              <a:t>Productivity:  </a:t>
            </a:r>
            <a:r>
              <a:rPr sz="1050" b="0" i="0">
                <a:solidFill>
                  <a:srgbClr val="6A7177"/>
                </a:solidFill>
                <a:latin typeface="Calibri"/>
              </a:rPr>
              <a:t>frontliners wait up to next-day (H+1) for answers, from manual search and Head-Office bottlenecks.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" y="4626863"/>
            <a:ext cx="479739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0812C"/>
                </a:solidFill>
                <a:latin typeface="Calibri"/>
              </a:rPr>
              <a:t>● </a:t>
            </a:r>
            <a:r>
              <a:rPr sz="1050" b="1" i="0">
                <a:solidFill>
                  <a:srgbClr val="24282C"/>
                </a:solidFill>
                <a:latin typeface="Calibri"/>
              </a:rPr>
              <a:t>Accuracy:  </a:t>
            </a:r>
            <a:r>
              <a:rPr sz="1050" b="0" i="0">
                <a:solidFill>
                  <a:srgbClr val="6A7177"/>
                </a:solidFill>
                <a:latin typeface="Calibri"/>
              </a:rPr>
              <a:t>answers to customers vary and can be biased, with no single source of truth.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" y="5029199"/>
            <a:ext cx="479739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4002B"/>
                </a:solidFill>
                <a:latin typeface="Calibri"/>
              </a:rPr>
              <a:t>● </a:t>
            </a:r>
            <a:r>
              <a:rPr sz="1050" b="1" i="0">
                <a:solidFill>
                  <a:srgbClr val="24282C"/>
                </a:solidFill>
                <a:latin typeface="Calibri"/>
              </a:rPr>
              <a:t>Experience:  </a:t>
            </a:r>
            <a:r>
              <a:rPr sz="1050" b="0" i="0">
                <a:solidFill>
                  <a:srgbClr val="6A7177"/>
                </a:solidFill>
                <a:latin typeface="Calibri"/>
              </a:rPr>
              <a:t>NPS H1 2025:  38% of customers complained about frontliner answer quality.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33007" y="3675887"/>
            <a:ext cx="5272887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33007" y="3675887"/>
            <a:ext cx="5272887" cy="384048"/>
          </a:xfrm>
          <a:prstGeom prst="rect">
            <a:avLst/>
          </a:prstGeom>
          <a:solidFill>
            <a:srgbClr val="24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70751" y="3675887"/>
            <a:ext cx="479739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Scope &amp; constraints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0751" y="4224527"/>
            <a:ext cx="4797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4282C"/>
                </a:solidFill>
                <a:latin typeface="Calibri"/>
              </a:rPr>
              <a:t>Scope   </a:t>
            </a:r>
            <a:r>
              <a:rPr sz="1050" b="0" i="0">
                <a:solidFill>
                  <a:srgbClr val="4C5359"/>
                </a:solidFill>
                <a:latin typeface="Calibri"/>
              </a:rPr>
              <a:t>Central platform · Content management · Training · Monitoring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70751" y="4590287"/>
            <a:ext cx="4797399" cy="10160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70751" y="4681727"/>
            <a:ext cx="479739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24282C"/>
                </a:solidFill>
              </a:rPr>
              <a:t>▪  </a:t>
            </a:r>
            <a:r>
              <a:rPr sz="1050" b="1">
                <a:solidFill>
                  <a:srgbClr val="202428"/>
                </a:solidFill>
              </a:rPr>
              <a:t>PO uploads verified before publishing.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24282C"/>
                </a:solidFill>
              </a:rPr>
              <a:t>▪  </a:t>
            </a:r>
            <a:r>
              <a:rPr sz="1050" b="1">
                <a:solidFill>
                  <a:srgbClr val="202428"/>
                </a:solidFill>
              </a:rPr>
              <a:t>Dual control on every upload to the content hub.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24282C"/>
                </a:solidFill>
              </a:rPr>
              <a:t>▪  </a:t>
            </a:r>
            <a:r>
              <a:rPr sz="1050" b="1">
                <a:solidFill>
                  <a:srgbClr val="202428"/>
                </a:solidFill>
              </a:rPr>
              <a:t>Start/end dates prevent use of expired content.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5522976"/>
            <a:ext cx="1082009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C5359"/>
                </a:solidFill>
                <a:latin typeface="Calibri"/>
              </a:rPr>
              <a:t>HIGH-LEVEL TIMELINE</a:t>
            </a:r>
            <a:r>
              <a:rPr sz="1050" b="0" i="0">
                <a:solidFill>
                  <a:srgbClr val="6A7177"/>
                </a:solidFill>
                <a:latin typeface="Calibri"/>
              </a:rPr>
              <a:t>   ·  content upload from Nov 2025, live by Apr 2026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800" y="5742432"/>
            <a:ext cx="2526715" cy="438912"/>
          </a:xfrm>
          <a:prstGeom prst="roundRect">
            <a:avLst/>
          </a:prstGeom>
          <a:solidFill>
            <a:srgbClr val="4E6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5742432"/>
            <a:ext cx="2343835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PO content upload to CMS Hub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EBECEE"/>
                </a:solidFill>
                <a:latin typeface="Calibri"/>
              </a:rPr>
              <a:t>W4 Nov 2025 to W2 Feb 2026</a:t>
            </a:r>
          </a:p>
        </p:txBody>
      </p:sp>
      <p:sp>
        <p:nvSpPr>
          <p:cNvPr id="49" name="Chevron 48"/>
          <p:cNvSpPr/>
          <p:nvPr/>
        </p:nvSpPr>
        <p:spPr>
          <a:xfrm>
            <a:off x="3249091" y="5870448"/>
            <a:ext cx="164592" cy="201168"/>
          </a:xfrm>
          <a:prstGeom prst="chevron">
            <a:avLst/>
          </a:prstGeom>
          <a:solidFill>
            <a:srgbClr val="9BA1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3450259" y="5742432"/>
            <a:ext cx="2526715" cy="438912"/>
          </a:xfrm>
          <a:prstGeom prst="roundRect">
            <a:avLst/>
          </a:prstGeom>
          <a:solidFill>
            <a:srgbClr val="39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41699" y="5742432"/>
            <a:ext cx="2343835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UAT: OSG Admin &amp; SQM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EBECEE"/>
                </a:solidFill>
                <a:latin typeface="Calibri"/>
              </a:rPr>
              <a:t>W3 Feb 2026</a:t>
            </a:r>
          </a:p>
        </p:txBody>
      </p:sp>
      <p:sp>
        <p:nvSpPr>
          <p:cNvPr id="52" name="Chevron 51"/>
          <p:cNvSpPr/>
          <p:nvPr/>
        </p:nvSpPr>
        <p:spPr>
          <a:xfrm>
            <a:off x="6013550" y="5870448"/>
            <a:ext cx="164592" cy="201168"/>
          </a:xfrm>
          <a:prstGeom prst="chevron">
            <a:avLst/>
          </a:prstGeom>
          <a:solidFill>
            <a:srgbClr val="9BA1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214718" y="5742432"/>
            <a:ext cx="2526715" cy="438912"/>
          </a:xfrm>
          <a:prstGeom prst="roundRect">
            <a:avLst/>
          </a:prstGeom>
          <a:solidFill>
            <a:srgbClr val="B0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6158" y="5742432"/>
            <a:ext cx="2343835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UAT: OSG by Product Owners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EBECEE"/>
                </a:solidFill>
                <a:latin typeface="Calibri"/>
              </a:rPr>
              <a:t>W3 Mar 2026</a:t>
            </a:r>
          </a:p>
        </p:txBody>
      </p:sp>
      <p:sp>
        <p:nvSpPr>
          <p:cNvPr id="55" name="Chevron 54"/>
          <p:cNvSpPr/>
          <p:nvPr/>
        </p:nvSpPr>
        <p:spPr>
          <a:xfrm>
            <a:off x="8778009" y="5870448"/>
            <a:ext cx="164592" cy="201168"/>
          </a:xfrm>
          <a:prstGeom prst="chevron">
            <a:avLst/>
          </a:prstGeom>
          <a:solidFill>
            <a:srgbClr val="9BA1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979177" y="5742432"/>
            <a:ext cx="2526715" cy="438912"/>
          </a:xfrm>
          <a:prstGeom prst="round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70617" y="5742432"/>
            <a:ext cx="2343835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Launch OSG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EBECEE"/>
                </a:solidFill>
                <a:latin typeface="Calibri"/>
              </a:rPr>
              <a:t>W2 Apr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4002B"/>
                </a:solidFill>
                <a:latin typeface="Calibri"/>
              </a:rPr>
              <a:t>BACKGROUND, PROBLEM &amp;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1082009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4282C"/>
                </a:solidFill>
                <a:latin typeface="Calibri"/>
              </a:rPr>
              <a:t>About 6,000 customer questions a day take ~49,300 hours to answer today; OSG returns a cited answer in seconds, ~8 hours in total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17904"/>
            <a:ext cx="10820095" cy="21590"/>
          </a:xfrm>
          <a:prstGeom prst="rect">
            <a:avLst/>
          </a:prstGeom>
          <a:solidFill>
            <a:srgbClr val="24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17904"/>
            <a:ext cx="822960" cy="2159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419088"/>
            <a:ext cx="10820095" cy="9525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7395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A1A7"/>
                </a:solidFill>
                <a:latin typeface="Calibri"/>
              </a:rPr>
              <a:t>OSG AI Assistant Banking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A7177"/>
                </a:solidFill>
                <a:latin typeface="Calibri"/>
              </a:rPr>
              <a:t>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10820095" cy="841248"/>
          </a:xfrm>
          <a:prstGeom prst="rect">
            <a:avLst/>
          </a:prstGeom>
          <a:solidFill>
            <a:srgbClr val="F7F7F8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68580" cy="841248"/>
          </a:xfrm>
          <a:prstGeom prst="rect">
            <a:avLst/>
          </a:prstGeom>
          <a:solidFill>
            <a:srgbClr val="39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755648"/>
            <a:ext cx="603504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395268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755648"/>
            <a:ext cx="14630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282C"/>
                </a:solidFill>
                <a:latin typeface="Calibri"/>
              </a:rPr>
              <a:t>BACKGROUND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7177"/>
                </a:solidFill>
                <a:latin typeface="Calibri"/>
              </a:rPr>
              <a:t>The bank's front 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1755648"/>
            <a:ext cx="24688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24282C"/>
                </a:solidFill>
                <a:latin typeface="Calibri"/>
              </a:rPr>
              <a:t>1,200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C5359"/>
                </a:solidFill>
                <a:latin typeface="Calibri"/>
              </a:rPr>
              <a:t>frontliners, the bank's front 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23560" y="1938528"/>
            <a:ext cx="12700" cy="475488"/>
          </a:xfrm>
          <a:prstGeom prst="rect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0" y="1755648"/>
            <a:ext cx="26517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24282C"/>
                </a:solidFill>
                <a:latin typeface="Calibri"/>
              </a:rPr>
              <a:t>~6,000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C5359"/>
                </a:solidFill>
                <a:latin typeface="Calibri"/>
              </a:rPr>
              <a:t>customer questions every day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32520" y="1938528"/>
            <a:ext cx="12700" cy="475488"/>
          </a:xfrm>
          <a:prstGeom prst="rect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1755648"/>
            <a:ext cx="24688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C5359"/>
                </a:solidFill>
                <a:latin typeface="Calibri"/>
              </a:rPr>
              <a:t>Every question needs a fast, correct and trusted answer, on first contact.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2734056"/>
            <a:ext cx="10820095" cy="1591056"/>
          </a:xfrm>
          <a:prstGeom prst="rect">
            <a:avLst/>
          </a:prstGeom>
          <a:solidFill>
            <a:srgbClr val="FBF1F2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2734056"/>
            <a:ext cx="68580" cy="1591056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2734056"/>
            <a:ext cx="603504" cy="1591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4002B"/>
                </a:solidFill>
                <a:latin typeface="Calibr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2734056"/>
            <a:ext cx="1463040" cy="1591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282C"/>
                </a:solidFill>
                <a:latin typeface="Calibri"/>
              </a:rPr>
              <a:t>PROBLEM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7177"/>
                </a:solidFill>
                <a:latin typeface="Calibri"/>
              </a:rPr>
              <a:t>Scattered knowledge, slow answers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17520" y="2916936"/>
            <a:ext cx="1998649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17520" y="2916936"/>
            <a:ext cx="1998649" cy="54864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82112" y="3054096"/>
            <a:ext cx="1669465" cy="4023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E4002B"/>
                </a:solidFill>
                <a:latin typeface="Calibri"/>
              </a:rPr>
              <a:t>493</a:t>
            </a:r>
            <a:r>
              <a:rPr sz="1100" b="1" i="0">
                <a:solidFill>
                  <a:srgbClr val="E4002B"/>
                </a:solidFill>
                <a:latin typeface="Calibri"/>
              </a:rPr>
              <a:t>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82112" y="3502152"/>
            <a:ext cx="166946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282C"/>
                </a:solidFill>
                <a:latin typeface="Calibri"/>
              </a:rPr>
              <a:t>elapsed per case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82112" y="3758184"/>
            <a:ext cx="166946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7177"/>
                </a:solidFill>
                <a:latin typeface="Calibri"/>
              </a:rPr>
              <a:t>escalate to a Product Owner, wait to H+1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80761" y="2916936"/>
            <a:ext cx="1998649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80761" y="2916936"/>
            <a:ext cx="1998649" cy="54864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45353" y="3054096"/>
            <a:ext cx="1669465" cy="4023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E4002B"/>
                </a:solidFill>
                <a:latin typeface="Calibri"/>
              </a:rPr>
              <a:t>49,300</a:t>
            </a:r>
            <a:r>
              <a:rPr sz="1100" b="1" i="0">
                <a:solidFill>
                  <a:srgbClr val="E4002B"/>
                </a:solidFill>
                <a:latin typeface="Calibri"/>
              </a:rPr>
              <a:t> hrs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5353" y="3502152"/>
            <a:ext cx="166946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282C"/>
                </a:solidFill>
                <a:latin typeface="Calibri"/>
              </a:rPr>
              <a:t>per day, all frontliners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5353" y="3758184"/>
            <a:ext cx="166946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7177"/>
                </a:solidFill>
                <a:latin typeface="Calibri"/>
              </a:rPr>
              <a:t>493 min x 1,200 x 5 cases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44002" y="2916936"/>
            <a:ext cx="1998649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44002" y="2916936"/>
            <a:ext cx="1998649" cy="54864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08594" y="3054096"/>
            <a:ext cx="1669465" cy="4023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E4002B"/>
                </a:solidFill>
                <a:latin typeface="Calibri"/>
              </a:rPr>
              <a:t>36%</a:t>
            </a:r>
            <a:r>
              <a:rPr sz="1100" b="1" i="0">
                <a:solidFill>
                  <a:srgbClr val="E4002B"/>
                </a:solidFill>
                <a:latin typeface="Calibri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08594" y="3502152"/>
            <a:ext cx="166946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282C"/>
                </a:solidFill>
                <a:latin typeface="Calibri"/>
              </a:rPr>
              <a:t>cannot find the answer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08594" y="3758184"/>
            <a:ext cx="166946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7177"/>
                </a:solidFill>
                <a:latin typeface="Calibri"/>
              </a:rPr>
              <a:t>email, intranet, old PDFs · EES 2025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07243" y="2916936"/>
            <a:ext cx="1998649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07243" y="2916936"/>
            <a:ext cx="1998649" cy="54864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71835" y="3054096"/>
            <a:ext cx="1669465" cy="4023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E4002B"/>
                </a:solidFill>
                <a:latin typeface="Calibri"/>
              </a:rPr>
              <a:t>38%</a:t>
            </a:r>
            <a:r>
              <a:rPr sz="1100" b="1" i="0">
                <a:solidFill>
                  <a:srgbClr val="E4002B"/>
                </a:solidFill>
                <a:latin typeface="Calibri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71835" y="3502152"/>
            <a:ext cx="166946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282C"/>
                </a:solidFill>
                <a:latin typeface="Calibri"/>
              </a:rPr>
              <a:t>of customers complain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71835" y="3758184"/>
            <a:ext cx="166946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7177"/>
                </a:solidFill>
                <a:latin typeface="Calibri"/>
              </a:rPr>
              <a:t>late, inconsistent answers · NPS H1 2025</a:t>
            </a:r>
          </a:p>
        </p:txBody>
      </p:sp>
      <p:sp>
        <p:nvSpPr>
          <p:cNvPr id="43" name="Down Arrow 42"/>
          <p:cNvSpPr/>
          <p:nvPr/>
        </p:nvSpPr>
        <p:spPr>
          <a:xfrm>
            <a:off x="1490472" y="4206240"/>
            <a:ext cx="292608" cy="237744"/>
          </a:xfrm>
          <a:prstGeom prst="downArrow">
            <a:avLst/>
          </a:prstGeom>
          <a:solidFill>
            <a:srgbClr val="39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85800" y="4462272"/>
            <a:ext cx="10820095" cy="1591056"/>
          </a:xfrm>
          <a:prstGeom prst="rect">
            <a:avLst/>
          </a:prstGeom>
          <a:solidFill>
            <a:srgbClr val="EDF4F2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5800" y="4462272"/>
            <a:ext cx="68580" cy="1591056"/>
          </a:xfrm>
          <a:prstGeom prst="rect">
            <a:avLst/>
          </a:prstGeom>
          <a:solidFill>
            <a:srgbClr val="39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9808" y="4462272"/>
            <a:ext cx="603504" cy="1591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395268"/>
                </a:solidFill>
                <a:latin typeface="Calibri"/>
              </a:rPr>
              <a:t>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4462272"/>
            <a:ext cx="1463040" cy="1591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282C"/>
                </a:solidFill>
                <a:latin typeface="Calibri"/>
              </a:rPr>
              <a:t>SOLUTION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7177"/>
                </a:solidFill>
                <a:latin typeface="Calibri"/>
              </a:rPr>
              <a:t>OSG: one AI source of truth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017520" y="4645152"/>
            <a:ext cx="1998649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017520" y="4645152"/>
            <a:ext cx="1998649" cy="54864"/>
          </a:xfrm>
          <a:prstGeom prst="rect">
            <a:avLst/>
          </a:prstGeom>
          <a:solidFill>
            <a:srgbClr val="39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82112" y="4782312"/>
            <a:ext cx="1669465" cy="4023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395268"/>
                </a:solidFill>
                <a:latin typeface="Calibri"/>
              </a:rPr>
              <a:t>~5</a:t>
            </a:r>
            <a:r>
              <a:rPr sz="1100" b="1" i="0">
                <a:solidFill>
                  <a:srgbClr val="395268"/>
                </a:solidFill>
                <a:latin typeface="Calibri"/>
              </a:rPr>
              <a:t> sec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82112" y="5230368"/>
            <a:ext cx="166946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282C"/>
                </a:solidFill>
                <a:latin typeface="Calibri"/>
              </a:rPr>
              <a:t>cited answer per case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82112" y="5486400"/>
            <a:ext cx="166946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7177"/>
                </a:solidFill>
                <a:latin typeface="Calibri"/>
              </a:rPr>
              <a:t>ask in plain words, get the source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180761" y="4645152"/>
            <a:ext cx="1998649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180761" y="4645152"/>
            <a:ext cx="1998649" cy="54864"/>
          </a:xfrm>
          <a:prstGeom prst="rect">
            <a:avLst/>
          </a:prstGeom>
          <a:solidFill>
            <a:srgbClr val="39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45353" y="4782312"/>
            <a:ext cx="1669465" cy="4023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395268"/>
                </a:solidFill>
                <a:latin typeface="Calibri"/>
              </a:rPr>
              <a:t>~8</a:t>
            </a:r>
            <a:r>
              <a:rPr sz="1100" b="1" i="0">
                <a:solidFill>
                  <a:srgbClr val="395268"/>
                </a:solidFill>
                <a:latin typeface="Calibri"/>
              </a:rPr>
              <a:t> hrs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45353" y="5230368"/>
            <a:ext cx="166946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282C"/>
                </a:solidFill>
                <a:latin typeface="Calibri"/>
              </a:rPr>
              <a:t>per day, all frontliners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45353" y="5486400"/>
            <a:ext cx="166946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7177"/>
                </a:solidFill>
                <a:latin typeface="Calibri"/>
              </a:rPr>
              <a:t>5 sec x 1,200 x 5 cases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344002" y="4645152"/>
            <a:ext cx="1998649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344002" y="4645152"/>
            <a:ext cx="1998649" cy="54864"/>
          </a:xfrm>
          <a:prstGeom prst="rect">
            <a:avLst/>
          </a:prstGeom>
          <a:solidFill>
            <a:srgbClr val="39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508594" y="4782312"/>
            <a:ext cx="1669465" cy="4023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395268"/>
                </a:solidFill>
                <a:latin typeface="Calibri"/>
              </a:rPr>
              <a:t>100%</a:t>
            </a:r>
            <a:r>
              <a:rPr sz="1100" b="1" i="0">
                <a:solidFill>
                  <a:srgbClr val="395268"/>
                </a:solidFill>
                <a:latin typeface="Calibri"/>
              </a:rPr>
              <a:t/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08594" y="5230368"/>
            <a:ext cx="166946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282C"/>
                </a:solidFill>
                <a:latin typeface="Calibri"/>
              </a:rPr>
              <a:t>source-cited &amp; current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08594" y="5486400"/>
            <a:ext cx="166946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7177"/>
                </a:solidFill>
                <a:latin typeface="Calibri"/>
              </a:rPr>
              <a:t>one approved single source of truth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507243" y="4645152"/>
            <a:ext cx="1998649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507243" y="4645152"/>
            <a:ext cx="1998649" cy="54864"/>
          </a:xfrm>
          <a:prstGeom prst="rect">
            <a:avLst/>
          </a:prstGeom>
          <a:solidFill>
            <a:srgbClr val="39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71835" y="4782312"/>
            <a:ext cx="1669465" cy="4023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395268"/>
                </a:solidFill>
                <a:latin typeface="Calibri"/>
              </a:rPr>
              <a:t>1st</a:t>
            </a:r>
            <a:r>
              <a:rPr sz="1100" b="1" i="0">
                <a:solidFill>
                  <a:srgbClr val="395268"/>
                </a:solidFill>
                <a:latin typeface="Calibri"/>
              </a:rPr>
              <a:t>-contact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71835" y="5230368"/>
            <a:ext cx="166946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282C"/>
                </a:solidFill>
                <a:latin typeface="Calibri"/>
              </a:rPr>
              <a:t>resolved &amp; traceable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71835" y="5486400"/>
            <a:ext cx="166946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7177"/>
                </a:solidFill>
                <a:latin typeface="Calibri"/>
              </a:rPr>
              <a:t>confident, correct, auditable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4002B"/>
                </a:solidFill>
                <a:latin typeface="Calibri"/>
              </a:rPr>
              <a:t>PROOF · BUILT &amp; LIVE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1082009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4282C"/>
                </a:solidFill>
                <a:latin typeface="Calibri"/>
              </a:rPr>
              <a:t>Live since April 2026: 1,313 users have asked 12,944 questions, with 86% answered correctly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17904"/>
            <a:ext cx="10820095" cy="21590"/>
          </a:xfrm>
          <a:prstGeom prst="rect">
            <a:avLst/>
          </a:prstGeom>
          <a:solidFill>
            <a:srgbClr val="24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17904"/>
            <a:ext cx="822960" cy="2159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419088"/>
            <a:ext cx="10820095" cy="9525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7395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A1A7"/>
                </a:solidFill>
                <a:latin typeface="Calibri"/>
              </a:rPr>
              <a:t>OSG AI Assistant Banking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A7177"/>
                </a:solidFill>
                <a:latin typeface="Calibri"/>
              </a:rPr>
              <a:t>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773936"/>
            <a:ext cx="10820095" cy="1188720"/>
          </a:xfrm>
          <a:prstGeom prst="rect">
            <a:avLst/>
          </a:prstGeom>
          <a:solidFill>
            <a:srgbClr val="F7F7F8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56816"/>
            <a:ext cx="249928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4002B"/>
                </a:solidFill>
                <a:latin typeface="Calibri"/>
              </a:rPr>
              <a:t>1,313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23744"/>
            <a:ext cx="24992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C5359"/>
                </a:solidFill>
                <a:latin typeface="Calibri"/>
              </a:rPr>
              <a:t>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03" y="1956816"/>
            <a:ext cx="249928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4E6B84"/>
                </a:solidFill>
                <a:latin typeface="Calibri"/>
              </a:rPr>
              <a:t>12,944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03" y="2523744"/>
            <a:ext cx="24992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C5359"/>
                </a:solidFill>
                <a:latin typeface="Calibri"/>
              </a:rPr>
              <a:t>questions asked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3006" y="1956816"/>
            <a:ext cx="249928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B0812C"/>
                </a:solidFill>
                <a:latin typeface="Calibri"/>
              </a:rPr>
              <a:t>326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3006" y="2523744"/>
            <a:ext cx="24992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C5359"/>
                </a:solidFill>
                <a:latin typeface="Calibri"/>
              </a:rPr>
              <a:t>products &amp; promos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609" y="1956816"/>
            <a:ext cx="249928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395268"/>
                </a:solidFill>
                <a:latin typeface="Calibri"/>
              </a:rPr>
              <a:t>86%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609" y="2523744"/>
            <a:ext cx="24992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C5359"/>
                </a:solidFill>
                <a:latin typeface="Calibri"/>
              </a:rPr>
              <a:t>answered correctly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22243" y="1993392"/>
            <a:ext cx="12700" cy="749808"/>
          </a:xfrm>
          <a:prstGeom prst="rect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5846" y="1993392"/>
            <a:ext cx="12700" cy="749808"/>
          </a:xfrm>
          <a:prstGeom prst="rect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69449" y="1993392"/>
            <a:ext cx="12700" cy="749808"/>
          </a:xfrm>
          <a:prstGeom prst="rect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017520"/>
            <a:ext cx="108200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7177"/>
                </a:solidFill>
                <a:latin typeface="Calibri"/>
              </a:rPr>
              <a:t>Live pilot · 6 Apr to 6 Jul 2026 · adoption and accuracy climbing toward the 95% target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383280"/>
            <a:ext cx="527288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282C"/>
                </a:solidFill>
                <a:latin typeface="Calibri"/>
              </a:rPr>
              <a:t>WHAT USERS ASK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767328"/>
            <a:ext cx="21031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282C"/>
                </a:solidFill>
                <a:latin typeface="Calibri"/>
              </a:rPr>
              <a:t>Product &amp; promo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80360" y="3803904"/>
            <a:ext cx="2575407" cy="182880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80360" y="3803904"/>
            <a:ext cx="1957309" cy="18288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10631" y="3767328"/>
            <a:ext cx="457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4002B"/>
                </a:solidFill>
                <a:latin typeface="Calibri"/>
              </a:rPr>
              <a:t>76%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169664"/>
            <a:ext cx="21031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282C"/>
                </a:solidFill>
                <a:latin typeface="Calibri"/>
              </a:rPr>
              <a:t>Operational terms &amp; policy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80360" y="4206240"/>
            <a:ext cx="2575407" cy="182880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80360" y="4206240"/>
            <a:ext cx="386311" cy="182880"/>
          </a:xfrm>
          <a:prstGeom prst="rect">
            <a:avLst/>
          </a:prstGeom>
          <a:solidFill>
            <a:srgbClr val="B0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10631" y="4169664"/>
            <a:ext cx="457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0812C"/>
                </a:solidFill>
                <a:latin typeface="Calibri"/>
              </a:rPr>
              <a:t>15%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572000"/>
            <a:ext cx="21031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282C"/>
                </a:solidFill>
                <a:latin typeface="Calibri"/>
              </a:rPr>
              <a:t>Greetings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80360" y="4608576"/>
            <a:ext cx="2575407" cy="182880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80360" y="4608576"/>
            <a:ext cx="206032" cy="182880"/>
          </a:xfrm>
          <a:prstGeom prst="rect">
            <a:avLst/>
          </a:prstGeom>
          <a:solidFill>
            <a:srgbClr val="4E6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10631" y="4572000"/>
            <a:ext cx="457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E6B84"/>
                </a:solidFill>
                <a:latin typeface="Calibri"/>
              </a:rPr>
              <a:t>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084064"/>
            <a:ext cx="52728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C5359"/>
                </a:solidFill>
                <a:latin typeface="Calibri"/>
              </a:rPr>
              <a:t>Most questions are exactly what OSG is built for, product and promo answers, and it handles them in seconds.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3007" y="3383280"/>
            <a:ext cx="527288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282C"/>
                </a:solidFill>
                <a:latin typeface="Calibri"/>
              </a:rPr>
              <a:t>ANSWER QUALITY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33007" y="3767328"/>
            <a:ext cx="4534682" cy="292608"/>
          </a:xfrm>
          <a:prstGeom prst="rect">
            <a:avLst/>
          </a:prstGeom>
          <a:solidFill>
            <a:srgbClr val="39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767689" y="3767328"/>
            <a:ext cx="738205" cy="292608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42735" y="3767328"/>
            <a:ext cx="453468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86% answered correctly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67689" y="3767328"/>
            <a:ext cx="73820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14%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3007" y="4187952"/>
            <a:ext cx="5272887" cy="658368"/>
          </a:xfrm>
          <a:prstGeom prst="rect">
            <a:avLst/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33007" y="4187952"/>
            <a:ext cx="64008" cy="658368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15887" y="4187952"/>
            <a:ext cx="1280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E4002B"/>
                </a:solidFill>
                <a:latin typeface="Calibri"/>
              </a:rPr>
              <a:t>14%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50911" y="4187952"/>
            <a:ext cx="360867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282C"/>
                </a:solidFill>
                <a:latin typeface="Calibri"/>
              </a:rPr>
              <a:t>are not wrong answers, they are questions OSG deliberately does not guess on: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33007" y="4992624"/>
            <a:ext cx="527288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E4002B"/>
                </a:solidFill>
              </a:rPr>
              <a:t>▪  </a:t>
            </a:r>
            <a:r>
              <a:rPr sz="1050" b="1">
                <a:solidFill>
                  <a:srgbClr val="202428"/>
                </a:solidFill>
              </a:rPr>
              <a:t>Internal data or policy questions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E4002B"/>
                </a:solidFill>
              </a:rPr>
              <a:t>▪  </a:t>
            </a:r>
            <a:r>
              <a:rPr sz="1050" b="1">
                <a:solidFill>
                  <a:srgbClr val="202428"/>
                </a:solidFill>
              </a:rPr>
              <a:t>Internal procedures and authorization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E4002B"/>
                </a:solidFill>
              </a:rPr>
              <a:t>▪  </a:t>
            </a:r>
            <a:r>
              <a:rPr sz="1050" b="1">
                <a:solidFill>
                  <a:srgbClr val="202428"/>
                </a:solidFill>
              </a:rPr>
              <a:t>Real-time data, such as currency rates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E4002B"/>
                </a:solidFill>
              </a:rPr>
              <a:t>▪  </a:t>
            </a:r>
            <a:r>
              <a:rPr sz="1050" b="1">
                <a:solidFill>
                  <a:srgbClr val="202428"/>
                </a:solidFill>
              </a:rPr>
              <a:t>Data outside the current period, e.g. a future-month promo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4002B"/>
                </a:solidFill>
                <a:latin typeface="Calibri"/>
              </a:rPr>
              <a:t>CROSS-FUNCTIONAL PROCESS MAP · BEFORE (WITHOUT OSG)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1082009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4282C"/>
                </a:solidFill>
                <a:latin typeface="Calibri"/>
              </a:rPr>
              <a:t>Today, a manual chain from Product Owner to branch, with an H+1 escalation whenever the answer is not on hand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17904"/>
            <a:ext cx="10820095" cy="21590"/>
          </a:xfrm>
          <a:prstGeom prst="rect">
            <a:avLst/>
          </a:prstGeom>
          <a:solidFill>
            <a:srgbClr val="24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17904"/>
            <a:ext cx="822960" cy="2159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419088"/>
            <a:ext cx="10820095" cy="9525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7395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A1A7"/>
                </a:solidFill>
                <a:latin typeface="Calibri"/>
              </a:rPr>
              <a:t>OSG AI Assistant Banking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A7177"/>
                </a:solidFill>
                <a:latin typeface="Calibri"/>
              </a:rPr>
              <a:t>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18488" y="1810512"/>
            <a:ext cx="9887407" cy="1463040"/>
          </a:xfrm>
          <a:prstGeom prst="rect">
            <a:avLst/>
          </a:prstGeom>
          <a:solidFill>
            <a:srgbClr val="F7F7F8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10512"/>
            <a:ext cx="932688" cy="1463040"/>
          </a:xfrm>
          <a:prstGeom prst="rect">
            <a:avLst/>
          </a:prstGeom>
          <a:solidFill>
            <a:srgbClr val="24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 rot="16200000">
            <a:off x="420624" y="2075688"/>
            <a:ext cx="1463040" cy="9326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CUSTOMER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18488" y="3273552"/>
            <a:ext cx="9887407" cy="1463040"/>
          </a:xfrm>
          <a:prstGeom prst="rect">
            <a:avLst/>
          </a:prstGeom>
          <a:solidFill>
            <a:srgbClr val="F1F1F3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273552"/>
            <a:ext cx="932688" cy="1463040"/>
          </a:xfrm>
          <a:prstGeom prst="rect">
            <a:avLst/>
          </a:prstGeom>
          <a:solidFill>
            <a:srgbClr val="39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 rot="16200000">
            <a:off x="420624" y="3538728"/>
            <a:ext cx="1463040" cy="9326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FRONTLINER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18488" y="4736592"/>
            <a:ext cx="9887407" cy="1463040"/>
          </a:xfrm>
          <a:prstGeom prst="rect">
            <a:avLst/>
          </a:prstGeom>
          <a:solidFill>
            <a:srgbClr val="FBEEF0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4736592"/>
            <a:ext cx="932688" cy="1463040"/>
          </a:xfrm>
          <a:prstGeom prst="rect">
            <a:avLst/>
          </a:prstGeom>
          <a:solidFill>
            <a:srgbClr val="B0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 rot="16200000">
            <a:off x="420624" y="5001768"/>
            <a:ext cx="1463040" cy="9326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PRODUCT OWNER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01952" y="2231136"/>
            <a:ext cx="1591056" cy="621792"/>
          </a:xfrm>
          <a:prstGeom prst="roundRect">
            <a:avLst/>
          </a:prstGeom>
          <a:solidFill>
            <a:srgbClr val="E9F4EF"/>
          </a:solidFill>
          <a:ln w="12700">
            <a:solidFill>
              <a:srgbClr val="B9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65960" y="2231136"/>
            <a:ext cx="14630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282C"/>
                </a:solidFill>
                <a:latin typeface="Calibri"/>
              </a:rPr>
              <a:t>Customer asks a question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01952" y="3694176"/>
            <a:ext cx="1591056" cy="621792"/>
          </a:xfrm>
          <a:prstGeom prst="roundRect">
            <a:avLst/>
          </a:prstGeom>
          <a:solidFill>
            <a:srgbClr val="E9F4EF"/>
          </a:solidFill>
          <a:ln w="12700">
            <a:solidFill>
              <a:srgbClr val="B9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65960" y="3694176"/>
            <a:ext cx="14630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282C"/>
                </a:solidFill>
                <a:latin typeface="Calibri"/>
              </a:rPr>
              <a:t>Search the materials the PO uploaded</a:t>
            </a:r>
          </a:p>
        </p:txBody>
      </p:sp>
      <p:sp>
        <p:nvSpPr>
          <p:cNvPr id="23" name="Diamond 22"/>
          <p:cNvSpPr/>
          <p:nvPr/>
        </p:nvSpPr>
        <p:spPr>
          <a:xfrm>
            <a:off x="3803904" y="3547872"/>
            <a:ext cx="1627632" cy="914400"/>
          </a:xfrm>
          <a:prstGeom prst="diamond">
            <a:avLst/>
          </a:prstGeom>
          <a:solidFill>
            <a:srgbClr val="EAF2F0"/>
          </a:solidFill>
          <a:ln w="15240">
            <a:solidFill>
              <a:srgbClr val="395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31920" y="3547872"/>
            <a:ext cx="13716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4282C"/>
                </a:solidFill>
                <a:latin typeface="Calibri"/>
              </a:rPr>
              <a:t>Material found?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42432" y="3694176"/>
            <a:ext cx="1591056" cy="621792"/>
          </a:xfrm>
          <a:prstGeom prst="roundRect">
            <a:avLst/>
          </a:prstGeom>
          <a:solidFill>
            <a:srgbClr val="E9F4EF"/>
          </a:solidFill>
          <a:ln w="12700">
            <a:solidFill>
              <a:srgbClr val="B9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06440" y="3694176"/>
            <a:ext cx="14630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282C"/>
                </a:solidFill>
                <a:latin typeface="Calibri"/>
              </a:rPr>
              <a:t>Answer the customer, same day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2231136"/>
            <a:ext cx="1591056" cy="621792"/>
          </a:xfrm>
          <a:prstGeom prst="roundRect">
            <a:avLst/>
          </a:prstGeom>
          <a:solidFill>
            <a:srgbClr val="E9F4EF"/>
          </a:solidFill>
          <a:ln w="12700">
            <a:solidFill>
              <a:srgbClr val="B9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06440" y="2231136"/>
            <a:ext cx="14630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282C"/>
                </a:solidFill>
                <a:latin typeface="Calibri"/>
              </a:rPr>
              <a:t>Customer helped, same day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22192" y="5157216"/>
            <a:ext cx="1591056" cy="621792"/>
          </a:xfrm>
          <a:prstGeom prst="roundRect">
            <a:avLst/>
          </a:prstGeom>
          <a:solidFill>
            <a:srgbClr val="E9F4EF"/>
          </a:solidFill>
          <a:ln w="12700">
            <a:solidFill>
              <a:srgbClr val="B9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86200" y="5157216"/>
            <a:ext cx="14630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282C"/>
                </a:solidFill>
                <a:latin typeface="Calibri"/>
              </a:rPr>
              <a:t>Escalate to the PIC PO; PO replies (H+1)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82912" y="3694176"/>
            <a:ext cx="1591056" cy="621792"/>
          </a:xfrm>
          <a:prstGeom prst="roundRect">
            <a:avLst/>
          </a:prstGeom>
          <a:solidFill>
            <a:srgbClr val="E9F4EF"/>
          </a:solidFill>
          <a:ln w="12700">
            <a:solidFill>
              <a:srgbClr val="B9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46920" y="3694176"/>
            <a:ext cx="14630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282C"/>
                </a:solidFill>
                <a:latin typeface="Calibri"/>
              </a:rPr>
              <a:t>Follow up and answer the customer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82912" y="2231136"/>
            <a:ext cx="1591056" cy="621792"/>
          </a:xfrm>
          <a:prstGeom prst="roundRect">
            <a:avLst/>
          </a:prstGeom>
          <a:solidFill>
            <a:srgbClr val="E9F4EF"/>
          </a:solidFill>
          <a:ln w="12700">
            <a:solidFill>
              <a:srgbClr val="B9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46920" y="2231136"/>
            <a:ext cx="14630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282C"/>
                </a:solidFill>
                <a:latin typeface="Calibri"/>
              </a:rPr>
              <a:t>Customer helped, next day (H+1)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697480" y="2852928"/>
            <a:ext cx="0" cy="841248"/>
          </a:xfrm>
          <a:prstGeom prst="bentConnector3">
            <a:avLst/>
          </a:prstGeom>
          <a:ln w="19050">
            <a:solidFill>
              <a:srgbClr val="8B989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93008" y="4005072"/>
            <a:ext cx="310896" cy="0"/>
          </a:xfrm>
          <a:prstGeom prst="bentConnector3">
            <a:avLst/>
          </a:prstGeom>
          <a:ln w="19050">
            <a:solidFill>
              <a:srgbClr val="8B989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431536" y="4005072"/>
            <a:ext cx="310896" cy="0"/>
          </a:xfrm>
          <a:prstGeom prst="bentConnector3">
            <a:avLst/>
          </a:prstGeom>
          <a:ln w="19050">
            <a:solidFill>
              <a:srgbClr val="8B989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5358384" y="3877056"/>
            <a:ext cx="457200" cy="256032"/>
          </a:xfrm>
          <a:prstGeom prst="roundRect">
            <a:avLst/>
          </a:prstGeom>
          <a:solidFill>
            <a:srgbClr val="4E6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58384" y="3877056"/>
            <a:ext cx="457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YES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6537960" y="2852928"/>
            <a:ext cx="0" cy="841248"/>
          </a:xfrm>
          <a:prstGeom prst="bentConnector3">
            <a:avLst/>
          </a:prstGeom>
          <a:ln w="19050">
            <a:solidFill>
              <a:srgbClr val="8B989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617720" y="4462272"/>
            <a:ext cx="0" cy="694944"/>
          </a:xfrm>
          <a:prstGeom prst="bentConnector3">
            <a:avLst/>
          </a:prstGeom>
          <a:ln w="19050">
            <a:solidFill>
              <a:srgbClr val="8B989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4389120" y="4681728"/>
            <a:ext cx="457200" cy="256032"/>
          </a:xfrm>
          <a:prstGeom prst="round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9120" y="4681728"/>
            <a:ext cx="457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NO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5413248" y="4005072"/>
            <a:ext cx="4169664" cy="1463040"/>
          </a:xfrm>
          <a:prstGeom prst="bentConnector3">
            <a:avLst/>
          </a:prstGeom>
          <a:ln w="19050">
            <a:solidFill>
              <a:srgbClr val="8B989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378440" y="2852928"/>
            <a:ext cx="0" cy="841248"/>
          </a:xfrm>
          <a:prstGeom prst="bentConnector3">
            <a:avLst/>
          </a:prstGeom>
          <a:ln w="19050">
            <a:solidFill>
              <a:srgbClr val="8B989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4002B"/>
                </a:solidFill>
                <a:latin typeface="Calibri"/>
              </a:rPr>
              <a:t>CROSS-FUNCTIONAL PROCESS MAP · AFTER (WITH OSG)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1082009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4282C"/>
                </a:solidFill>
                <a:latin typeface="Calibri"/>
              </a:rPr>
              <a:t>With OSG, one centralized CMS Hub feeds the AI, and the frontliner answers from the source in seconds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17904"/>
            <a:ext cx="10820095" cy="21590"/>
          </a:xfrm>
          <a:prstGeom prst="rect">
            <a:avLst/>
          </a:prstGeom>
          <a:solidFill>
            <a:srgbClr val="24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17904"/>
            <a:ext cx="822960" cy="2159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419088"/>
            <a:ext cx="10820095" cy="9525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7395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A1A7"/>
                </a:solidFill>
                <a:latin typeface="Calibri"/>
              </a:rPr>
              <a:t>OSG AI Assistant Banking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A7177"/>
                </a:solidFill>
                <a:latin typeface="Calibri"/>
              </a:rPr>
              <a:t>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18488" y="1792224"/>
            <a:ext cx="9887407" cy="1124712"/>
          </a:xfrm>
          <a:prstGeom prst="rect">
            <a:avLst/>
          </a:prstGeom>
          <a:solidFill>
            <a:srgbClr val="F7F7F8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92224"/>
            <a:ext cx="932688" cy="1124712"/>
          </a:xfrm>
          <a:prstGeom prst="rect">
            <a:avLst/>
          </a:prstGeom>
          <a:solidFill>
            <a:srgbClr val="24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 rot="16200000">
            <a:off x="589788" y="1888236"/>
            <a:ext cx="1124712" cy="9326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CUSTOMER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18488" y="2916936"/>
            <a:ext cx="9887407" cy="1124712"/>
          </a:xfrm>
          <a:prstGeom prst="rect">
            <a:avLst/>
          </a:prstGeom>
          <a:solidFill>
            <a:srgbClr val="F1F1F3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916936"/>
            <a:ext cx="932688" cy="1124712"/>
          </a:xfrm>
          <a:prstGeom prst="rect">
            <a:avLst/>
          </a:prstGeom>
          <a:solidFill>
            <a:srgbClr val="39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 rot="16200000">
            <a:off x="589788" y="3012948"/>
            <a:ext cx="1124712" cy="9326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FRONTLINER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18488" y="4041648"/>
            <a:ext cx="9887407" cy="1124712"/>
          </a:xfrm>
          <a:prstGeom prst="rect">
            <a:avLst/>
          </a:prstGeom>
          <a:solidFill>
            <a:srgbClr val="FBEEF0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4041648"/>
            <a:ext cx="932688" cy="1124712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 rot="16200000">
            <a:off x="589788" y="4137660"/>
            <a:ext cx="1124712" cy="9326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OSG · AI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18488" y="5166360"/>
            <a:ext cx="9887407" cy="1124712"/>
          </a:xfrm>
          <a:prstGeom prst="rect">
            <a:avLst/>
          </a:prstGeom>
          <a:solidFill>
            <a:srgbClr val="F7F7F8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5166360"/>
            <a:ext cx="932688" cy="1124712"/>
          </a:xfrm>
          <a:prstGeom prst="rect">
            <a:avLst/>
          </a:prstGeom>
          <a:solidFill>
            <a:srgbClr val="B0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 rot="16200000">
            <a:off x="589788" y="5262372"/>
            <a:ext cx="1124712" cy="9326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CMS HUB · PO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10512" y="5445252"/>
            <a:ext cx="1591056" cy="566928"/>
          </a:xfrm>
          <a:prstGeom prst="roundRect">
            <a:avLst/>
          </a:prstGeom>
          <a:solidFill>
            <a:srgbClr val="E9F4EF"/>
          </a:solidFill>
          <a:ln w="12700">
            <a:solidFill>
              <a:srgbClr val="B9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74520" y="5445252"/>
            <a:ext cx="1463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282C"/>
                </a:solidFill>
                <a:latin typeface="Calibri"/>
              </a:rPr>
              <a:t>Upload materials to the CMS Hub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10512" y="4320540"/>
            <a:ext cx="1591056" cy="566928"/>
          </a:xfrm>
          <a:prstGeom prst="roundRect">
            <a:avLst/>
          </a:prstGeom>
          <a:solidFill>
            <a:srgbClr val="E9F4EF"/>
          </a:solidFill>
          <a:ln w="12700">
            <a:solidFill>
              <a:srgbClr val="B9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74520" y="4320540"/>
            <a:ext cx="1463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282C"/>
                </a:solidFill>
                <a:latin typeface="Calibri"/>
              </a:rPr>
              <a:t>OSG pulls from CMS Hub; KB updates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30752" y="2071116"/>
            <a:ext cx="1591056" cy="566928"/>
          </a:xfrm>
          <a:prstGeom prst="roundRect">
            <a:avLst/>
          </a:prstGeom>
          <a:solidFill>
            <a:srgbClr val="E9F4EF"/>
          </a:solidFill>
          <a:ln w="12700">
            <a:solidFill>
              <a:srgbClr val="B9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94760" y="2071116"/>
            <a:ext cx="1463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282C"/>
                </a:solidFill>
                <a:latin typeface="Calibri"/>
              </a:rPr>
              <a:t>Customer asks a question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30752" y="3195828"/>
            <a:ext cx="1591056" cy="566928"/>
          </a:xfrm>
          <a:prstGeom prst="roundRect">
            <a:avLst/>
          </a:prstGeom>
          <a:solidFill>
            <a:srgbClr val="E9F4EF"/>
          </a:solidFill>
          <a:ln w="12700">
            <a:solidFill>
              <a:srgbClr val="B9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94760" y="3195828"/>
            <a:ext cx="1463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282C"/>
                </a:solidFill>
                <a:latin typeface="Calibri"/>
              </a:rPr>
              <a:t>Log in to OSG and search</a:t>
            </a:r>
          </a:p>
        </p:txBody>
      </p:sp>
      <p:sp>
        <p:nvSpPr>
          <p:cNvPr id="30" name="Diamond 29"/>
          <p:cNvSpPr/>
          <p:nvPr/>
        </p:nvSpPr>
        <p:spPr>
          <a:xfrm>
            <a:off x="5632704" y="4174236"/>
            <a:ext cx="1627632" cy="859536"/>
          </a:xfrm>
          <a:prstGeom prst="diamond">
            <a:avLst/>
          </a:prstGeom>
          <a:solidFill>
            <a:srgbClr val="EAF2F0"/>
          </a:solidFill>
          <a:ln w="15240">
            <a:solidFill>
              <a:srgbClr val="395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0720" y="4174236"/>
            <a:ext cx="1371600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4282C"/>
                </a:solidFill>
                <a:latin typeface="Calibri"/>
              </a:rPr>
              <a:t>Answer found?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71232" y="4320540"/>
            <a:ext cx="1591056" cy="566928"/>
          </a:xfrm>
          <a:prstGeom prst="roundRect">
            <a:avLst/>
          </a:prstGeom>
          <a:solidFill>
            <a:srgbClr val="E9F4EF"/>
          </a:solidFill>
          <a:ln w="12700">
            <a:solidFill>
              <a:srgbClr val="B9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35240" y="4320540"/>
            <a:ext cx="1463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282C"/>
                </a:solidFill>
                <a:latin typeface="Calibri"/>
              </a:rPr>
              <a:t>Answer with source and full detail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71232" y="3195828"/>
            <a:ext cx="1591056" cy="566928"/>
          </a:xfrm>
          <a:prstGeom prst="roundRect">
            <a:avLst/>
          </a:prstGeom>
          <a:solidFill>
            <a:srgbClr val="E9F4EF"/>
          </a:solidFill>
          <a:ln w="12700">
            <a:solidFill>
              <a:srgbClr val="B9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35240" y="3195828"/>
            <a:ext cx="1463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282C"/>
                </a:solidFill>
                <a:latin typeface="Calibri"/>
              </a:rPr>
              <a:t>Answer the customer, in seconds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71232" y="2071116"/>
            <a:ext cx="1591056" cy="566928"/>
          </a:xfrm>
          <a:prstGeom prst="roundRect">
            <a:avLst/>
          </a:prstGeom>
          <a:solidFill>
            <a:srgbClr val="E9F4EF"/>
          </a:solidFill>
          <a:ln w="12700">
            <a:solidFill>
              <a:srgbClr val="B9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35240" y="2071116"/>
            <a:ext cx="1463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282C"/>
                </a:solidFill>
                <a:latin typeface="Calibri"/>
              </a:rPr>
              <a:t>Customer helped, in seconds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50992" y="5445252"/>
            <a:ext cx="1591056" cy="566928"/>
          </a:xfrm>
          <a:prstGeom prst="roundRect">
            <a:avLst/>
          </a:prstGeom>
          <a:solidFill>
            <a:srgbClr val="E9F4EF"/>
          </a:solidFill>
          <a:ln w="12700">
            <a:solidFill>
              <a:srgbClr val="B9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15000" y="5445252"/>
            <a:ext cx="1463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282C"/>
                </a:solidFill>
                <a:latin typeface="Calibri"/>
              </a:rPr>
              <a:t>PIC PO updates the CMS Hub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2606040" y="4887468"/>
            <a:ext cx="0" cy="557784"/>
          </a:xfrm>
          <a:prstGeom prst="bentConnector3">
            <a:avLst/>
          </a:prstGeom>
          <a:ln w="19050">
            <a:solidFill>
              <a:srgbClr val="8B989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401568" y="4604004"/>
            <a:ext cx="2231136" cy="0"/>
          </a:xfrm>
          <a:prstGeom prst="bentConnector3">
            <a:avLst/>
          </a:prstGeom>
          <a:ln w="19050">
            <a:solidFill>
              <a:srgbClr val="8B989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526280" y="2638044"/>
            <a:ext cx="0" cy="557784"/>
          </a:xfrm>
          <a:prstGeom prst="bentConnector3">
            <a:avLst/>
          </a:prstGeom>
          <a:ln w="19050">
            <a:solidFill>
              <a:srgbClr val="8B989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321808" y="3479292"/>
            <a:ext cx="310896" cy="1124712"/>
          </a:xfrm>
          <a:prstGeom prst="bentConnector3">
            <a:avLst/>
          </a:prstGeom>
          <a:ln w="19050">
            <a:solidFill>
              <a:srgbClr val="8B989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260336" y="4604004"/>
            <a:ext cx="310896" cy="0"/>
          </a:xfrm>
          <a:prstGeom prst="bentConnector3">
            <a:avLst/>
          </a:prstGeom>
          <a:ln w="19050">
            <a:solidFill>
              <a:srgbClr val="8B989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7187184" y="4475988"/>
            <a:ext cx="457200" cy="256032"/>
          </a:xfrm>
          <a:prstGeom prst="roundRect">
            <a:avLst/>
          </a:prstGeom>
          <a:solidFill>
            <a:srgbClr val="4E6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87184" y="4475988"/>
            <a:ext cx="457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YES</a:t>
            </a:r>
          </a:p>
        </p:txBody>
      </p:sp>
      <p:cxnSp>
        <p:nvCxnSpPr>
          <p:cNvPr id="47" name="Connector 46"/>
          <p:cNvCxnSpPr/>
          <p:nvPr/>
        </p:nvCxnSpPr>
        <p:spPr>
          <a:xfrm flipV="1">
            <a:off x="8366760" y="3762756"/>
            <a:ext cx="0" cy="557784"/>
          </a:xfrm>
          <a:prstGeom prst="bentConnector3">
            <a:avLst/>
          </a:prstGeom>
          <a:ln w="19050">
            <a:solidFill>
              <a:srgbClr val="8B989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8366760" y="2638044"/>
            <a:ext cx="0" cy="557784"/>
          </a:xfrm>
          <a:prstGeom prst="bentConnector3">
            <a:avLst/>
          </a:prstGeom>
          <a:ln w="19050">
            <a:solidFill>
              <a:srgbClr val="8B989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446520" y="5033772"/>
            <a:ext cx="0" cy="411480"/>
          </a:xfrm>
          <a:prstGeom prst="bentConnector3">
            <a:avLst/>
          </a:prstGeom>
          <a:ln w="19050">
            <a:solidFill>
              <a:srgbClr val="8B989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6217920" y="5111496"/>
            <a:ext cx="457200" cy="256032"/>
          </a:xfrm>
          <a:prstGeom prst="round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17920" y="5111496"/>
            <a:ext cx="457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NO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4002B"/>
                </a:solidFill>
                <a:latin typeface="Calibri"/>
              </a:rPr>
              <a:t>COST &amp; BENEFIT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1082009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4282C"/>
                </a:solidFill>
                <a:latin typeface="Calibri"/>
              </a:rPr>
              <a:t>A lean ~Rp 206 Mio a year to run, set against an estimated productivity and service benefit many times larger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17904"/>
            <a:ext cx="10820095" cy="21590"/>
          </a:xfrm>
          <a:prstGeom prst="rect">
            <a:avLst/>
          </a:prstGeom>
          <a:solidFill>
            <a:srgbClr val="24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17904"/>
            <a:ext cx="822960" cy="2159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419088"/>
            <a:ext cx="10820095" cy="9525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7395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A1A7"/>
                </a:solidFill>
                <a:latin typeface="Calibri"/>
              </a:rPr>
              <a:t>OSG AI Assistant Banking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A7177"/>
                </a:solidFill>
                <a:latin typeface="Calibri"/>
              </a:rPr>
              <a:t>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737360"/>
            <a:ext cx="10820095" cy="329184"/>
          </a:xfrm>
          <a:prstGeom prst="rect">
            <a:avLst/>
          </a:prstGeom>
          <a:solidFill>
            <a:srgbClr val="24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1737360"/>
            <a:ext cx="313639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Cost item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737360"/>
            <a:ext cx="5669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Qty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737360"/>
            <a:ext cx="11887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Price (Mio)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0448" y="1737360"/>
            <a:ext cx="93268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Y1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9712" y="1737360"/>
            <a:ext cx="93268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Y2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08976" y="1737360"/>
            <a:ext cx="93268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Y3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1737360"/>
            <a:ext cx="93268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Y4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47504" y="1737360"/>
            <a:ext cx="93268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Y5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2103120"/>
            <a:ext cx="10820095" cy="254203"/>
          </a:xfrm>
          <a:prstGeom prst="rect">
            <a:avLst/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2103120"/>
            <a:ext cx="54864" cy="254203"/>
          </a:xfrm>
          <a:prstGeom prst="rect">
            <a:avLst/>
          </a:prstGeom>
          <a:solidFill>
            <a:srgbClr val="4E6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" y="2103120"/>
            <a:ext cx="3136392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4282C"/>
                </a:solidFill>
                <a:latin typeface="Calibri"/>
              </a:rPr>
              <a:t>CAPEX  ·  one-time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" y="2357323"/>
            <a:ext cx="3136392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02428"/>
                </a:solidFill>
                <a:latin typeface="Calibri"/>
              </a:rPr>
              <a:t>Database (500 GB)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2357323"/>
            <a:ext cx="56692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C5359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2357323"/>
            <a:ext cx="118872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C5359"/>
                </a:solidFill>
                <a:latin typeface="Calibri"/>
              </a:rPr>
              <a:t>61.8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70448" y="2357323"/>
            <a:ext cx="93268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02428"/>
                </a:solidFill>
                <a:latin typeface="Calibri"/>
              </a:rPr>
              <a:t>62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2357323"/>
            <a:ext cx="93268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02428"/>
                </a:solidFill>
                <a:latin typeface="Calibr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08976" y="2357323"/>
            <a:ext cx="93268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02428"/>
                </a:solidFill>
                <a:latin typeface="Calibri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2357323"/>
            <a:ext cx="93268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02428"/>
                </a:solidFill>
                <a:latin typeface="Calibri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47504" y="2357323"/>
            <a:ext cx="93268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02428"/>
                </a:solidFill>
                <a:latin typeface="Calibri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2611526"/>
            <a:ext cx="10820095" cy="254203"/>
          </a:xfrm>
          <a:prstGeom prst="rect">
            <a:avLst/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2611526"/>
            <a:ext cx="54864" cy="254203"/>
          </a:xfrm>
          <a:prstGeom prst="rect">
            <a:avLst/>
          </a:prstGeom>
          <a:solidFill>
            <a:srgbClr val="B0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" y="2611526"/>
            <a:ext cx="3136392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4282C"/>
                </a:solidFill>
                <a:latin typeface="Calibri"/>
              </a:rPr>
              <a:t>OPEX  ·  build &amp; recurring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" y="2865729"/>
            <a:ext cx="3136392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02428"/>
                </a:solidFill>
                <a:latin typeface="Calibri"/>
              </a:rPr>
              <a:t>Database IT direct charge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31920" y="2865729"/>
            <a:ext cx="56692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C5359"/>
                </a:solidFill>
                <a:latin typeface="Calibr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53712" y="2865729"/>
            <a:ext cx="118872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C5359"/>
                </a:solidFill>
                <a:latin typeface="Calibri"/>
              </a:rPr>
              <a:t>3.75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70448" y="2865729"/>
            <a:ext cx="93268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02428"/>
                </a:solidFill>
                <a:latin typeface="Calibri"/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39712" y="2865729"/>
            <a:ext cx="93268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02428"/>
                </a:solidFill>
                <a:latin typeface="Calibri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08976" y="2865729"/>
            <a:ext cx="93268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02428"/>
                </a:solidFill>
                <a:latin typeface="Calibri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2865729"/>
            <a:ext cx="93268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02428"/>
                </a:solidFill>
                <a:latin typeface="Calibri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47504" y="2865729"/>
            <a:ext cx="93268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02428"/>
                </a:solidFill>
                <a:latin typeface="Calibri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" y="3119932"/>
            <a:ext cx="3136392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02428"/>
                </a:solidFill>
                <a:latin typeface="Calibri"/>
              </a:rPr>
              <a:t>Man-days, develop OSG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31920" y="3119932"/>
            <a:ext cx="56692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C5359"/>
                </a:solidFill>
                <a:latin typeface="Calibri"/>
              </a:rPr>
              <a:t>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53712" y="3119932"/>
            <a:ext cx="118872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C5359"/>
                </a:solidFill>
                <a:latin typeface="Calibri"/>
              </a:rPr>
              <a:t>3.75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70448" y="3119932"/>
            <a:ext cx="93268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02428"/>
                </a:solidFill>
                <a:latin typeface="Calibri"/>
              </a:rPr>
              <a:t>113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39712" y="3119932"/>
            <a:ext cx="93268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02428"/>
                </a:solidFill>
                <a:latin typeface="Calibri"/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08976" y="3119932"/>
            <a:ext cx="93268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02428"/>
                </a:solidFill>
                <a:latin typeface="Calibri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8240" y="3119932"/>
            <a:ext cx="93268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02428"/>
                </a:solidFill>
                <a:latin typeface="Calibri"/>
              </a:rPr>
              <a:t/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47504" y="3119932"/>
            <a:ext cx="93268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02428"/>
                </a:solidFill>
                <a:latin typeface="Calibri"/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1832" y="3374135"/>
            <a:ext cx="3136392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02428"/>
                </a:solidFill>
                <a:latin typeface="Calibri"/>
              </a:rPr>
              <a:t>Man-days, IT deployment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31920" y="3374135"/>
            <a:ext cx="56692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C5359"/>
                </a:solidFill>
                <a:latin typeface="Calibri"/>
              </a:rPr>
              <a:t>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53712" y="3374135"/>
            <a:ext cx="118872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C5359"/>
                </a:solidFill>
                <a:latin typeface="Calibri"/>
              </a:rPr>
              <a:t>3.75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70448" y="3374135"/>
            <a:ext cx="93268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02428"/>
                </a:solidFill>
                <a:latin typeface="Calibri"/>
              </a:rPr>
              <a:t>56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39712" y="3374135"/>
            <a:ext cx="93268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02428"/>
                </a:solidFill>
                <a:latin typeface="Calibri"/>
              </a:rPr>
              <a:t/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08976" y="3374135"/>
            <a:ext cx="93268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02428"/>
                </a:solidFill>
                <a:latin typeface="Calibri"/>
              </a:rPr>
              <a:t/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78240" y="3374135"/>
            <a:ext cx="93268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02428"/>
                </a:solidFill>
                <a:latin typeface="Calibri"/>
              </a:rPr>
              <a:t/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47504" y="3374135"/>
            <a:ext cx="93268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02428"/>
                </a:solidFill>
                <a:latin typeface="Calibri"/>
              </a:rPr>
              <a:t/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1832" y="3628338"/>
            <a:ext cx="3136392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02428"/>
                </a:solidFill>
                <a:latin typeface="Calibri"/>
              </a:rPr>
              <a:t>Cloudera license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31920" y="3628338"/>
            <a:ext cx="56692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C5359"/>
                </a:solidFill>
                <a:latin typeface="Calibri"/>
              </a:rP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53712" y="3628338"/>
            <a:ext cx="118872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C5359"/>
                </a:solidFill>
                <a:latin typeface="Calibri"/>
              </a:rPr>
              <a:t>5,000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70448" y="3628338"/>
            <a:ext cx="93268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02428"/>
                </a:solidFill>
                <a:latin typeface="Calibri"/>
              </a:rPr>
              <a:t>200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39712" y="3628338"/>
            <a:ext cx="93268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02428"/>
                </a:solidFill>
                <a:latin typeface="Calibri"/>
              </a:rPr>
              <a:t>200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08976" y="3628338"/>
            <a:ext cx="93268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02428"/>
                </a:solidFill>
                <a:latin typeface="Calibri"/>
              </a:rPr>
              <a:t>200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78240" y="3628338"/>
            <a:ext cx="93268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02428"/>
                </a:solidFill>
                <a:latin typeface="Calibri"/>
              </a:rPr>
              <a:t>200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47504" y="3628338"/>
            <a:ext cx="93268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02428"/>
                </a:solidFill>
                <a:latin typeface="Calibri"/>
              </a:rPr>
              <a:t>200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41832" y="3882541"/>
            <a:ext cx="3136392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02428"/>
                </a:solidFill>
                <a:latin typeface="Calibri"/>
              </a:rPr>
              <a:t>Cloudera maintenance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931920" y="3882541"/>
            <a:ext cx="56692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C5359"/>
                </a:solidFill>
                <a:latin typeface="Calibri"/>
              </a:rPr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53712" y="3882541"/>
            <a:ext cx="118872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C5359"/>
                </a:solidFill>
                <a:latin typeface="Calibri"/>
              </a:rPr>
              <a:t>152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70448" y="3882541"/>
            <a:ext cx="93268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02428"/>
                </a:solidFill>
                <a:latin typeface="Calibri"/>
              </a:rPr>
              <a:t>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39712" y="3882541"/>
            <a:ext cx="93268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02428"/>
                </a:solidFill>
                <a:latin typeface="Calibri"/>
              </a:rPr>
              <a:t>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808976" y="3882541"/>
            <a:ext cx="93268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02428"/>
                </a:solidFill>
                <a:latin typeface="Calibri"/>
              </a:rPr>
              <a:t>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778240" y="3882541"/>
            <a:ext cx="93268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02428"/>
                </a:solidFill>
                <a:latin typeface="Calibri"/>
              </a:rPr>
              <a:t>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747504" y="3882541"/>
            <a:ext cx="93268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02428"/>
                </a:solidFill>
                <a:latin typeface="Calibri"/>
              </a:rPr>
              <a:t>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85800" y="4136744"/>
            <a:ext cx="10820095" cy="12700"/>
          </a:xfrm>
          <a:prstGeom prst="rect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85800" y="4136744"/>
            <a:ext cx="10820095" cy="254203"/>
          </a:xfrm>
          <a:prstGeom prst="rect">
            <a:avLst/>
          </a:prstGeom>
          <a:solidFill>
            <a:srgbClr val="F1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41832" y="4136744"/>
            <a:ext cx="3136392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4282C"/>
                </a:solidFill>
                <a:latin typeface="Calibri"/>
              </a:rPr>
              <a:t>Total cost per year (Rp Mio)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931920" y="4136744"/>
            <a:ext cx="56692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C5359"/>
                </a:solidFill>
                <a:latin typeface="Calibri"/>
              </a:rPr>
              <a:t/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53712" y="4136744"/>
            <a:ext cx="118872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C5359"/>
                </a:solidFill>
                <a:latin typeface="Calibri"/>
              </a:rPr>
              <a:t/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870448" y="4136744"/>
            <a:ext cx="93268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4002B"/>
                </a:solidFill>
                <a:latin typeface="Calibri"/>
              </a:rPr>
              <a:t>448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39712" y="4136744"/>
            <a:ext cx="93268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4002B"/>
                </a:solidFill>
                <a:latin typeface="Calibri"/>
              </a:rPr>
              <a:t>206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08976" y="4136744"/>
            <a:ext cx="93268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4002B"/>
                </a:solidFill>
                <a:latin typeface="Calibri"/>
              </a:rPr>
              <a:t>206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778240" y="4136744"/>
            <a:ext cx="93268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4002B"/>
                </a:solidFill>
                <a:latin typeface="Calibri"/>
              </a:rPr>
              <a:t>206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747504" y="4136744"/>
            <a:ext cx="93268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4002B"/>
                </a:solidFill>
                <a:latin typeface="Calibri"/>
              </a:rPr>
              <a:t>206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85800" y="4390947"/>
            <a:ext cx="10820095" cy="254203"/>
          </a:xfrm>
          <a:prstGeom prst="rect">
            <a:avLst/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85800" y="4390947"/>
            <a:ext cx="54864" cy="254203"/>
          </a:xfrm>
          <a:prstGeom prst="rect">
            <a:avLst/>
          </a:prstGeom>
          <a:solidFill>
            <a:srgbClr val="39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32104" y="4390947"/>
            <a:ext cx="3136392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4282C"/>
                </a:solidFill>
                <a:latin typeface="Calibri"/>
              </a:rPr>
              <a:t>POTENTIAL BENEFIT  ·  estimate (ramps with adoption)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41832" y="4645150"/>
            <a:ext cx="3136392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02428"/>
                </a:solidFill>
                <a:latin typeface="Calibri"/>
              </a:rPr>
              <a:t>Productivity &amp; operations (time saved)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931920" y="4645150"/>
            <a:ext cx="56692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C5359"/>
                </a:solidFill>
                <a:latin typeface="Calibri"/>
              </a:rPr>
              <a:t/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553712" y="4645150"/>
            <a:ext cx="118872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C5359"/>
                </a:solidFill>
                <a:latin typeface="Calibri"/>
              </a:rPr>
              <a:t/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870448" y="4645150"/>
            <a:ext cx="93268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0812C"/>
                </a:solidFill>
                <a:latin typeface="Calibri"/>
              </a:rPr>
              <a:t>3,500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839712" y="4645150"/>
            <a:ext cx="93268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0812C"/>
                </a:solidFill>
                <a:latin typeface="Calibri"/>
              </a:rPr>
              <a:t>5,600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808976" y="4645150"/>
            <a:ext cx="93268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0812C"/>
                </a:solidFill>
                <a:latin typeface="Calibri"/>
              </a:rPr>
              <a:t>7,000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778240" y="4645150"/>
            <a:ext cx="93268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0812C"/>
                </a:solidFill>
                <a:latin typeface="Calibri"/>
              </a:rPr>
              <a:t>7,000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747504" y="4645150"/>
            <a:ext cx="93268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0812C"/>
                </a:solidFill>
                <a:latin typeface="Calibri"/>
              </a:rPr>
              <a:t>7,000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41832" y="4899353"/>
            <a:ext cx="3136392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02428"/>
                </a:solidFill>
                <a:latin typeface="Calibri"/>
              </a:rPr>
              <a:t>Potential revenue (cross-sell &amp; retention)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931920" y="4899353"/>
            <a:ext cx="56692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C5359"/>
                </a:solidFill>
                <a:latin typeface="Calibri"/>
              </a:rPr>
              <a:t/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53712" y="4899353"/>
            <a:ext cx="118872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C5359"/>
                </a:solidFill>
                <a:latin typeface="Calibri"/>
              </a:rPr>
              <a:t/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870448" y="4899353"/>
            <a:ext cx="93268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0812C"/>
                </a:solidFill>
                <a:latin typeface="Calibri"/>
              </a:rPr>
              <a:t>1,000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839712" y="4899353"/>
            <a:ext cx="93268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0812C"/>
                </a:solidFill>
                <a:latin typeface="Calibri"/>
              </a:rPr>
              <a:t>1,800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808976" y="4899353"/>
            <a:ext cx="93268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0812C"/>
                </a:solidFill>
                <a:latin typeface="Calibri"/>
              </a:rPr>
              <a:t>2,500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778240" y="4899353"/>
            <a:ext cx="93268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0812C"/>
                </a:solidFill>
                <a:latin typeface="Calibri"/>
              </a:rPr>
              <a:t>2,500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747504" y="4899353"/>
            <a:ext cx="93268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0812C"/>
                </a:solidFill>
                <a:latin typeface="Calibri"/>
              </a:rPr>
              <a:t>2,500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85800" y="5153556"/>
            <a:ext cx="10820095" cy="12700"/>
          </a:xfrm>
          <a:prstGeom prst="rect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85800" y="5153556"/>
            <a:ext cx="10820095" cy="254203"/>
          </a:xfrm>
          <a:prstGeom prst="rect">
            <a:avLst/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41832" y="5153556"/>
            <a:ext cx="3136392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4282C"/>
                </a:solidFill>
                <a:latin typeface="Calibri"/>
              </a:rPr>
              <a:t>Net per year (benefit less cost)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931920" y="5153556"/>
            <a:ext cx="56692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C5359"/>
                </a:solidFill>
                <a:latin typeface="Calibri"/>
              </a:rPr>
              <a:t/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553712" y="5153556"/>
            <a:ext cx="118872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C5359"/>
                </a:solidFill>
                <a:latin typeface="Calibri"/>
              </a:rPr>
              <a:t/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870448" y="5153556"/>
            <a:ext cx="93268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95268"/>
                </a:solidFill>
                <a:latin typeface="Calibri"/>
              </a:rPr>
              <a:t>4,052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839712" y="5153556"/>
            <a:ext cx="93268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95268"/>
                </a:solidFill>
                <a:latin typeface="Calibri"/>
              </a:rPr>
              <a:t>7,194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808976" y="5153556"/>
            <a:ext cx="93268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95268"/>
                </a:solidFill>
                <a:latin typeface="Calibri"/>
              </a:rPr>
              <a:t>9,294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778240" y="5153556"/>
            <a:ext cx="93268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95268"/>
                </a:solidFill>
                <a:latin typeface="Calibri"/>
              </a:rPr>
              <a:t>9,294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747504" y="5153556"/>
            <a:ext cx="932688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95268"/>
                </a:solidFill>
                <a:latin typeface="Calibri"/>
              </a:rPr>
              <a:t>9,294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85800" y="5435191"/>
            <a:ext cx="10820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9BA1A7"/>
                </a:solidFill>
                <a:latin typeface="Calibri"/>
              </a:rPr>
              <a:t>Costs are actual estimates (Rp Mio = million); license and maintenance priced as total contract value, with the annual charge in Y1 to Y5. 5-year cost ~Rp 1,272 Mio.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9BA1A7"/>
                </a:solidFill>
                <a:latin typeface="Calibri"/>
              </a:rPr>
              <a:t>About 10 minutes saved per frontliner per day (1,200 frontliners, ~240 days) valued at ~Rp 0.15 Mio/hour and ramping with adoption, plus a conservative customer-experience and cross-sell uplift. To be validated in pilot.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4002B"/>
                </a:solidFill>
                <a:latin typeface="Calibri"/>
              </a:rPr>
              <a:t>RISK, SECURITY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1082009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4282C"/>
                </a:solidFill>
                <a:latin typeface="Calibri"/>
              </a:rPr>
              <a:t>The risks executives worry about most (accuracy, data security and auditability) are mitigated by design, not bolted 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17904"/>
            <a:ext cx="10820095" cy="21590"/>
          </a:xfrm>
          <a:prstGeom prst="rect">
            <a:avLst/>
          </a:prstGeom>
          <a:solidFill>
            <a:srgbClr val="24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17904"/>
            <a:ext cx="822960" cy="2159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419088"/>
            <a:ext cx="10820095" cy="9525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7395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A1A7"/>
                </a:solidFill>
                <a:latin typeface="Calibri"/>
              </a:rPr>
              <a:t>OSG AI Assistant Banking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A7177"/>
                </a:solidFill>
                <a:latin typeface="Calibri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47088"/>
            <a:ext cx="3423818" cy="3063240"/>
          </a:xfrm>
          <a:prstGeom prst="rect">
            <a:avLst/>
          </a:prstGeom>
          <a:solidFill>
            <a:srgbClr val="F7F7F8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47088"/>
            <a:ext cx="3423818" cy="77724"/>
          </a:xfrm>
          <a:prstGeom prst="rect">
            <a:avLst/>
          </a:prstGeom>
          <a:solidFill>
            <a:srgbClr val="24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084832"/>
            <a:ext cx="29849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4282C"/>
                </a:solidFill>
                <a:latin typeface="Calibri"/>
              </a:rPr>
              <a:t>Accuracy &amp; trust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33472"/>
            <a:ext cx="300319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>
                <a:solidFill>
                  <a:srgbClr val="E4002B"/>
                </a:solidFill>
              </a:rPr>
              <a:t>▪  </a:t>
            </a:r>
            <a:r>
              <a:rPr sz="1250" b="1">
                <a:solidFill>
                  <a:srgbClr val="202428"/>
                </a:solidFill>
              </a:rPr>
              <a:t>Answers come only from approved bank content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>
                <a:solidFill>
                  <a:srgbClr val="E4002B"/>
                </a:solidFill>
              </a:rPr>
              <a:t>▪  </a:t>
            </a:r>
            <a:r>
              <a:rPr sz="1250" b="1">
                <a:solidFill>
                  <a:srgbClr val="202428"/>
                </a:solidFill>
              </a:rPr>
              <a:t>Every answer shows its source, so it can be checked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>
                <a:solidFill>
                  <a:srgbClr val="E4002B"/>
                </a:solidFill>
              </a:rPr>
              <a:t>▪  </a:t>
            </a:r>
            <a:r>
              <a:rPr sz="1250" b="1">
                <a:solidFill>
                  <a:srgbClr val="202428"/>
                </a:solidFill>
              </a:rPr>
              <a:t>Expired offers are flagged; if there's no answer, it says so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3938" y="1847088"/>
            <a:ext cx="3423818" cy="3063240"/>
          </a:xfrm>
          <a:prstGeom prst="rect">
            <a:avLst/>
          </a:prstGeom>
          <a:solidFill>
            <a:srgbClr val="F7F7F8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3938" y="1847088"/>
            <a:ext cx="3423818" cy="77724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03394" y="2084832"/>
            <a:ext cx="29849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4282C"/>
                </a:solidFill>
                <a:latin typeface="Calibri"/>
              </a:rPr>
              <a:t>Data security &amp; privacy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3394" y="2633472"/>
            <a:ext cx="300319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>
                <a:solidFill>
                  <a:srgbClr val="E4002B"/>
                </a:solidFill>
              </a:rPr>
              <a:t>▪  </a:t>
            </a:r>
            <a:r>
              <a:rPr sz="1250" b="1">
                <a:solidFill>
                  <a:srgbClr val="202428"/>
                </a:solidFill>
              </a:rPr>
              <a:t>Runs in a tightly controlled, secure environment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>
                <a:solidFill>
                  <a:srgbClr val="E4002B"/>
                </a:solidFill>
              </a:rPr>
              <a:t>▪  </a:t>
            </a:r>
            <a:r>
              <a:rPr sz="1250" b="1">
                <a:solidFill>
                  <a:srgbClr val="202428"/>
                </a:solidFill>
              </a:rPr>
              <a:t>Can run entirely inside the bank, no data leaves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>
                <a:solidFill>
                  <a:srgbClr val="E4002B"/>
                </a:solidFill>
              </a:rPr>
              <a:t>▪  </a:t>
            </a:r>
            <a:r>
              <a:rPr sz="1250" b="1">
                <a:solidFill>
                  <a:srgbClr val="202428"/>
                </a:solidFill>
              </a:rPr>
              <a:t>Never handles customer secrets such as PINs or passwords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82076" y="1847088"/>
            <a:ext cx="3423818" cy="3063240"/>
          </a:xfrm>
          <a:prstGeom prst="rect">
            <a:avLst/>
          </a:prstGeom>
          <a:solidFill>
            <a:srgbClr val="F7F7F8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82076" y="1847088"/>
            <a:ext cx="3423818" cy="77724"/>
          </a:xfrm>
          <a:prstGeom prst="rect">
            <a:avLst/>
          </a:prstGeom>
          <a:solidFill>
            <a:srgbClr val="B0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1532" y="2084832"/>
            <a:ext cx="29849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4282C"/>
                </a:solidFill>
                <a:latin typeface="Calibri"/>
              </a:rPr>
              <a:t>Content governance (CMS Hub)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1532" y="2633472"/>
            <a:ext cx="300319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>
                <a:solidFill>
                  <a:srgbClr val="E4002B"/>
                </a:solidFill>
              </a:rPr>
              <a:t>▪  </a:t>
            </a:r>
            <a:r>
              <a:rPr sz="1250" b="1">
                <a:solidFill>
                  <a:srgbClr val="202428"/>
                </a:solidFill>
              </a:rPr>
              <a:t>Product Owners keep the CMS Hub current, the single source of truth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>
                <a:solidFill>
                  <a:srgbClr val="E4002B"/>
                </a:solidFill>
              </a:rPr>
              <a:t>▪  </a:t>
            </a:r>
            <a:r>
              <a:rPr sz="1250" b="1">
                <a:solidFill>
                  <a:srgbClr val="202428"/>
                </a:solidFill>
              </a:rPr>
              <a:t>Start and end dates set at upload, so expired offers are never served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>
                <a:solidFill>
                  <a:srgbClr val="E4002B"/>
                </a:solidFill>
              </a:rPr>
              <a:t>▪  </a:t>
            </a:r>
            <a:r>
              <a:rPr sz="1250" b="1">
                <a:solidFill>
                  <a:srgbClr val="202428"/>
                </a:solidFill>
              </a:rPr>
              <a:t>Dual control on uploads; every change is logged and auditable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5257800"/>
            <a:ext cx="10820095" cy="658368"/>
          </a:xfrm>
          <a:prstGeom prst="rect">
            <a:avLst/>
          </a:prstGeom>
          <a:solidFill>
            <a:srgbClr val="F4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5257800"/>
            <a:ext cx="64008" cy="658368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5257800"/>
            <a:ext cx="1036289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4002B"/>
                </a:solidFill>
                <a:latin typeface="Calibri"/>
              </a:rPr>
              <a:t>Bottom line:  </a:t>
            </a:r>
            <a:r>
              <a:rPr sz="1400" b="1" i="0">
                <a:solidFill>
                  <a:srgbClr val="24282C"/>
                </a:solidFill>
                <a:latin typeface="Calibri"/>
              </a:rPr>
              <a:t>the process assigns clear ownership: Product Owners must keep materials and their start/end dates current in the CMS Hub, so OSG always answers from approved, in-force content, with every answer traceable to source.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4002B"/>
                </a:solidFill>
                <a:latin typeface="Calibri"/>
              </a:rPr>
              <a:t>USER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1082009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4282C"/>
                </a:solidFill>
                <a:latin typeface="Calibri"/>
              </a:rPr>
              <a:t>What our users say about OSG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17904"/>
            <a:ext cx="10820095" cy="21590"/>
          </a:xfrm>
          <a:prstGeom prst="rect">
            <a:avLst/>
          </a:prstGeom>
          <a:solidFill>
            <a:srgbClr val="24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17904"/>
            <a:ext cx="822960" cy="2159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419088"/>
            <a:ext cx="10820095" cy="9525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7395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A1A7"/>
                </a:solidFill>
                <a:latin typeface="Calibri"/>
              </a:rPr>
              <a:t>OSG AI Assistant Banking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A7177"/>
                </a:solidFill>
                <a:latin typeface="Calibri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74519"/>
            <a:ext cx="3362858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874519"/>
            <a:ext cx="73152" cy="4160520"/>
          </a:xfrm>
          <a:prstGeom prst="roundRect">
            <a:avLst/>
          </a:prstGeom>
          <a:solidFill>
            <a:srgbClr val="39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1929383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395268"/>
                </a:solidFill>
                <a:latin typeface="Calibri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660903"/>
            <a:ext cx="2832506" cy="2459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C5359"/>
                </a:solidFill>
                <a:latin typeface="Calibri"/>
              </a:rPr>
              <a:t>Add the user’s feedback statement here. Share a real quote about how OSG changed their day.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5175503"/>
            <a:ext cx="2832506" cy="11430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0120" y="5303519"/>
            <a:ext cx="566928" cy="566928"/>
          </a:xfrm>
          <a:prstGeom prst="ellipse">
            <a:avLst/>
          </a:prstGeom>
          <a:solidFill>
            <a:srgbClr val="E6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8545" y="5394227"/>
            <a:ext cx="170078" cy="170078"/>
          </a:xfrm>
          <a:prstGeom prst="ellipse">
            <a:avLst/>
          </a:prstGeom>
          <a:solidFill>
            <a:srgbClr val="39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3506" y="5609660"/>
            <a:ext cx="340156" cy="260786"/>
          </a:xfrm>
          <a:prstGeom prst="ellipse">
            <a:avLst/>
          </a:prstGeom>
          <a:solidFill>
            <a:srgbClr val="39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55064" y="5285231"/>
            <a:ext cx="217413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24282C"/>
                </a:solidFill>
                <a:latin typeface="Calibri"/>
              </a:rPr>
              <a:t>Username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A7177"/>
                </a:solidFill>
                <a:latin typeface="Calibri"/>
              </a:rPr>
              <a:t>Title / Role · Branch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14418" y="1874519"/>
            <a:ext cx="3362858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14418" y="1874519"/>
            <a:ext cx="73152" cy="4160520"/>
          </a:xfrm>
          <a:prstGeom prst="round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52162" y="1929383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E4002B"/>
                </a:solidFill>
                <a:latin typeface="Calibri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88738" y="2660903"/>
            <a:ext cx="2832506" cy="2459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C5359"/>
                </a:solidFill>
                <a:latin typeface="Calibri"/>
              </a:rPr>
              <a:t>Add the user’s feedback statement here. Keep it short, specific and in their own words.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88738" y="5175503"/>
            <a:ext cx="2832506" cy="11430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88738" y="5303519"/>
            <a:ext cx="566928" cy="566928"/>
          </a:xfrm>
          <a:prstGeom prst="ellipse">
            <a:avLst/>
          </a:prstGeom>
          <a:solidFill>
            <a:srgbClr val="E6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87163" y="5394227"/>
            <a:ext cx="170078" cy="17007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02124" y="5609660"/>
            <a:ext cx="340156" cy="260786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83682" y="5285231"/>
            <a:ext cx="217413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24282C"/>
                </a:solidFill>
                <a:latin typeface="Calibri"/>
              </a:rPr>
              <a:t>Username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A7177"/>
                </a:solidFill>
                <a:latin typeface="Calibri"/>
              </a:rPr>
              <a:t>Title / Role · Branch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43036" y="1874519"/>
            <a:ext cx="3362858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43036" y="1874519"/>
            <a:ext cx="73152" cy="4160520"/>
          </a:xfrm>
          <a:prstGeom prst="roundRect">
            <a:avLst/>
          </a:prstGeom>
          <a:solidFill>
            <a:srgbClr val="B0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80780" y="1929383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B0812C"/>
                </a:solidFill>
                <a:latin typeface="Calibri"/>
              </a:rPr>
              <a:t>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7356" y="2660903"/>
            <a:ext cx="2832506" cy="2459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C5359"/>
                </a:solidFill>
                <a:latin typeface="Calibri"/>
              </a:rPr>
              <a:t>Add the user’s feedback statement here. A number or a before/after detail makes it land.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7356" y="5175503"/>
            <a:ext cx="2832506" cy="11430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17356" y="5303519"/>
            <a:ext cx="566928" cy="566928"/>
          </a:xfrm>
          <a:prstGeom prst="ellipse">
            <a:avLst/>
          </a:prstGeom>
          <a:solidFill>
            <a:srgbClr val="E6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615781" y="5394227"/>
            <a:ext cx="170078" cy="170078"/>
          </a:xfrm>
          <a:prstGeom prst="ellipse">
            <a:avLst/>
          </a:prstGeom>
          <a:solidFill>
            <a:srgbClr val="B0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30742" y="5609660"/>
            <a:ext cx="340156" cy="260786"/>
          </a:xfrm>
          <a:prstGeom prst="ellipse">
            <a:avLst/>
          </a:prstGeom>
          <a:solidFill>
            <a:srgbClr val="B0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12300" y="5285231"/>
            <a:ext cx="217413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24282C"/>
                </a:solidFill>
                <a:latin typeface="Calibri"/>
              </a:rPr>
              <a:t>Username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A7177"/>
                </a:solidFill>
                <a:latin typeface="Calibri"/>
              </a:rPr>
              <a:t>Title / Role · Branch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4002B"/>
                </a:solidFill>
                <a:latin typeface="Calibri"/>
              </a:rPr>
              <a:t>USER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1082009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4282C"/>
                </a:solidFill>
                <a:latin typeface="Calibri"/>
              </a:rPr>
              <a:t>More voices from the pilot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17904"/>
            <a:ext cx="10820095" cy="21590"/>
          </a:xfrm>
          <a:prstGeom prst="rect">
            <a:avLst/>
          </a:prstGeom>
          <a:solidFill>
            <a:srgbClr val="24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17904"/>
            <a:ext cx="822960" cy="2159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419088"/>
            <a:ext cx="10820095" cy="9525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7395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A1A7"/>
                </a:solidFill>
                <a:latin typeface="Calibri"/>
              </a:rPr>
              <a:t>OSG AI Assistant Banking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A7177"/>
                </a:solidFill>
                <a:latin typeface="Calibri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74519"/>
            <a:ext cx="3362858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874519"/>
            <a:ext cx="73152" cy="4160520"/>
          </a:xfrm>
          <a:prstGeom prst="roundRect">
            <a:avLst/>
          </a:prstGeom>
          <a:solidFill>
            <a:srgbClr val="24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1929383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24282C"/>
                </a:solidFill>
                <a:latin typeface="Calibri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660903"/>
            <a:ext cx="2832506" cy="2459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C5359"/>
                </a:solidFill>
                <a:latin typeface="Calibri"/>
              </a:rPr>
              <a:t>Add the user’s feedback statement here. A Product Owner or branch lead perspective works well on this slide.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5175503"/>
            <a:ext cx="2832506" cy="11430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0120" y="5303519"/>
            <a:ext cx="566928" cy="566928"/>
          </a:xfrm>
          <a:prstGeom prst="ellipse">
            <a:avLst/>
          </a:prstGeom>
          <a:solidFill>
            <a:srgbClr val="E6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8545" y="5394227"/>
            <a:ext cx="170078" cy="170078"/>
          </a:xfrm>
          <a:prstGeom prst="ellipse">
            <a:avLst/>
          </a:prstGeom>
          <a:solidFill>
            <a:srgbClr val="24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3506" y="5609660"/>
            <a:ext cx="340156" cy="260786"/>
          </a:xfrm>
          <a:prstGeom prst="ellipse">
            <a:avLst/>
          </a:prstGeom>
          <a:solidFill>
            <a:srgbClr val="24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55064" y="5285231"/>
            <a:ext cx="217413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24282C"/>
                </a:solidFill>
                <a:latin typeface="Calibri"/>
              </a:rPr>
              <a:t>Username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A7177"/>
                </a:solidFill>
                <a:latin typeface="Calibri"/>
              </a:rPr>
              <a:t>Title / Role · Team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14418" y="1874519"/>
            <a:ext cx="3362858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14418" y="1874519"/>
            <a:ext cx="73152" cy="4160520"/>
          </a:xfrm>
          <a:prstGeom prst="roundRect">
            <a:avLst/>
          </a:prstGeom>
          <a:solidFill>
            <a:srgbClr val="39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52162" y="1929383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395268"/>
                </a:solidFill>
                <a:latin typeface="Calibri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88738" y="2660903"/>
            <a:ext cx="2832506" cy="2459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C5359"/>
                </a:solidFill>
                <a:latin typeface="Calibri"/>
              </a:rPr>
              <a:t>Add the user’s feedback statement here. Highlight time saved, accuracy, or customer reaction.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88738" y="5175503"/>
            <a:ext cx="2832506" cy="11430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88738" y="5303519"/>
            <a:ext cx="566928" cy="566928"/>
          </a:xfrm>
          <a:prstGeom prst="ellipse">
            <a:avLst/>
          </a:prstGeom>
          <a:solidFill>
            <a:srgbClr val="E6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87163" y="5394227"/>
            <a:ext cx="170078" cy="170078"/>
          </a:xfrm>
          <a:prstGeom prst="ellipse">
            <a:avLst/>
          </a:prstGeom>
          <a:solidFill>
            <a:srgbClr val="39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02124" y="5609660"/>
            <a:ext cx="340156" cy="260786"/>
          </a:xfrm>
          <a:prstGeom prst="ellipse">
            <a:avLst/>
          </a:prstGeom>
          <a:solidFill>
            <a:srgbClr val="39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83682" y="5285231"/>
            <a:ext cx="217413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24282C"/>
                </a:solidFill>
                <a:latin typeface="Calibri"/>
              </a:rPr>
              <a:t>Username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A7177"/>
                </a:solidFill>
                <a:latin typeface="Calibri"/>
              </a:rPr>
              <a:t>Title / Role · Team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43036" y="1874519"/>
            <a:ext cx="3362858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43036" y="1874519"/>
            <a:ext cx="73152" cy="4160520"/>
          </a:xfrm>
          <a:prstGeom prst="round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80780" y="1929383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E4002B"/>
                </a:solidFill>
                <a:latin typeface="Calibri"/>
              </a:rPr>
              <a:t>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7356" y="2660903"/>
            <a:ext cx="2832506" cy="2459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C5359"/>
                </a:solidFill>
                <a:latin typeface="Calibri"/>
              </a:rPr>
              <a:t>Add the user’s feedback statement here. Close on the impact for the customer.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7356" y="5175503"/>
            <a:ext cx="2832506" cy="11430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17356" y="5303519"/>
            <a:ext cx="566928" cy="566928"/>
          </a:xfrm>
          <a:prstGeom prst="ellipse">
            <a:avLst/>
          </a:prstGeom>
          <a:solidFill>
            <a:srgbClr val="E6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615781" y="5394227"/>
            <a:ext cx="170078" cy="17007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30742" y="5609660"/>
            <a:ext cx="340156" cy="260786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12300" y="5285231"/>
            <a:ext cx="217413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24282C"/>
                </a:solidFill>
                <a:latin typeface="Calibri"/>
              </a:rPr>
              <a:t>Username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A7177"/>
                </a:solidFill>
                <a:latin typeface="Calibri"/>
              </a:rPr>
              <a:t>Title / Role · Team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4002B"/>
                </a:solidFill>
                <a:latin typeface="Calibri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1082009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4282C"/>
                </a:solidFill>
                <a:latin typeface="Calibri"/>
              </a:rPr>
              <a:t>A real question, answered: OSG lists every current card promo with amounts, codes, dates and sources in seconds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17904"/>
            <a:ext cx="10820095" cy="21590"/>
          </a:xfrm>
          <a:prstGeom prst="rect">
            <a:avLst/>
          </a:prstGeom>
          <a:solidFill>
            <a:srgbClr val="24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17904"/>
            <a:ext cx="822960" cy="2159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419088"/>
            <a:ext cx="10820095" cy="9525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7395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A1A7"/>
                </a:solidFill>
                <a:latin typeface="Calibri"/>
              </a:rPr>
              <a:t>OSG AI Assistant Banking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A7177"/>
                </a:solidFill>
                <a:latin typeface="Calibri"/>
              </a:rPr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221992"/>
            <a:ext cx="7351776" cy="36027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sg_pro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86000"/>
            <a:ext cx="7223760" cy="3474720"/>
          </a:xfrm>
          <a:prstGeom prst="rect">
            <a:avLst/>
          </a:prstGeom>
          <a:ln w="9525">
            <a:solidFill>
              <a:srgbClr val="CBCDD1"/>
            </a:solidFill>
          </a:ln>
        </p:spPr>
      </p:pic>
      <p:sp>
        <p:nvSpPr>
          <p:cNvPr id="12" name="Oval 11"/>
          <p:cNvSpPr/>
          <p:nvPr/>
        </p:nvSpPr>
        <p:spPr>
          <a:xfrm>
            <a:off x="5505602" y="2590495"/>
            <a:ext cx="329184" cy="329184"/>
          </a:xfrm>
          <a:prstGeom prst="ellipse">
            <a:avLst/>
          </a:prstGeom>
          <a:solidFill>
            <a:srgbClr val="E4002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5602" y="2590495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3410712" y="3163824"/>
            <a:ext cx="329184" cy="329184"/>
          </a:xfrm>
          <a:prstGeom prst="ellipse">
            <a:avLst/>
          </a:prstGeom>
          <a:solidFill>
            <a:srgbClr val="E4002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0712" y="3163824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Oval 15"/>
          <p:cNvSpPr/>
          <p:nvPr/>
        </p:nvSpPr>
        <p:spPr>
          <a:xfrm>
            <a:off x="3410712" y="4414723"/>
            <a:ext cx="329184" cy="329184"/>
          </a:xfrm>
          <a:prstGeom prst="ellipse">
            <a:avLst/>
          </a:prstGeom>
          <a:solidFill>
            <a:srgbClr val="E4002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10712" y="4414723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Oval 17"/>
          <p:cNvSpPr/>
          <p:nvPr/>
        </p:nvSpPr>
        <p:spPr>
          <a:xfrm>
            <a:off x="4277563" y="4901184"/>
            <a:ext cx="329184" cy="329184"/>
          </a:xfrm>
          <a:prstGeom prst="ellipse">
            <a:avLst/>
          </a:prstGeom>
          <a:solidFill>
            <a:srgbClr val="E4002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77563" y="4901184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Oval 19"/>
          <p:cNvSpPr/>
          <p:nvPr/>
        </p:nvSpPr>
        <p:spPr>
          <a:xfrm>
            <a:off x="8183879" y="2304288"/>
            <a:ext cx="329184" cy="329184"/>
          </a:xfrm>
          <a:prstGeom prst="ellipse">
            <a:avLst/>
          </a:prstGeom>
          <a:solidFill>
            <a:srgbClr val="E4002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2304288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7" y="2286000"/>
            <a:ext cx="28620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282C"/>
                </a:solidFill>
                <a:latin typeface="Calibri"/>
              </a:rPr>
              <a:t>Ask in plain language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A7177"/>
                </a:solidFill>
                <a:latin typeface="Calibri"/>
              </a:rPr>
              <a:t>A frontliner types an everyday question, no keywords or product codes needed.</a:t>
            </a:r>
          </a:p>
        </p:txBody>
      </p:sp>
      <p:sp>
        <p:nvSpPr>
          <p:cNvPr id="23" name="Oval 22"/>
          <p:cNvSpPr/>
          <p:nvPr/>
        </p:nvSpPr>
        <p:spPr>
          <a:xfrm>
            <a:off x="8183879" y="3200400"/>
            <a:ext cx="329184" cy="329184"/>
          </a:xfrm>
          <a:prstGeom prst="ellipse">
            <a:avLst/>
          </a:prstGeom>
          <a:solidFill>
            <a:srgbClr val="E4002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79" y="320040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59367" y="3182112"/>
            <a:ext cx="28620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282C"/>
                </a:solidFill>
                <a:latin typeface="Calibri"/>
              </a:rPr>
              <a:t>A complete, structured answer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A7177"/>
                </a:solidFill>
                <a:latin typeface="Calibri"/>
              </a:rPr>
              <a:t>Five current card promos with amounts, voucher codes and validity dates.</a:t>
            </a:r>
          </a:p>
        </p:txBody>
      </p:sp>
      <p:sp>
        <p:nvSpPr>
          <p:cNvPr id="26" name="Oval 25"/>
          <p:cNvSpPr/>
          <p:nvPr/>
        </p:nvSpPr>
        <p:spPr>
          <a:xfrm>
            <a:off x="8183879" y="4096512"/>
            <a:ext cx="329184" cy="329184"/>
          </a:xfrm>
          <a:prstGeom prst="ellipse">
            <a:avLst/>
          </a:prstGeom>
          <a:solidFill>
            <a:srgbClr val="E4002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79" y="4096512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59367" y="4078224"/>
            <a:ext cx="28620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282C"/>
                </a:solidFill>
                <a:latin typeface="Calibri"/>
              </a:rPr>
              <a:t>Every answer cites its source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A7177"/>
                </a:solidFill>
                <a:latin typeface="Calibri"/>
              </a:rPr>
              <a:t>Zalora, Blibli, Shopee and the bank promo page, one click to verify.</a:t>
            </a:r>
          </a:p>
        </p:txBody>
      </p:sp>
      <p:sp>
        <p:nvSpPr>
          <p:cNvPr id="29" name="Oval 28"/>
          <p:cNvSpPr/>
          <p:nvPr/>
        </p:nvSpPr>
        <p:spPr>
          <a:xfrm>
            <a:off x="8183879" y="4992624"/>
            <a:ext cx="329184" cy="329184"/>
          </a:xfrm>
          <a:prstGeom prst="ellipse">
            <a:avLst/>
          </a:prstGeom>
          <a:solidFill>
            <a:srgbClr val="E4002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79" y="4992624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59367" y="4974336"/>
            <a:ext cx="28620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282C"/>
                </a:solidFill>
                <a:latin typeface="Calibri"/>
              </a:rPr>
              <a:t>Guided follow-ups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A7177"/>
                </a:solidFill>
                <a:latin typeface="Calibri"/>
              </a:rPr>
              <a:t>Suggested next questions open terms and how-to-use in a single tap.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4002B"/>
                </a:solidFill>
                <a:latin typeface="Calibri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1082009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4282C"/>
                </a:solidFill>
                <a:latin typeface="Calibri"/>
              </a:rPr>
              <a:t>See it in action: browse the catalogue, explore the knowledge graph, and ask OSG for a source-cited answer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17904"/>
            <a:ext cx="10820095" cy="21590"/>
          </a:xfrm>
          <a:prstGeom prst="rect">
            <a:avLst/>
          </a:prstGeom>
          <a:solidFill>
            <a:srgbClr val="24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17904"/>
            <a:ext cx="822960" cy="2159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419088"/>
            <a:ext cx="10820095" cy="9525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7395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A1A7"/>
                </a:solidFill>
                <a:latin typeface="Calibri"/>
              </a:rPr>
              <a:t>OSG AI Assistant Banking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A7177"/>
                </a:solidFill>
                <a:latin typeface="Calibri"/>
              </a:rPr>
              <a:t>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267712"/>
            <a:ext cx="7351776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sg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31720"/>
            <a:ext cx="7223760" cy="3392424"/>
          </a:xfrm>
          <a:prstGeom prst="rect">
            <a:avLst/>
          </a:prstGeom>
          <a:ln w="9525">
            <a:solidFill>
              <a:srgbClr val="CBCDD1"/>
            </a:solidFill>
          </a:ln>
        </p:spPr>
      </p:pic>
      <p:sp>
        <p:nvSpPr>
          <p:cNvPr id="12" name="Oval 11"/>
          <p:cNvSpPr/>
          <p:nvPr/>
        </p:nvSpPr>
        <p:spPr>
          <a:xfrm>
            <a:off x="1243584" y="3659794"/>
            <a:ext cx="329184" cy="329184"/>
          </a:xfrm>
          <a:prstGeom prst="ellipse">
            <a:avLst/>
          </a:prstGeom>
          <a:solidFill>
            <a:srgbClr val="E4002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43584" y="3659794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4494276" y="4032961"/>
            <a:ext cx="329184" cy="329184"/>
          </a:xfrm>
          <a:prstGeom prst="ellipse">
            <a:avLst/>
          </a:prstGeom>
          <a:solidFill>
            <a:srgbClr val="E4002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4276" y="4032961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Oval 15"/>
          <p:cNvSpPr/>
          <p:nvPr/>
        </p:nvSpPr>
        <p:spPr>
          <a:xfrm>
            <a:off x="6878116" y="3083082"/>
            <a:ext cx="329184" cy="329184"/>
          </a:xfrm>
          <a:prstGeom prst="ellipse">
            <a:avLst/>
          </a:prstGeom>
          <a:solidFill>
            <a:srgbClr val="E4002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78116" y="3083082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Oval 17"/>
          <p:cNvSpPr/>
          <p:nvPr/>
        </p:nvSpPr>
        <p:spPr>
          <a:xfrm>
            <a:off x="6300216" y="3761567"/>
            <a:ext cx="329184" cy="329184"/>
          </a:xfrm>
          <a:prstGeom prst="ellipse">
            <a:avLst/>
          </a:prstGeom>
          <a:solidFill>
            <a:srgbClr val="E4002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0216" y="3761567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Oval 19"/>
          <p:cNvSpPr/>
          <p:nvPr/>
        </p:nvSpPr>
        <p:spPr>
          <a:xfrm>
            <a:off x="8183879" y="2350008"/>
            <a:ext cx="329184" cy="329184"/>
          </a:xfrm>
          <a:prstGeom prst="ellipse">
            <a:avLst/>
          </a:prstGeom>
          <a:solidFill>
            <a:srgbClr val="E4002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2350008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7" y="2331720"/>
            <a:ext cx="28620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282C"/>
                </a:solidFill>
                <a:latin typeface="Calibri"/>
              </a:rPr>
              <a:t>Browse the catalogue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A7177"/>
                </a:solidFill>
                <a:latin typeface="Calibri"/>
              </a:rPr>
              <a:t>751 documents across 51 categories, filtered by product or promo.</a:t>
            </a:r>
          </a:p>
        </p:txBody>
      </p:sp>
      <p:sp>
        <p:nvSpPr>
          <p:cNvPr id="23" name="Oval 22"/>
          <p:cNvSpPr/>
          <p:nvPr/>
        </p:nvSpPr>
        <p:spPr>
          <a:xfrm>
            <a:off x="8183879" y="3246120"/>
            <a:ext cx="329184" cy="329184"/>
          </a:xfrm>
          <a:prstGeom prst="ellipse">
            <a:avLst/>
          </a:prstGeom>
          <a:solidFill>
            <a:srgbClr val="E4002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79" y="324612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59367" y="3227832"/>
            <a:ext cx="28620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282C"/>
                </a:solidFill>
                <a:latin typeface="Calibri"/>
              </a:rPr>
              <a:t>Explore the knowledge graph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A7177"/>
                </a:solidFill>
                <a:latin typeface="Calibri"/>
              </a:rPr>
              <a:t>See how a product links to related and duplicate offers.</a:t>
            </a:r>
          </a:p>
        </p:txBody>
      </p:sp>
      <p:sp>
        <p:nvSpPr>
          <p:cNvPr id="26" name="Oval 25"/>
          <p:cNvSpPr/>
          <p:nvPr/>
        </p:nvSpPr>
        <p:spPr>
          <a:xfrm>
            <a:off x="8183879" y="4142232"/>
            <a:ext cx="329184" cy="329184"/>
          </a:xfrm>
          <a:prstGeom prst="ellipse">
            <a:avLst/>
          </a:prstGeom>
          <a:solidFill>
            <a:srgbClr val="E4002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79" y="4142232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59367" y="4123944"/>
            <a:ext cx="28620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282C"/>
                </a:solidFill>
                <a:latin typeface="Calibri"/>
              </a:rPr>
              <a:t>Ask in plain language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A7177"/>
                </a:solidFill>
                <a:latin typeface="Calibri"/>
              </a:rPr>
              <a:t>OSG replies in seconds, in Bahasa Indonesia or English.</a:t>
            </a:r>
          </a:p>
        </p:txBody>
      </p:sp>
      <p:sp>
        <p:nvSpPr>
          <p:cNvPr id="29" name="Oval 28"/>
          <p:cNvSpPr/>
          <p:nvPr/>
        </p:nvSpPr>
        <p:spPr>
          <a:xfrm>
            <a:off x="8183879" y="5038344"/>
            <a:ext cx="329184" cy="329184"/>
          </a:xfrm>
          <a:prstGeom prst="ellipse">
            <a:avLst/>
          </a:prstGeom>
          <a:solidFill>
            <a:srgbClr val="E4002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79" y="5038344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59367" y="5020056"/>
            <a:ext cx="28620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282C"/>
                </a:solidFill>
                <a:latin typeface="Calibri"/>
              </a:rPr>
              <a:t>Every answer cites its source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A7177"/>
                </a:solidFill>
                <a:latin typeface="Calibri"/>
              </a:rPr>
              <a:t>One click opens the exact document behind the answer.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2A7464"/>
              </a:gs>
              <a:gs pos="100000">
                <a:srgbClr val="082C27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E6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240280"/>
            <a:ext cx="12191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E6B84"/>
                </a:solidFill>
                <a:latin typeface="Calibri"/>
              </a:rPr>
              <a:t>OSG  ·  SMART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615184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92927" y="3822191"/>
            <a:ext cx="1005840" cy="64008"/>
          </a:xfrm>
          <a:prstGeom prst="roundRect">
            <a:avLst/>
          </a:prstGeom>
          <a:solidFill>
            <a:srgbClr val="4E6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4096512"/>
            <a:ext cx="121916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8ECE8"/>
                </a:solidFill>
                <a:latin typeface="Calibri"/>
              </a:rPr>
              <a:t>Faster, source-cited answers for every frontliner. Questions and discussion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